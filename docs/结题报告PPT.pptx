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/>
      <p:sp>
        <p:nvSpPr>
          <p:cNvPr id="5" name="平行四边形 4"/>
          <p:cNvSpPr>
            <a:spLocks noGrp="1"/>
          </p:cNvSpPr>
          <p:nvPr/>
        </p:nvSpPr>
        <p:spPr>
          <a:xfrm>
            <a:off x="-434863" y="182880"/>
            <a:ext cx="3491571" cy="418010"/>
          </a:xfrm>
          <a:prstGeom prst="parallelogram">
            <a:avLst>
              <a:gd name="adj" fmla="val 56250"/>
            </a:avLst>
          </a:prstGeom>
          <a:gradFill rotWithShape="1">
            <a:gsLst>
              <a:gs pos="0">
                <a:srgbClr val="00B0F0">
                  <a:alpha val="26000"/>
                </a:srgbClr>
              </a:gs>
              <a:gs pos="100000">
                <a:srgbClr val="0070C0">
                  <a:alpha val="47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项内容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0.png"/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5.png"/><Relationship Id="rId1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B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三角形 5"/>
          <p:cNvSpPr>
            <a:spLocks noGrp="1"/>
          </p:cNvSpPr>
          <p:nvPr/>
        </p:nvSpPr>
        <p:spPr>
          <a:xfrm rot="10800000">
            <a:off x="3914669" y="-1"/>
            <a:ext cx="6932418" cy="6211616"/>
          </a:xfrm>
          <a:prstGeom prst="triangle">
            <a:avLst/>
          </a:prstGeom>
          <a:gradFill rotWithShape="1">
            <a:gsLst>
              <a:gs pos="0">
                <a:srgbClr val="00B0F0">
                  <a:alpha val="0"/>
                </a:srgbClr>
              </a:gs>
              <a:gs pos="100000">
                <a:srgbClr val="0070C0">
                  <a:alpha val="31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1" name="平行四边形 10"/>
          <p:cNvSpPr>
            <a:spLocks noGrp="1"/>
          </p:cNvSpPr>
          <p:nvPr/>
        </p:nvSpPr>
        <p:spPr>
          <a:xfrm>
            <a:off x="-1920230" y="0"/>
            <a:ext cx="10229323" cy="6872456"/>
          </a:xfrm>
          <a:prstGeom prst="parallelogram">
            <a:avLst>
              <a:gd name="adj" fmla="val 56852"/>
            </a:avLst>
          </a:prstGeom>
          <a:blipFill rotWithShape="1">
            <a:blip r:embed="rId1"/>
            <a:srcRect/>
            <a:stretch>
              <a:fillRect l="14352" t="222" r="-14352" b="-222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3" name="三角形 2"/>
          <p:cNvSpPr>
            <a:spLocks noGrp="1"/>
          </p:cNvSpPr>
          <p:nvPr/>
        </p:nvSpPr>
        <p:spPr>
          <a:xfrm rot="10800000">
            <a:off x="5555083" y="2540"/>
            <a:ext cx="4762398" cy="4267225"/>
          </a:xfrm>
          <a:prstGeom prst="triangle">
            <a:avLst/>
          </a:prstGeom>
          <a:gradFill rotWithShape="1">
            <a:gsLst>
              <a:gs pos="0">
                <a:srgbClr val="00B0F0">
                  <a:alpha val="0"/>
                </a:srgbClr>
              </a:gs>
              <a:gs pos="100000">
                <a:srgbClr val="0070C0">
                  <a:alpha val="60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5" name="三角形 4"/>
          <p:cNvSpPr>
            <a:spLocks noGrp="1"/>
          </p:cNvSpPr>
          <p:nvPr/>
        </p:nvSpPr>
        <p:spPr>
          <a:xfrm rot="10800000">
            <a:off x="4952824" y="-2"/>
            <a:ext cx="6306169" cy="5650482"/>
          </a:xfrm>
          <a:prstGeom prst="triangle">
            <a:avLst/>
          </a:prstGeom>
          <a:gradFill rotWithShape="1">
            <a:gsLst>
              <a:gs pos="0">
                <a:srgbClr val="00B0F0">
                  <a:alpha val="44000"/>
                </a:srgbClr>
              </a:gs>
              <a:gs pos="100000">
                <a:srgbClr val="0070C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7" name="三角形 6"/>
          <p:cNvSpPr>
            <a:spLocks noGrp="1"/>
          </p:cNvSpPr>
          <p:nvPr/>
        </p:nvSpPr>
        <p:spPr>
          <a:xfrm>
            <a:off x="4400745" y="3638198"/>
            <a:ext cx="3590596" cy="3217262"/>
          </a:xfrm>
          <a:prstGeom prst="triangle">
            <a:avLst/>
          </a:prstGeom>
          <a:gradFill rotWithShape="1">
            <a:gsLst>
              <a:gs pos="0">
                <a:srgbClr val="00B0F0">
                  <a:alpha val="60000"/>
                </a:srgbClr>
              </a:gs>
              <a:gs pos="100000">
                <a:srgbClr val="0070C0">
                  <a:alpha val="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8" name="三角形 7"/>
          <p:cNvSpPr>
            <a:spLocks noGrp="1"/>
          </p:cNvSpPr>
          <p:nvPr/>
        </p:nvSpPr>
        <p:spPr>
          <a:xfrm>
            <a:off x="4400745" y="4790273"/>
            <a:ext cx="2323801" cy="2082183"/>
          </a:xfrm>
          <a:prstGeom prst="triangle">
            <a:avLst/>
          </a:prstGeom>
          <a:gradFill rotWithShape="1">
            <a:gsLst>
              <a:gs pos="0">
                <a:srgbClr val="00B0F0">
                  <a:alpha val="36000"/>
                </a:srgbClr>
              </a:gs>
              <a:gs pos="100000">
                <a:srgbClr val="0070C0">
                  <a:alpha val="3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9" name="直角三角形 8"/>
          <p:cNvSpPr>
            <a:spLocks noGrp="1"/>
          </p:cNvSpPr>
          <p:nvPr/>
        </p:nvSpPr>
        <p:spPr>
          <a:xfrm rot="5400000">
            <a:off x="-820219" y="810102"/>
            <a:ext cx="3740727" cy="2120524"/>
          </a:xfrm>
          <a:prstGeom prst="rtTriangle">
            <a:avLst/>
          </a:prstGeom>
          <a:gradFill>
            <a:gsLst>
              <a:gs pos="0">
                <a:srgbClr val="00B0F0">
                  <a:alpha val="60000"/>
                </a:srgbClr>
              </a:gs>
              <a:gs pos="100000">
                <a:srgbClr val="0070C0">
                  <a:alpha val="70000"/>
                </a:srgb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0" name="直角三角形 9"/>
          <p:cNvSpPr>
            <a:spLocks noGrp="1"/>
          </p:cNvSpPr>
          <p:nvPr/>
        </p:nvSpPr>
        <p:spPr>
          <a:xfrm rot="5400000">
            <a:off x="-608207" y="630081"/>
            <a:ext cx="2909457" cy="1649298"/>
          </a:xfrm>
          <a:prstGeom prst="rtTriangle">
            <a:avLst/>
          </a:prstGeom>
          <a:gradFill>
            <a:gsLst>
              <a:gs pos="0">
                <a:srgbClr val="00B0F0">
                  <a:alpha val="60000"/>
                </a:srgbClr>
              </a:gs>
              <a:gs pos="100000">
                <a:srgbClr val="0070C0">
                  <a:alpha val="70000"/>
                </a:srgb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2" name="文本框 11"/>
          <p:cNvSpPr>
            <a:spLocks noGrp="1"/>
          </p:cNvSpPr>
          <p:nvPr/>
        </p:nvSpPr>
        <p:spPr>
          <a:xfrm>
            <a:off x="6772011" y="2515346"/>
            <a:ext cx="5302717" cy="860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3000" b="1">
                <a:solidFill>
                  <a:srgbClr val="FFFFFF"/>
                </a:solidFill>
                <a:latin typeface="+mj-ea"/>
                <a:ea typeface="+mj-ea"/>
                <a:cs typeface="+mj-ea"/>
              </a:rPr>
              <a:t>结题报告</a:t>
            </a:r>
            <a:endParaRPr sz="3000" b="1">
              <a:solidFill>
                <a:srgbClr val="FFFFFF"/>
              </a:solidFill>
              <a:latin typeface="+mj-ea"/>
              <a:ea typeface="+mj-ea"/>
              <a:cs typeface="+mj-ea"/>
            </a:endParaRPr>
          </a:p>
        </p:txBody>
      </p:sp>
      <p:sp>
        <p:nvSpPr>
          <p:cNvPr id="15" name="文本框 14"/>
          <p:cNvSpPr>
            <a:spLocks noGrp="1"/>
          </p:cNvSpPr>
          <p:nvPr/>
        </p:nvSpPr>
        <p:spPr>
          <a:xfrm>
            <a:off x="6871118" y="3925595"/>
            <a:ext cx="180369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汇报人：4组-冉潘</a:t>
            </a:r>
            <a:endParaRPr sz="1200">
              <a:solidFill>
                <a:srgbClr val="FFFFFF"/>
              </a:solidFill>
            </a:endParaRPr>
          </a:p>
        </p:txBody>
      </p:sp>
      <p:pic>
        <p:nvPicPr>
          <p:cNvPr id="27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5508" y="5355443"/>
            <a:ext cx="1142994" cy="1142994"/>
          </a:xfrm>
          <a:prstGeom prst="rect">
            <a:avLst/>
          </a:prstGeom>
        </p:spPr>
      </p:pic>
      <p:sp>
        <p:nvSpPr>
          <p:cNvPr id="4" name="文本框 3"/>
          <p:cNvSpPr>
            <a:spLocks noGrp="1"/>
          </p:cNvSpPr>
          <p:nvPr/>
        </p:nvSpPr>
        <p:spPr>
          <a:xfrm>
            <a:off x="6871335" y="4405630"/>
            <a:ext cx="2132965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chemeClr val="bg1"/>
                </a:solidFill>
              </a:rPr>
              <a:t>指导教师：翟建芳</a:t>
            </a:r>
            <a:endParaRPr sz="1600">
              <a:solidFill>
                <a:schemeClr val="bg1"/>
              </a:solidFill>
            </a:endParaRPr>
          </a:p>
        </p:txBody>
      </p:sp>
      <p:sp>
        <p:nvSpPr>
          <p:cNvPr id="14" name="文本框 13"/>
          <p:cNvSpPr>
            <a:spLocks noGrp="1"/>
          </p:cNvSpPr>
          <p:nvPr/>
        </p:nvSpPr>
        <p:spPr>
          <a:xfrm>
            <a:off x="6878320" y="4918710"/>
            <a:ext cx="3905885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>
                <a:solidFill>
                  <a:srgbClr val="FFFFFF"/>
                </a:solidFill>
              </a:rPr>
              <a:t>组员：申光耀，潘亮，申梓忻，冉潘</a:t>
            </a:r>
            <a:endParaRPr sz="1200">
              <a:solidFill>
                <a:srgbClr val="FFFFFF"/>
              </a:solidFill>
            </a:endParaRPr>
          </a:p>
        </p:txBody>
      </p:sp>
      <p:sp>
        <p:nvSpPr>
          <p:cNvPr id="13" name="文本框 12"/>
          <p:cNvSpPr>
            <a:spLocks noGrp="1"/>
          </p:cNvSpPr>
          <p:nvPr/>
        </p:nvSpPr>
        <p:spPr>
          <a:xfrm>
            <a:off x="7391400" y="1423035"/>
            <a:ext cx="4064000" cy="829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025" b="1">
                <a:solidFill>
                  <a:srgbClr val="FFFFFF"/>
                </a:solidFill>
              </a:rPr>
              <a:t>手写作业 OCR</a:t>
            </a:r>
            <a:endParaRPr sz="2025" b="1">
              <a:solidFill>
                <a:srgbClr val="FFFFFF"/>
              </a:solidFill>
            </a:endParaRPr>
          </a:p>
          <a:p>
            <a:pPr algn="l">
              <a:buNone/>
            </a:pPr>
            <a:r>
              <a:rPr sz="2025" b="1">
                <a:solidFill>
                  <a:srgbClr val="FFFFFF"/>
                </a:solidFill>
              </a:rPr>
              <a:t>识别与自动批改系统</a:t>
            </a:r>
            <a:endParaRPr sz="2025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直角三角形 2"/>
          <p:cNvSpPr>
            <a:spLocks noGrp="1"/>
          </p:cNvSpPr>
          <p:nvPr/>
        </p:nvSpPr>
        <p:spPr>
          <a:xfrm rot="5400000">
            <a:off x="-1532048" y="1532048"/>
            <a:ext cx="7074394" cy="4010296"/>
          </a:xfrm>
          <a:prstGeom prst="rt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4" name="直角三角形 3"/>
          <p:cNvSpPr>
            <a:spLocks noGrp="1"/>
          </p:cNvSpPr>
          <p:nvPr/>
        </p:nvSpPr>
        <p:spPr>
          <a:xfrm rot="5400000">
            <a:off x="-1159604" y="1191595"/>
            <a:ext cx="5502311" cy="3119122"/>
          </a:xfrm>
          <a:prstGeom prst="rtTriangle">
            <a:avLst/>
          </a:prstGeom>
          <a:gradFill>
            <a:gsLst>
              <a:gs pos="0">
                <a:srgbClr val="00B0F0">
                  <a:alpha val="60000"/>
                </a:srgbClr>
              </a:gs>
              <a:gs pos="100000">
                <a:srgbClr val="0070C0">
                  <a:alpha val="70000"/>
                </a:srgb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0" name="文本框 9"/>
          <p:cNvSpPr>
            <a:spLocks noGrp="1"/>
          </p:cNvSpPr>
          <p:nvPr/>
        </p:nvSpPr>
        <p:spPr>
          <a:xfrm>
            <a:off x="677151" y="432358"/>
            <a:ext cx="18288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5400" b="1">
                <a:solidFill>
                  <a:schemeClr val="bg1"/>
                </a:solidFill>
                <a:latin typeface="Source Han Sans CN"/>
                <a:ea typeface="Source Han Sans CN"/>
                <a:cs typeface="Source Han Sans CN"/>
              </a:rPr>
              <a:t>目录</a:t>
            </a:r>
            <a:endParaRPr sz="5400" b="1">
              <a:solidFill>
                <a:schemeClr val="bg1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2" name="文本框 11"/>
          <p:cNvSpPr>
            <a:spLocks noGrp="1"/>
          </p:cNvSpPr>
          <p:nvPr/>
        </p:nvSpPr>
        <p:spPr>
          <a:xfrm>
            <a:off x="2995323" y="1160698"/>
            <a:ext cx="3704860" cy="3505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lnSpc>
                <a:spcPct val="200000"/>
              </a:lnSpc>
              <a:buChar char="Ø"/>
            </a:pPr>
            <a:r>
              <a:rPr sz="1650">
                <a:solidFill>
                  <a:srgbClr val="1E5C83"/>
                </a:solidFill>
                <a:latin typeface="+mj-ea"/>
                <a:ea typeface="+mj-ea"/>
                <a:cs typeface="+mj-ea"/>
              </a:rPr>
              <a:t>项目背景与目标</a:t>
            </a:r>
            <a:endParaRPr sz="1650">
              <a:solidFill>
                <a:srgbClr val="1E5C83"/>
              </a:solidFill>
              <a:latin typeface="+mj-ea"/>
              <a:ea typeface="+mj-ea"/>
              <a:cs typeface="+mj-ea"/>
            </a:endParaRPr>
          </a:p>
          <a:p>
            <a:pPr marL="285750" indent="-285750">
              <a:lnSpc>
                <a:spcPct val="200000"/>
              </a:lnSpc>
              <a:buChar char="Ø"/>
            </a:pPr>
            <a:r>
              <a:rPr sz="1650">
                <a:solidFill>
                  <a:srgbClr val="1E5C83"/>
                </a:solidFill>
                <a:latin typeface="+mj-ea"/>
                <a:ea typeface="+mj-ea"/>
                <a:cs typeface="+mj-ea"/>
              </a:rPr>
              <a:t>系统架构与技术选型</a:t>
            </a:r>
            <a:endParaRPr sz="1650">
              <a:solidFill>
                <a:srgbClr val="1E5C83"/>
              </a:solidFill>
              <a:latin typeface="+mj-ea"/>
              <a:ea typeface="+mj-ea"/>
              <a:cs typeface="+mj-ea"/>
            </a:endParaRPr>
          </a:p>
          <a:p>
            <a:pPr marL="285750" indent="-285750">
              <a:lnSpc>
                <a:spcPct val="200000"/>
              </a:lnSpc>
              <a:buChar char="Ø"/>
            </a:pPr>
            <a:r>
              <a:rPr sz="1650">
                <a:solidFill>
                  <a:srgbClr val="1E5C83"/>
                </a:solidFill>
                <a:latin typeface="+mj-ea"/>
                <a:ea typeface="+mj-ea"/>
                <a:cs typeface="+mj-ea"/>
              </a:rPr>
              <a:t>核心功能实现</a:t>
            </a:r>
            <a:endParaRPr sz="1650">
              <a:solidFill>
                <a:srgbClr val="1E5C83"/>
              </a:solidFill>
              <a:latin typeface="+mj-ea"/>
              <a:ea typeface="+mj-ea"/>
              <a:cs typeface="+mj-ea"/>
            </a:endParaRPr>
          </a:p>
          <a:p>
            <a:pPr marL="285750" indent="-285750">
              <a:lnSpc>
                <a:spcPct val="200000"/>
              </a:lnSpc>
              <a:buChar char="Ø"/>
            </a:pPr>
            <a:r>
              <a:rPr sz="1650">
                <a:solidFill>
                  <a:srgbClr val="1E5C83"/>
                </a:solidFill>
                <a:latin typeface="+mj-ea"/>
                <a:ea typeface="+mj-ea"/>
                <a:cs typeface="+mj-ea"/>
              </a:rPr>
              <a:t>数据库与客户端设计</a:t>
            </a:r>
            <a:endParaRPr sz="1650">
              <a:solidFill>
                <a:srgbClr val="1E5C83"/>
              </a:solidFill>
              <a:latin typeface="+mj-ea"/>
              <a:ea typeface="+mj-ea"/>
              <a:cs typeface="+mj-ea"/>
            </a:endParaRPr>
          </a:p>
        </p:txBody>
      </p:sp>
      <p:sp>
        <p:nvSpPr>
          <p:cNvPr id="13" name="文本框 12"/>
          <p:cNvSpPr>
            <a:spLocks noGrp="1"/>
          </p:cNvSpPr>
          <p:nvPr/>
        </p:nvSpPr>
        <p:spPr>
          <a:xfrm>
            <a:off x="7306371" y="1160698"/>
            <a:ext cx="4423006" cy="42805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lnSpc>
                <a:spcPct val="200000"/>
              </a:lnSpc>
              <a:buChar char="Ø"/>
            </a:pPr>
            <a:r>
              <a:rPr sz="1650">
                <a:solidFill>
                  <a:srgbClr val="1E5C83"/>
                </a:solidFill>
                <a:latin typeface="+mj-ea"/>
                <a:ea typeface="+mj-ea"/>
                <a:cs typeface="+mj-ea"/>
              </a:rPr>
              <a:t>测试验证与验收结论</a:t>
            </a:r>
            <a:endParaRPr sz="1650">
              <a:solidFill>
                <a:srgbClr val="1E5C83"/>
              </a:solidFill>
              <a:latin typeface="+mj-ea"/>
              <a:ea typeface="+mj-ea"/>
              <a:cs typeface="+mj-ea"/>
            </a:endParaRPr>
          </a:p>
          <a:p>
            <a:pPr marL="285750" indent="-285750">
              <a:lnSpc>
                <a:spcPct val="200000"/>
              </a:lnSpc>
              <a:buChar char="Ø"/>
            </a:pPr>
            <a:r>
              <a:rPr sz="1650">
                <a:solidFill>
                  <a:srgbClr val="1E5C83"/>
                </a:solidFill>
                <a:latin typeface="+mj-ea"/>
                <a:ea typeface="+mj-ea"/>
                <a:cs typeface="+mj-ea"/>
              </a:rPr>
              <a:t>演示素材与答辩流程</a:t>
            </a:r>
            <a:endParaRPr sz="1650">
              <a:solidFill>
                <a:srgbClr val="1E5C83"/>
              </a:solidFill>
              <a:latin typeface="+mj-ea"/>
              <a:ea typeface="+mj-ea"/>
              <a:cs typeface="+mj-ea"/>
            </a:endParaRPr>
          </a:p>
          <a:p>
            <a:pPr marL="285750" indent="-285750">
              <a:lnSpc>
                <a:spcPct val="200000"/>
              </a:lnSpc>
              <a:buChar char="Ø"/>
            </a:pPr>
            <a:r>
              <a:rPr sz="1650">
                <a:solidFill>
                  <a:srgbClr val="1E5C83"/>
                </a:solidFill>
                <a:latin typeface="+mj-ea"/>
                <a:ea typeface="+mj-ea"/>
                <a:cs typeface="+mj-ea"/>
              </a:rPr>
              <a:t>项目成果与交付</a:t>
            </a:r>
            <a:endParaRPr sz="1650">
              <a:solidFill>
                <a:srgbClr val="1E5C83"/>
              </a:solidFill>
              <a:latin typeface="+mj-ea"/>
              <a:ea typeface="+mj-ea"/>
              <a:cs typeface="+mj-ea"/>
            </a:endParaRPr>
          </a:p>
          <a:p>
            <a:pPr marL="285750" indent="-285750">
              <a:lnSpc>
                <a:spcPct val="200000"/>
              </a:lnSpc>
              <a:buChar char="Ø"/>
            </a:pPr>
            <a:r>
              <a:rPr sz="1650">
                <a:solidFill>
                  <a:srgbClr val="1E5C83"/>
                </a:solidFill>
                <a:latin typeface="+mj-ea"/>
                <a:ea typeface="+mj-ea"/>
                <a:cs typeface="+mj-ea"/>
              </a:rPr>
              <a:t>总结与改进方向</a:t>
            </a:r>
            <a:endParaRPr sz="1650">
              <a:solidFill>
                <a:srgbClr val="1E5C83"/>
              </a:solidFill>
              <a:latin typeface="+mj-ea"/>
              <a:ea typeface="+mj-ea"/>
              <a:cs typeface="+mj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744583" y="143693"/>
            <a:ext cx="3012684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E5C83"/>
                </a:solidFill>
                <a:latin typeface="+mj-ea"/>
                <a:ea typeface="+mj-ea"/>
                <a:cs typeface="+mj-ea"/>
              </a:rPr>
              <a:t>项目背景与目标</a:t>
            </a:r>
            <a:endParaRPr sz="2400" b="1">
              <a:solidFill>
                <a:srgbClr val="1E5C83"/>
              </a:solidFill>
              <a:latin typeface="+mj-ea"/>
              <a:ea typeface="+mj-ea"/>
              <a:cs typeface="+mj-ea"/>
            </a:endParaRPr>
          </a:p>
        </p:txBody>
      </p:sp>
      <p:sp>
        <p:nvSpPr>
          <p:cNvPr id="10" name="PA-文本框 42"/>
          <p:cNvSpPr>
            <a:spLocks noGrp="1"/>
          </p:cNvSpPr>
          <p:nvPr/>
        </p:nvSpPr>
        <p:spPr>
          <a:xfrm>
            <a:off x="492443" y="2812833"/>
            <a:ext cx="3902314" cy="115435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300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  <a:latin typeface="Source Han Sans CN Normal"/>
                <a:ea typeface="Source Han Sans CN Normal"/>
                <a:cs typeface="Source Han Sans CN Normal"/>
              </a:defRPr>
            </a:lvl1pPr>
          </a:lstStyle>
          <a:p>
            <a:r>
              <a:rPr sz="2800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需求分析：</a:t>
            </a:r>
            <a:endParaRPr sz="2800">
              <a:solidFill>
                <a:srgbClr val="FF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endParaRPr sz="2800"/>
          </a:p>
        </p:txBody>
      </p:sp>
      <p:pic>
        <p:nvPicPr>
          <p:cNvPr id="2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9598" y="6121399"/>
            <a:ext cx="570951" cy="570951"/>
          </a:xfrm>
          <a:prstGeom prst="rect">
            <a:avLst/>
          </a:prstGeom>
        </p:spPr>
      </p:pic>
      <p:pic>
        <p:nvPicPr>
          <p:cNvPr id="25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65" y="683144"/>
            <a:ext cx="3765550" cy="1737608"/>
          </a:xfrm>
          <a:prstGeom prst="rect">
            <a:avLst/>
          </a:prstGeom>
        </p:spPr>
      </p:pic>
      <p:sp>
        <p:nvSpPr>
          <p:cNvPr id="18" name="文本框 17"/>
          <p:cNvSpPr>
            <a:spLocks noGrp="1"/>
          </p:cNvSpPr>
          <p:nvPr/>
        </p:nvSpPr>
        <p:spPr>
          <a:xfrm>
            <a:off x="4651257" y="1101995"/>
            <a:ext cx="6291975" cy="1737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25">
                <a:solidFill>
                  <a:srgbClr val="333333"/>
                </a:solidFill>
              </a:rPr>
              <a:t>- 传统纸质作业批改耗时，反馈周期长，教师重复劳动重</a:t>
            </a:r>
            <a:endParaRPr sz="1425">
              <a:solidFill>
                <a:srgbClr val="333333"/>
              </a:solidFill>
            </a:endParaRPr>
          </a:p>
          <a:p>
            <a:r>
              <a:rPr sz="1425">
                <a:solidFill>
                  <a:srgbClr val="333333"/>
                </a:solidFill>
              </a:rPr>
              <a:t>- 移动端拍照上传 + OCR 识别 + 自动批改，可形成轻量化数字作业闭环</a:t>
            </a:r>
            <a:endParaRPr sz="1425">
              <a:solidFill>
                <a:srgbClr val="333333"/>
              </a:solidFill>
            </a:endParaRPr>
          </a:p>
          <a:p>
            <a:r>
              <a:rPr sz="1425">
                <a:solidFill>
                  <a:srgbClr val="333333"/>
                </a:solidFill>
              </a:rPr>
              <a:t>- 项目目标：完成教师布置作业、学生上传图片、OCR 识别、自动批改、成绩反馈与统计分析的完整流程</a:t>
            </a:r>
            <a:endParaRPr sz="1425">
              <a:solidFill>
                <a:srgbClr val="333333"/>
              </a:solidFill>
            </a:endParaRPr>
          </a:p>
        </p:txBody>
      </p:sp>
      <p:sp>
        <p:nvSpPr>
          <p:cNvPr id="19" name="文本框 18"/>
          <p:cNvSpPr>
            <a:spLocks noGrp="1"/>
          </p:cNvSpPr>
          <p:nvPr/>
        </p:nvSpPr>
        <p:spPr>
          <a:xfrm>
            <a:off x="428865" y="3865663"/>
            <a:ext cx="81133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333333"/>
                </a:solidFill>
              </a:rPr>
              <a:t>教师：创建作业、设置标准答案/关键词、查看提交与统计、人工批注复核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学生：拍照或相册上传手写作业，查看 OCR 内容、得分、反馈与历史提交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系统：完成图片预处理、PaddleOCR 识别、答案对齐、自动评分和异常兜底</a:t>
            </a:r>
            <a:endParaRPr sz="1350">
              <a:solidFill>
                <a:srgbClr val="333333"/>
              </a:solidFill>
            </a:endParaRPr>
          </a:p>
        </p:txBody>
      </p:sp>
      <p:sp>
        <p:nvSpPr>
          <p:cNvPr id="5" name="PA-文本框 42"/>
          <p:cNvSpPr>
            <a:spLocks noGrp="1"/>
          </p:cNvSpPr>
          <p:nvPr/>
        </p:nvSpPr>
        <p:spPr>
          <a:xfrm>
            <a:off x="4759643" y="581618"/>
            <a:ext cx="3902314" cy="115435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30000"/>
              </a:lnSpc>
              <a:buNone/>
              <a:defRPr sz="1400">
                <a:solidFill>
                  <a:schemeClr val="bg1">
                    <a:lumMod val="50000"/>
                  </a:schemeClr>
                </a:solidFill>
                <a:latin typeface="Source Han Sans CN Normal"/>
                <a:ea typeface="Source Han Sans CN Normal"/>
                <a:cs typeface="Source Han Sans CN Normal"/>
              </a:defRPr>
            </a:lvl1pPr>
          </a:lstStyle>
          <a:p>
            <a:r>
              <a:rPr sz="2800">
                <a:solidFill>
                  <a:srgbClr val="FF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项目背景：</a:t>
            </a:r>
            <a:endParaRPr sz="2800">
              <a:solidFill>
                <a:srgbClr val="FF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endParaRPr sz="2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530271" y="143693"/>
            <a:ext cx="2678938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</a:pP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系统总体架构设计</a:t>
            </a:r>
            <a:endParaRPr sz="2400">
              <a:solidFill>
                <a:schemeClr val="accent1">
                  <a:lumMod val="75000"/>
                </a:schemeClr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15" name="图片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9598" y="6121399"/>
            <a:ext cx="570951" cy="570951"/>
          </a:xfrm>
          <a:prstGeom prst="rect">
            <a:avLst/>
          </a:prstGeom>
        </p:spPr>
      </p:pic>
      <p:sp>
        <p:nvSpPr>
          <p:cNvPr id="10" name="文本框 9"/>
          <p:cNvSpPr>
            <a:spLocks noGrp="1"/>
          </p:cNvSpPr>
          <p:nvPr/>
        </p:nvSpPr>
        <p:spPr>
          <a:xfrm>
            <a:off x="530271" y="1115695"/>
            <a:ext cx="56222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三层微服务架构</a:t>
            </a:r>
            <a:endParaRPr sz="2400">
              <a:solidFill>
                <a:schemeClr val="accent1">
                  <a:lumMod val="75000"/>
                </a:schemeClr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17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1416" y="934435"/>
            <a:ext cx="6420064" cy="4150645"/>
          </a:xfrm>
          <a:prstGeom prst="rect">
            <a:avLst/>
          </a:prstGeom>
        </p:spPr>
      </p:pic>
      <p:sp>
        <p:nvSpPr>
          <p:cNvPr id="11" name="文本框 10"/>
          <p:cNvSpPr>
            <a:spLocks noGrp="1"/>
          </p:cNvSpPr>
          <p:nvPr/>
        </p:nvSpPr>
        <p:spPr>
          <a:xfrm>
            <a:off x="530271" y="5595417"/>
            <a:ext cx="923121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75">
                <a:solidFill>
                  <a:srgbClr val="333333"/>
                </a:solidFill>
                <a:latin typeface="+mj-ea"/>
                <a:ea typeface="+mj-ea"/>
                <a:cs typeface="+mj-ea"/>
              </a:rPr>
              <a:t>部署方式：Docker Compose 编排后端、MySQL、Redis 与 OCR 微服务；Android 客户端通过 REST API 接入</a:t>
            </a:r>
            <a:endParaRPr sz="1575">
              <a:solidFill>
                <a:srgbClr val="333333"/>
              </a:solidFill>
              <a:latin typeface="+mj-ea"/>
              <a:ea typeface="+mj-ea"/>
              <a:cs typeface="+mj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图片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9598" y="6121399"/>
            <a:ext cx="570951" cy="570951"/>
          </a:xfrm>
          <a:prstGeom prst="rect">
            <a:avLst/>
          </a:prstGeom>
        </p:spPr>
      </p:pic>
      <p:sp>
        <p:nvSpPr>
          <p:cNvPr id="5" name="文本框 4"/>
          <p:cNvSpPr>
            <a:spLocks noGrp="1"/>
          </p:cNvSpPr>
          <p:nvPr/>
        </p:nvSpPr>
        <p:spPr>
          <a:xfrm>
            <a:off x="744583" y="143693"/>
            <a:ext cx="233910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技术选型与依赖</a:t>
            </a:r>
            <a:endParaRPr sz="2400">
              <a:solidFill>
                <a:schemeClr val="accent1">
                  <a:lumMod val="75000"/>
                </a:schemeClr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10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9310" y="622695"/>
            <a:ext cx="7988921" cy="61091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>
            <a:spLocks noGrp="1"/>
          </p:cNvSpPr>
          <p:nvPr/>
        </p:nvSpPr>
        <p:spPr>
          <a:xfrm>
            <a:off x="862011" y="182245"/>
            <a:ext cx="56959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核心模块详细设计（一）用户认证模块</a:t>
            </a:r>
            <a:endParaRPr sz="2400">
              <a:solidFill>
                <a:schemeClr val="accent1">
                  <a:lumMod val="75000"/>
                </a:schemeClr>
              </a:solidFill>
              <a:latin typeface="+mj-ea"/>
              <a:ea typeface="+mj-ea"/>
              <a:cs typeface="+mj-ea"/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250031" y="1120676"/>
            <a:ext cx="779383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333333"/>
                </a:solidFill>
              </a:rPr>
              <a:t>认证流程：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1. 注册时选择教师/学生角色，密码使用 BCrypt 加密存储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2. 登录成功后签发 JWT，后续请求由 Spring Security 过滤器校验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3. 基于角色进行接口访问控制，教师端与学生端能力隔离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4. Token 与用户信息结合 Redis/服务端配置完成会话管理</a:t>
            </a:r>
            <a:endParaRPr sz="1350">
              <a:solidFill>
                <a:srgbClr val="333333"/>
              </a:solidFill>
            </a:endParaRPr>
          </a:p>
        </p:txBody>
      </p:sp>
      <p:sp>
        <p:nvSpPr>
          <p:cNvPr id="8" name="文本框 7"/>
          <p:cNvSpPr>
            <a:spLocks noGrp="1"/>
          </p:cNvSpPr>
          <p:nvPr/>
        </p:nvSpPr>
        <p:spPr>
          <a:xfrm>
            <a:off x="250031" y="2894133"/>
            <a:ext cx="23288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关键接口：</a:t>
            </a:r>
          </a:p>
        </p:txBody>
      </p:sp>
      <p:pic>
        <p:nvPicPr>
          <p:cNvPr id="13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031" y="3366085"/>
            <a:ext cx="9994044" cy="17878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>
            <a:spLocks noGrp="1"/>
          </p:cNvSpPr>
          <p:nvPr/>
        </p:nvSpPr>
        <p:spPr>
          <a:xfrm>
            <a:off x="862011" y="182245"/>
            <a:ext cx="56959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核心模块详细设计（一）用户认证模块</a:t>
            </a:r>
            <a:endParaRPr sz="2400">
              <a:solidFill>
                <a:schemeClr val="accent1">
                  <a:lumMod val="75000"/>
                </a:schemeClr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8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624" y="842759"/>
            <a:ext cx="5415415" cy="4543629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01" y="842759"/>
            <a:ext cx="5310186" cy="56151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>
            <a:spLocks noGrp="1"/>
          </p:cNvSpPr>
          <p:nvPr/>
        </p:nvSpPr>
        <p:spPr>
          <a:xfrm>
            <a:off x="862011" y="182245"/>
            <a:ext cx="56959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核心模块详细设计（二）作业管理模块</a:t>
            </a:r>
            <a:endParaRPr sz="2400">
              <a:solidFill>
                <a:schemeClr val="accent1">
                  <a:lumMod val="75000"/>
                </a:schemeClr>
              </a:solidFill>
              <a:latin typeface="+mj-ea"/>
              <a:ea typeface="+mj-ea"/>
              <a:cs typeface="+mj-ea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396478" y="1120676"/>
            <a:ext cx="581858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333333"/>
                </a:solidFill>
              </a:rPr>
              <a:t>功能说明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教师创建作业：标题、学科、班级、截止日期与题目列表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题目支持选择题、填空题、简答题，配置标准答案、关键词、分值和批改模式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学生按班级查看待完成作业，可重新提交并覆盖旧批改结果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教师查看提交列表、批改详情，并添加文字批注</a:t>
            </a:r>
            <a:endParaRPr sz="1350">
              <a:solidFill>
                <a:srgbClr val="333333"/>
              </a:solidFill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396478" y="3536434"/>
            <a:ext cx="63079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0000"/>
                </a:solidFill>
              </a:rPr>
              <a:t>关键接口</a:t>
            </a:r>
            <a:endParaRPr>
              <a:solidFill>
                <a:srgbClr val="FF0000"/>
              </a:solidFill>
            </a:endParaRPr>
          </a:p>
        </p:txBody>
      </p:sp>
      <p:pic>
        <p:nvPicPr>
          <p:cNvPr id="12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641" y="4013200"/>
            <a:ext cx="8261747" cy="23432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>
            <a:spLocks noGrp="1"/>
          </p:cNvSpPr>
          <p:nvPr/>
        </p:nvSpPr>
        <p:spPr>
          <a:xfrm>
            <a:off x="862011" y="182245"/>
            <a:ext cx="56959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核心模块详细设计（三）</a:t>
            </a: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OCR</a:t>
            </a: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识别模块</a:t>
            </a:r>
            <a:endParaRPr sz="2400">
              <a:solidFill>
                <a:schemeClr val="accent1">
                  <a:lumMod val="75000"/>
                </a:schemeClr>
              </a:solidFill>
              <a:latin typeface="+mj-ea"/>
              <a:ea typeface="+mj-ea"/>
              <a:cs typeface="+mj-ea"/>
            </a:endParaRPr>
          </a:p>
        </p:txBody>
      </p:sp>
      <p:sp>
        <p:nvSpPr>
          <p:cNvPr id="8" name="文本框 7"/>
          <p:cNvSpPr>
            <a:spLocks noGrp="1"/>
          </p:cNvSpPr>
          <p:nvPr/>
        </p:nvSpPr>
        <p:spPr>
          <a:xfrm>
            <a:off x="0" y="857428"/>
            <a:ext cx="598646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75">
                <a:solidFill>
                  <a:srgbClr val="333333"/>
                </a:solidFill>
              </a:rPr>
              <a:t>图像预处理流程（OpenCV）</a:t>
            </a:r>
            <a:endParaRPr sz="1275">
              <a:solidFill>
                <a:srgbClr val="333333"/>
              </a:solidFill>
            </a:endParaRPr>
          </a:p>
          <a:p>
            <a:r>
              <a:rPr sz="1275">
                <a:solidFill>
                  <a:srgbClr val="333333"/>
                </a:solidFill>
              </a:rPr>
              <a:t>原始图片 → 灰度化 → 高斯去噪 → 自适应二值化 → 倾斜校正 → OCR 输入</a:t>
            </a:r>
            <a:endParaRPr sz="1275">
              <a:solidFill>
                <a:srgbClr val="333333"/>
              </a:solidFill>
            </a:endParaRPr>
          </a:p>
          <a:p>
            <a:endParaRPr sz="1275"/>
          </a:p>
          <a:p>
            <a:r>
              <a:rPr sz="1275">
                <a:solidFill>
                  <a:srgbClr val="333333"/>
                </a:solidFill>
              </a:rPr>
              <a:t>OCR 识别流程</a:t>
            </a:r>
            <a:endParaRPr sz="1275">
              <a:solidFill>
                <a:srgbClr val="333333"/>
              </a:solidFill>
            </a:endParaRPr>
          </a:p>
          <a:p>
            <a:r>
              <a:rPr sz="1275">
                <a:solidFill>
                  <a:srgbClr val="333333"/>
                </a:solidFill>
              </a:rPr>
              <a:t>1. Spring Boot 后端接收上传图片并调用 Flask OCR 微服务</a:t>
            </a:r>
            <a:endParaRPr sz="1275">
              <a:solidFill>
                <a:srgbClr val="333333"/>
              </a:solidFill>
            </a:endParaRPr>
          </a:p>
          <a:p>
            <a:r>
              <a:rPr sz="1275">
                <a:solidFill>
                  <a:srgbClr val="333333"/>
                </a:solidFill>
              </a:rPr>
              <a:t>2. OCR 服务完成预处理后调用 PaddleOCR，返回文本与位置坐标</a:t>
            </a:r>
            <a:endParaRPr sz="1275">
              <a:solidFill>
                <a:srgbClr val="333333"/>
              </a:solidFill>
            </a:endParaRPr>
          </a:p>
          <a:p>
            <a:r>
              <a:rPr sz="1275">
                <a:solidFill>
                  <a:srgbClr val="333333"/>
                </a:solidFill>
              </a:rPr>
              <a:t>3. 后端按题号、标准答案与关键词完成答案对齐</a:t>
            </a:r>
            <a:endParaRPr sz="1275">
              <a:solidFill>
                <a:srgbClr val="333333"/>
              </a:solidFill>
            </a:endParaRPr>
          </a:p>
          <a:p>
            <a:r>
              <a:rPr sz="1275">
                <a:solidFill>
                  <a:srgbClr val="333333"/>
                </a:solidFill>
              </a:rPr>
              <a:t>4. 识别结果进入批改引擎，写入提交与逐题得分记录</a:t>
            </a:r>
            <a:endParaRPr sz="1275">
              <a:solidFill>
                <a:srgbClr val="333333"/>
              </a:solidFill>
            </a:endParaRPr>
          </a:p>
        </p:txBody>
      </p:sp>
      <p:sp>
        <p:nvSpPr>
          <p:cNvPr id="11" name="文本框 10"/>
          <p:cNvSpPr>
            <a:spLocks noGrp="1"/>
          </p:cNvSpPr>
          <p:nvPr/>
        </p:nvSpPr>
        <p:spPr>
          <a:xfrm>
            <a:off x="5884070" y="857428"/>
            <a:ext cx="63079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333333"/>
                </a:solidFill>
              </a:rPr>
              <a:t>技术亮点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PaddleOCR 支持中文/英文识别，首次加载后续请求约 2-5s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Mock/演示兜底：OCR 服务不可用时流程不中断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MKLDNN CPU 推理加速，降低本地部署门槛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题号匹配、标准答案回溯与噪声过滤提升批改稳定性</a:t>
            </a:r>
            <a:endParaRPr sz="135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>
            <a:spLocks noGrp="1"/>
          </p:cNvSpPr>
          <p:nvPr/>
        </p:nvSpPr>
        <p:spPr>
          <a:xfrm>
            <a:off x="862011" y="182245"/>
            <a:ext cx="56959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核心模块详细设计（三）</a:t>
            </a: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OCR</a:t>
            </a: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识别模块</a:t>
            </a:r>
            <a:endParaRPr sz="2400">
              <a:solidFill>
                <a:schemeClr val="accent1">
                  <a:lumMod val="75000"/>
                </a:schemeClr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8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80" y="643910"/>
            <a:ext cx="6032320" cy="4930340"/>
          </a:xfrm>
          <a:prstGeom prst="rect">
            <a:avLst/>
          </a:prstGeom>
        </p:spPr>
      </p:pic>
      <p:pic>
        <p:nvPicPr>
          <p:cNvPr id="9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483615"/>
            <a:ext cx="5654530" cy="58907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>
            <a:spLocks noGrp="1"/>
          </p:cNvSpPr>
          <p:nvPr/>
        </p:nvSpPr>
        <p:spPr>
          <a:xfrm>
            <a:off x="862011" y="182245"/>
            <a:ext cx="56959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核心模块详细设计（三）</a:t>
            </a: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OCR</a:t>
            </a: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识别模块</a:t>
            </a:r>
            <a:endParaRPr sz="2400">
              <a:solidFill>
                <a:schemeClr val="accent1">
                  <a:lumMod val="75000"/>
                </a:schemeClr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8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60959"/>
            <a:ext cx="5593565" cy="2766300"/>
          </a:xfrm>
          <a:prstGeom prst="rect">
            <a:avLst/>
          </a:prstGeom>
        </p:spPr>
      </p:pic>
      <p:pic>
        <p:nvPicPr>
          <p:cNvPr id="9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303" y="829647"/>
            <a:ext cx="5730737" cy="46790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744583" y="143693"/>
            <a:ext cx="5416868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</a:pP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核心模块详细设计（四）自动批改引擎</a:t>
            </a:r>
            <a:endParaRPr sz="2400">
              <a:solidFill>
                <a:schemeClr val="accent1">
                  <a:lumMod val="75000"/>
                </a:schemeClr>
              </a:solidFill>
              <a:latin typeface="+mj-ea"/>
              <a:ea typeface="+mj-ea"/>
              <a:cs typeface="+mj-ea"/>
            </a:endParaRPr>
          </a:p>
        </p:txBody>
      </p:sp>
      <p:sp>
        <p:nvSpPr>
          <p:cNvPr id="11" name="TextBox 24"/>
          <p:cNvSpPr>
            <a:spLocks noGrp="1"/>
          </p:cNvSpPr>
          <p:nvPr/>
        </p:nvSpPr>
        <p:spPr>
          <a:xfrm>
            <a:off x="303374" y="947557"/>
            <a:ext cx="17288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800">
                <a:gradFill>
                  <a:gsLst>
                    <a:gs pos="0">
                      <a:srgbClr val="00B0F0"/>
                    </a:gs>
                    <a:gs pos="100000">
                      <a:srgbClr val="0070C0"/>
                    </a:gs>
                  </a:gsLst>
                  <a:lin ang="5400000" scaled="1"/>
                </a:gradFill>
                <a:latin typeface="+mj-lt"/>
                <a:ea typeface="+mj-lt"/>
                <a:cs typeface="+mj-lt"/>
              </a:rPr>
              <a:t> </a:t>
            </a:r>
            <a:r>
              <a:rPr sz="2800">
                <a:gradFill>
                  <a:gsLst>
                    <a:gs pos="0">
                      <a:srgbClr val="00B0F0"/>
                    </a:gs>
                    <a:gs pos="100000">
                      <a:srgbClr val="0070C0"/>
                    </a:gs>
                  </a:gsLst>
                  <a:lin ang="5400000" scaled="1"/>
                </a:gradFill>
                <a:latin typeface="+mj-lt"/>
                <a:ea typeface="+mj-lt"/>
                <a:cs typeface="+mj-lt"/>
              </a:rPr>
              <a:t>批改策略</a:t>
            </a:r>
            <a:endParaRPr sz="2800">
              <a:gradFill>
                <a:gsLst>
                  <a:gs pos="0">
                    <a:srgbClr val="00B0F0"/>
                  </a:gs>
                  <a:gs pos="100000">
                    <a:srgbClr val="0070C0"/>
                  </a:gs>
                </a:gsLst>
                <a:lin ang="5400000" scaled="1"/>
              </a:gradFill>
              <a:latin typeface="+mj-lt"/>
              <a:ea typeface="+mj-lt"/>
              <a:cs typeface="+mj-lt"/>
            </a:endParaRPr>
          </a:p>
        </p:txBody>
      </p:sp>
      <p:pic>
        <p:nvPicPr>
          <p:cNvPr id="31" name="图片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9598" y="6121399"/>
            <a:ext cx="570951" cy="570951"/>
          </a:xfrm>
          <a:prstGeom prst="rect">
            <a:avLst/>
          </a:prstGeom>
        </p:spPr>
      </p:pic>
      <p:pic>
        <p:nvPicPr>
          <p:cNvPr id="32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60" y="1812976"/>
            <a:ext cx="10274129" cy="3043070"/>
          </a:xfrm>
          <a:prstGeom prst="rect">
            <a:avLst/>
          </a:prstGeom>
        </p:spPr>
      </p:pic>
      <p:sp>
        <p:nvSpPr>
          <p:cNvPr id="26" name="文本框 25"/>
          <p:cNvSpPr>
            <a:spLocks noGrp="1"/>
          </p:cNvSpPr>
          <p:nvPr/>
        </p:nvSpPr>
        <p:spPr>
          <a:xfrm>
            <a:off x="612438" y="5231464"/>
            <a:ext cx="934594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333333"/>
                </a:solidFill>
              </a:rPr>
              <a:t>批改结果数据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每题记录：学生答案、判定结果（正确/错误/部分正确）、得分、满分与反馈信息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支持精确匹配、关键词匹配和人工复核/批注，覆盖选择题、填空题、简答题</a:t>
            </a:r>
            <a:endParaRPr sz="135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744583" y="143693"/>
            <a:ext cx="5416868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</a:pP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核心模块详细设计（四）自动批改引擎</a:t>
            </a:r>
            <a:endParaRPr sz="2400">
              <a:solidFill>
                <a:schemeClr val="accent1">
                  <a:lumMod val="75000"/>
                </a:schemeClr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6" name="图片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9598" y="6121399"/>
            <a:ext cx="570951" cy="570951"/>
          </a:xfrm>
          <a:prstGeom prst="rect">
            <a:avLst/>
          </a:prstGeom>
        </p:spPr>
      </p:pic>
      <p:pic>
        <p:nvPicPr>
          <p:cNvPr id="7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352" y="821938"/>
            <a:ext cx="10470246" cy="552806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744583" y="143693"/>
            <a:ext cx="5416868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</a:pP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核心模块详细设计（四）自动批改引擎</a:t>
            </a:r>
            <a:endParaRPr sz="2400">
              <a:solidFill>
                <a:schemeClr val="accent1">
                  <a:lumMod val="75000"/>
                </a:schemeClr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7" name="图片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9598" y="6121399"/>
            <a:ext cx="570951" cy="570951"/>
          </a:xfrm>
          <a:prstGeom prst="rect">
            <a:avLst/>
          </a:prstGeom>
        </p:spPr>
      </p:pic>
      <p:pic>
        <p:nvPicPr>
          <p:cNvPr id="8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46" y="811347"/>
            <a:ext cx="5964791" cy="4617903"/>
          </a:xfrm>
          <a:prstGeom prst="rect">
            <a:avLst/>
          </a:prstGeom>
        </p:spPr>
      </p:pic>
      <p:pic>
        <p:nvPicPr>
          <p:cNvPr id="9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6136" y="3193562"/>
            <a:ext cx="5700254" cy="352074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744583" y="143693"/>
            <a:ext cx="604364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</a:pP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核心模块详细设计（四）</a:t>
            </a: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—— </a:t>
            </a: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自动批改引擎</a:t>
            </a:r>
            <a:endParaRPr sz="2400">
              <a:solidFill>
                <a:schemeClr val="accent1">
                  <a:lumMod val="75000"/>
                </a:schemeClr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8" name="图片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9598" y="6121399"/>
            <a:ext cx="570951" cy="570951"/>
          </a:xfrm>
          <a:prstGeom prst="rect">
            <a:avLst/>
          </a:prstGeom>
        </p:spPr>
      </p:pic>
      <p:pic>
        <p:nvPicPr>
          <p:cNvPr id="9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2" y="772236"/>
            <a:ext cx="4957762" cy="4858075"/>
          </a:xfrm>
          <a:prstGeom prst="rect">
            <a:avLst/>
          </a:prstGeom>
        </p:spPr>
      </p:pic>
      <p:pic>
        <p:nvPicPr>
          <p:cNvPr id="10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1401" y="772236"/>
            <a:ext cx="5208500" cy="3798578"/>
          </a:xfrm>
          <a:prstGeom prst="rect">
            <a:avLst/>
          </a:prstGeom>
        </p:spPr>
      </p:pic>
      <p:pic>
        <p:nvPicPr>
          <p:cNvPr id="11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176" y="4570814"/>
            <a:ext cx="4026456" cy="236437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744583" y="143693"/>
            <a:ext cx="548579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</a:pP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核心模块详细设计（五）统计分析模块</a:t>
            </a: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 </a:t>
            </a:r>
            <a:endParaRPr sz="2400">
              <a:solidFill>
                <a:schemeClr val="accent1">
                  <a:lumMod val="75000"/>
                </a:schemeClr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18" name="图片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9598" y="6121399"/>
            <a:ext cx="570951" cy="570951"/>
          </a:xfrm>
          <a:prstGeom prst="rect">
            <a:avLst/>
          </a:prstGeom>
        </p:spPr>
      </p:pic>
      <p:sp>
        <p:nvSpPr>
          <p:cNvPr id="4" name="文本框 3"/>
          <p:cNvSpPr>
            <a:spLocks noGrp="1"/>
          </p:cNvSpPr>
          <p:nvPr/>
        </p:nvSpPr>
        <p:spPr>
          <a:xfrm>
            <a:off x="333516" y="781915"/>
            <a:ext cx="63079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0000"/>
                </a:solidFill>
              </a:rPr>
              <a:t>统计维度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8" name="文本框 7"/>
          <p:cNvSpPr>
            <a:spLocks noGrp="1"/>
          </p:cNvSpPr>
          <p:nvPr/>
        </p:nvSpPr>
        <p:spPr>
          <a:xfrm>
            <a:off x="5884070" y="751732"/>
            <a:ext cx="630793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333333"/>
                </a:solidFill>
              </a:rPr>
              <a:t>实现方式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后端按作业、班级、学生维度实时聚合提交与批改结果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教师端展示班级整体成绩、题目正确率与提交完成情况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学生端展示个人成绩、批改详情与历史提交趋势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统计表预留扩展，后续可加入定时汇总提升大数据量查询性能</a:t>
            </a:r>
            <a:endParaRPr sz="1350">
              <a:solidFill>
                <a:srgbClr val="333333"/>
              </a:solidFill>
            </a:endParaRPr>
          </a:p>
        </p:txBody>
      </p:sp>
      <p:pic>
        <p:nvPicPr>
          <p:cNvPr id="2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16" y="1181875"/>
            <a:ext cx="5235394" cy="1691787"/>
          </a:xfrm>
          <a:prstGeom prst="rect">
            <a:avLst/>
          </a:prstGeom>
        </p:spPr>
      </p:pic>
      <p:sp>
        <p:nvSpPr>
          <p:cNvPr id="13" name="文本框 12"/>
          <p:cNvSpPr>
            <a:spLocks noGrp="1"/>
          </p:cNvSpPr>
          <p:nvPr/>
        </p:nvSpPr>
        <p:spPr>
          <a:xfrm>
            <a:off x="279938" y="2965131"/>
            <a:ext cx="64150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0000"/>
                </a:solidFill>
              </a:rPr>
              <a:t>关键接口</a:t>
            </a:r>
            <a:endParaRPr>
              <a:solidFill>
                <a:srgbClr val="FF0000"/>
              </a:solidFill>
            </a:endParaRPr>
          </a:p>
        </p:txBody>
      </p:sp>
      <p:pic>
        <p:nvPicPr>
          <p:cNvPr id="23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890" y="3334463"/>
            <a:ext cx="6485182" cy="342167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744583" y="143693"/>
            <a:ext cx="172354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</a:pP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数据库设计</a:t>
            </a:r>
            <a:endParaRPr sz="2400">
              <a:solidFill>
                <a:schemeClr val="accent1">
                  <a:lumMod val="75000"/>
                </a:schemeClr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13" name="图片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9598" y="6121399"/>
            <a:ext cx="570951" cy="570951"/>
          </a:xfrm>
          <a:prstGeom prst="rect">
            <a:avLst/>
          </a:prstGeom>
        </p:spPr>
      </p:pic>
      <p:pic>
        <p:nvPicPr>
          <p:cNvPr id="14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5103"/>
            <a:ext cx="4300538" cy="5992897"/>
          </a:xfrm>
          <a:prstGeom prst="rect">
            <a:avLst/>
          </a:prstGeom>
        </p:spPr>
      </p:pic>
      <p:sp>
        <p:nvSpPr>
          <p:cNvPr id="8" name="文本框 7"/>
          <p:cNvSpPr>
            <a:spLocks noGrp="1"/>
          </p:cNvSpPr>
          <p:nvPr/>
        </p:nvSpPr>
        <p:spPr>
          <a:xfrm>
            <a:off x="3801653" y="5076704"/>
            <a:ext cx="630793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75">
                <a:solidFill>
                  <a:srgbClr val="333333"/>
                </a:solidFill>
              </a:rPr>
              <a:t>- 8 张核心业务表：用户、班级、成员、作业、题目、提交、批改结果、教师批注</a:t>
            </a:r>
            <a:endParaRPr sz="1275">
              <a:solidFill>
                <a:srgbClr val="333333"/>
              </a:solidFill>
            </a:endParaRPr>
          </a:p>
          <a:p>
            <a:r>
              <a:rPr sz="1275">
                <a:solidFill>
                  <a:srgbClr val="333333"/>
                </a:solidFill>
              </a:rPr>
              <a:t>- 预留 OCR 结果与统计扩展表；统一 utf8mb4 字符集，MyBatis-Plus 维护逻辑删除与驼峰映射</a:t>
            </a:r>
            <a:endParaRPr sz="1275">
              <a:solidFill>
                <a:srgbClr val="333333"/>
              </a:solidFill>
            </a:endParaRPr>
          </a:p>
        </p:txBody>
      </p:sp>
      <p:pic>
        <p:nvPicPr>
          <p:cNvPr id="16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53" y="983767"/>
            <a:ext cx="8390347" cy="383319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744583" y="143693"/>
            <a:ext cx="279102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</a:pP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Android </a:t>
            </a:r>
            <a:r>
              <a:rPr sz="2400">
                <a:solidFill>
                  <a:schemeClr val="accent1">
                    <a:lumMod val="75000"/>
                  </a:schemeClr>
                </a:solidFill>
                <a:latin typeface="+mj-ea"/>
                <a:ea typeface="+mj-ea"/>
                <a:cs typeface="+mj-ea"/>
              </a:rPr>
              <a:t>客户端设计</a:t>
            </a:r>
            <a:endParaRPr sz="2400">
              <a:solidFill>
                <a:schemeClr val="accent1">
                  <a:lumMod val="75000"/>
                </a:schemeClr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14" name="图片 2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9598" y="6121399"/>
            <a:ext cx="570951" cy="570951"/>
          </a:xfrm>
          <a:prstGeom prst="rect">
            <a:avLst/>
          </a:prstGeom>
        </p:spPr>
      </p:pic>
      <p:sp>
        <p:nvSpPr>
          <p:cNvPr id="4" name="文本框 3"/>
          <p:cNvSpPr>
            <a:spLocks noGrp="1"/>
          </p:cNvSpPr>
          <p:nvPr/>
        </p:nvSpPr>
        <p:spPr>
          <a:xfrm>
            <a:off x="381638" y="1028611"/>
            <a:ext cx="630793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0000"/>
                </a:solidFill>
              </a:rPr>
              <a:t>架构模式：</a:t>
            </a:r>
            <a:r>
              <a:rPr>
                <a:solidFill>
                  <a:srgbClr val="FF0000"/>
                </a:solidFill>
              </a:rPr>
              <a:t>MVVM</a:t>
            </a:r>
            <a:endParaRPr>
              <a:solidFill>
                <a:srgbClr val="FF0000"/>
              </a:solidFill>
            </a:endParaRPr>
          </a:p>
          <a:p/>
          <a:p>
            <a:r>
              <a:t>View (Activity/Fragment) ←→ </a:t>
            </a:r>
            <a:r>
              <a:t>ViewModel</a:t>
            </a:r>
            <a:r>
              <a:t> ←→ Repository ←→ Retrofit API / Room DB</a:t>
            </a:r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81638" y="2451187"/>
            <a:ext cx="63079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0000"/>
                </a:solidFill>
              </a:rPr>
              <a:t>功能页面</a:t>
            </a:r>
            <a:endParaRPr>
              <a:solidFill>
                <a:srgbClr val="FF0000"/>
              </a:solidFill>
            </a:endParaRPr>
          </a:p>
        </p:txBody>
      </p:sp>
      <p:pic>
        <p:nvPicPr>
          <p:cNvPr id="17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638" y="2836859"/>
            <a:ext cx="8070279" cy="3734124"/>
          </a:xfrm>
          <a:prstGeom prst="rect">
            <a:avLst/>
          </a:prstGeom>
        </p:spPr>
      </p:pic>
      <p:sp>
        <p:nvSpPr>
          <p:cNvPr id="10" name="文本框 9"/>
          <p:cNvSpPr>
            <a:spLocks noGrp="1"/>
          </p:cNvSpPr>
          <p:nvPr/>
        </p:nvSpPr>
        <p:spPr>
          <a:xfrm>
            <a:off x="7197329" y="973859"/>
            <a:ext cx="630793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333333"/>
                </a:solidFill>
              </a:rPr>
              <a:t>关键特性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Hilt 依赖注入管理 Repository、网络服务与本地偏好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Coroutine 处理异步网络请求，Retrofit 对接后端 REST API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FileProvider 适配拍照上传，支持相机和相册两种图片来源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- 教师/学生端底部导航分流，批改详情页复用展示原图、OCR 与得分</a:t>
            </a:r>
            <a:endParaRPr sz="135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744583" y="143693"/>
            <a:ext cx="2378664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1E5C83"/>
                </a:solidFill>
                <a:latin typeface="+mj-ea"/>
                <a:ea typeface="+mj-ea"/>
                <a:cs typeface="+mj-ea"/>
              </a:rPr>
              <a:t>当前已完成工作</a:t>
            </a:r>
            <a:endParaRPr sz="2400" b="1">
              <a:solidFill>
                <a:srgbClr val="1E5C83"/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66" name="图片 2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9598" y="6121399"/>
            <a:ext cx="570951" cy="570951"/>
          </a:xfrm>
          <a:prstGeom prst="rect">
            <a:avLst/>
          </a:prstGeom>
        </p:spPr>
      </p:pic>
      <p:sp>
        <p:nvSpPr>
          <p:cNvPr id="4" name="文本框 3"/>
          <p:cNvSpPr>
            <a:spLocks noGrp="1"/>
          </p:cNvSpPr>
          <p:nvPr/>
        </p:nvSpPr>
        <p:spPr>
          <a:xfrm>
            <a:off x="139303" y="849303"/>
            <a:ext cx="63079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</a:rPr>
              <a:t>后端（Spring Boot）</a:t>
            </a:r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- 用户注册/登录、JWT 鉴权与角色权限控制</a:t>
            </a:r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- 作业、题目、提交、批改结果、批注等核心接口</a:t>
            </a:r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- OCR 调用、答案对齐、自动批改和重新提交处理</a:t>
            </a:r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- 统计分析接口与 Swagger/Knife4j 接口文档</a:t>
            </a:r>
            <a:endParaRPr sz="1200">
              <a:solidFill>
                <a:srgbClr val="333333"/>
              </a:solidFill>
            </a:endParaRPr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171451" y="4536893"/>
            <a:ext cx="63079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</a:rPr>
              <a:t>OCR 微服务（Python Flask）</a:t>
            </a:r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- Flask RESTful 服务与健康检查</a:t>
            </a:r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- OpenCV 图像预处理：去噪、二值化、倾斜校正</a:t>
            </a:r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- PaddleOCR 中英文识别与位置坐标返回</a:t>
            </a:r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- 服务不可用时启用演示兜底文本</a:t>
            </a:r>
            <a:endParaRPr sz="1200">
              <a:solidFill>
                <a:srgbClr val="333333"/>
              </a:solidFill>
            </a:endParaRPr>
          </a:p>
        </p:txBody>
      </p:sp>
      <p:sp>
        <p:nvSpPr>
          <p:cNvPr id="8" name="文本框 7"/>
          <p:cNvSpPr>
            <a:spLocks noGrp="1"/>
          </p:cNvSpPr>
          <p:nvPr/>
        </p:nvSpPr>
        <p:spPr>
          <a:xfrm>
            <a:off x="6611541" y="890916"/>
            <a:ext cx="630793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</a:rPr>
              <a:t>Android 客户端</a:t>
            </a:r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- MVVM + Hilt + Retrofit2 项目框架</a:t>
            </a:r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- 登录/注册、教师端/学生端主界面</a:t>
            </a:r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- 作业列表、拍照/相册上传、提交记录</a:t>
            </a:r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- 批改详情展示：原图、OCR、逐题得分和反馈</a:t>
            </a:r>
            <a:endParaRPr sz="1200">
              <a:solidFill>
                <a:srgbClr val="333333"/>
              </a:solidFill>
            </a:endParaRPr>
          </a:p>
        </p:txBody>
      </p:sp>
      <p:sp>
        <p:nvSpPr>
          <p:cNvPr id="10" name="文本框 9"/>
          <p:cNvSpPr>
            <a:spLocks noGrp="1"/>
          </p:cNvSpPr>
          <p:nvPr/>
        </p:nvSpPr>
        <p:spPr>
          <a:xfrm>
            <a:off x="6718696" y="4509568"/>
            <a:ext cx="53018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33333"/>
                </a:solidFill>
              </a:rPr>
              <a:t>交付与验证</a:t>
            </a:r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- Docker Compose 一键启动后端、MySQL、Redis、OCR 服务</a:t>
            </a:r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- 7 份项目文档、8 张 OCR 测试图片</a:t>
            </a:r>
            <a:endParaRPr sz="1200">
              <a:solidFill>
                <a:srgbClr val="333333"/>
              </a:solidFill>
            </a:endParaRPr>
          </a:p>
          <a:p>
            <a:r>
              <a:rPr sz="1200">
                <a:solidFill>
                  <a:srgbClr val="333333"/>
                </a:solidFill>
              </a:rPr>
              <a:t>- 单元/集成/确认测试报告均已完成</a:t>
            </a:r>
            <a:endParaRPr sz="1200">
              <a:solidFill>
                <a:srgbClr val="333333"/>
              </a:solidFill>
            </a:endParaRPr>
          </a:p>
        </p:txBody>
      </p:sp>
      <p:sp>
        <p:nvSpPr>
          <p:cNvPr id="12" name="cover-slide19-body"/>
          <p:cNvSpPr>
            <a:spLocks noGrp="1"/>
          </p:cNvSpPr>
          <p:nvPr/>
        </p:nvSpPr>
        <p:spPr>
          <a:xfrm>
            <a:off x="0" y="762000"/>
            <a:ext cx="11430000" cy="5334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" name="summary-card"/>
          <p:cNvSpPr>
            <a:spLocks noGrp="1"/>
          </p:cNvSpPr>
          <p:nvPr/>
        </p:nvSpPr>
        <p:spPr>
          <a:xfrm>
            <a:off x="552450" y="990600"/>
            <a:ext cx="5048250" cy="200025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14" name="summary-card-header"/>
          <p:cNvSpPr>
            <a:spLocks noGrp="1"/>
          </p:cNvSpPr>
          <p:nvPr/>
        </p:nvSpPr>
        <p:spPr>
          <a:xfrm>
            <a:off x="552450" y="990600"/>
            <a:ext cx="5048250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15" name="polish-text"/>
          <p:cNvSpPr>
            <a:spLocks noGrp="1"/>
          </p:cNvSpPr>
          <p:nvPr/>
        </p:nvSpPr>
        <p:spPr>
          <a:xfrm>
            <a:off x="666750" y="1057275"/>
            <a:ext cx="4819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后端服务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6" name="polish-text"/>
          <p:cNvSpPr>
            <a:spLocks noGrp="1"/>
          </p:cNvSpPr>
          <p:nvPr/>
        </p:nvSpPr>
        <p:spPr>
          <a:xfrm>
            <a:off x="723900" y="1504950"/>
            <a:ext cx="470535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JWT 鉴权、角色权限、作业/题目/提交/批改/批注接口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OCR 调用、答案对齐、自动批改和重新提交处理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统计分析接口与 Swagger/Knife4j 文档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7" name="summary-card"/>
          <p:cNvSpPr>
            <a:spLocks noGrp="1"/>
          </p:cNvSpPr>
          <p:nvPr/>
        </p:nvSpPr>
        <p:spPr>
          <a:xfrm>
            <a:off x="6591300" y="990600"/>
            <a:ext cx="5048250" cy="200025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18" name="summary-card-header"/>
          <p:cNvSpPr>
            <a:spLocks noGrp="1"/>
          </p:cNvSpPr>
          <p:nvPr/>
        </p:nvSpPr>
        <p:spPr>
          <a:xfrm>
            <a:off x="6591300" y="990600"/>
            <a:ext cx="5048250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19" name="polish-text"/>
          <p:cNvSpPr>
            <a:spLocks noGrp="1"/>
          </p:cNvSpPr>
          <p:nvPr/>
        </p:nvSpPr>
        <p:spPr>
          <a:xfrm>
            <a:off x="6705600" y="1057275"/>
            <a:ext cx="4819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Android 客户端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0" name="polish-text"/>
          <p:cNvSpPr>
            <a:spLocks noGrp="1"/>
          </p:cNvSpPr>
          <p:nvPr/>
        </p:nvSpPr>
        <p:spPr>
          <a:xfrm>
            <a:off x="6762750" y="1504950"/>
            <a:ext cx="470535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MVVM + Hilt + Retrofit2 项目框架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登录/注册、教师端/学生端主界面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作业列表、拍照/相册上传、批改详情与提交记录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1" name="summary-card"/>
          <p:cNvSpPr>
            <a:spLocks noGrp="1"/>
          </p:cNvSpPr>
          <p:nvPr/>
        </p:nvSpPr>
        <p:spPr>
          <a:xfrm>
            <a:off x="552450" y="3619500"/>
            <a:ext cx="5048250" cy="200025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22" name="summary-card-header"/>
          <p:cNvSpPr>
            <a:spLocks noGrp="1"/>
          </p:cNvSpPr>
          <p:nvPr/>
        </p:nvSpPr>
        <p:spPr>
          <a:xfrm>
            <a:off x="552450" y="3619500"/>
            <a:ext cx="5048250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23" name="polish-text"/>
          <p:cNvSpPr>
            <a:spLocks noGrp="1"/>
          </p:cNvSpPr>
          <p:nvPr/>
        </p:nvSpPr>
        <p:spPr>
          <a:xfrm>
            <a:off x="666750" y="3686175"/>
            <a:ext cx="4819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OCR 微服务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4" name="polish-text"/>
          <p:cNvSpPr>
            <a:spLocks noGrp="1"/>
          </p:cNvSpPr>
          <p:nvPr/>
        </p:nvSpPr>
        <p:spPr>
          <a:xfrm>
            <a:off x="723900" y="4133850"/>
            <a:ext cx="470535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Flask RESTful 服务与健康检查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OpenCV 预处理：去噪、二值化、倾斜校正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PaddleOCR 识别、位置坐标返回与演示兜底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5" name="summary-card"/>
          <p:cNvSpPr>
            <a:spLocks noGrp="1"/>
          </p:cNvSpPr>
          <p:nvPr/>
        </p:nvSpPr>
        <p:spPr>
          <a:xfrm>
            <a:off x="6591300" y="3619500"/>
            <a:ext cx="5048250" cy="200025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26" name="summary-card-header"/>
          <p:cNvSpPr>
            <a:spLocks noGrp="1"/>
          </p:cNvSpPr>
          <p:nvPr/>
        </p:nvSpPr>
        <p:spPr>
          <a:xfrm>
            <a:off x="6591300" y="3619500"/>
            <a:ext cx="5048250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27" name="polish-text"/>
          <p:cNvSpPr>
            <a:spLocks noGrp="1"/>
          </p:cNvSpPr>
          <p:nvPr/>
        </p:nvSpPr>
        <p:spPr>
          <a:xfrm>
            <a:off x="6705600" y="3686175"/>
            <a:ext cx="4819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交付与验证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8" name="polish-text"/>
          <p:cNvSpPr>
            <a:spLocks noGrp="1"/>
          </p:cNvSpPr>
          <p:nvPr/>
        </p:nvSpPr>
        <p:spPr>
          <a:xfrm>
            <a:off x="6762750" y="4133850"/>
            <a:ext cx="470535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Docker Compose 一键启动后端、MySQL、Redis、OCR 服务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7 份项目文档、8 张 OCR 测试图片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单元、集成、确认测试报告均已完成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30" name="cover-slide19"/>
          <p:cNvSpPr>
            <a:spLocks noGrp="1"/>
          </p:cNvSpPr>
          <p:nvPr/>
        </p:nvSpPr>
        <p:spPr>
          <a:xfrm>
            <a:off x="0" y="762000"/>
            <a:ext cx="11430000" cy="5334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1" name="report-card"/>
          <p:cNvSpPr>
            <a:spLocks noGrp="1"/>
          </p:cNvSpPr>
          <p:nvPr/>
        </p:nvSpPr>
        <p:spPr>
          <a:xfrm>
            <a:off x="552450" y="990600"/>
            <a:ext cx="5048250" cy="200025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32" name="report-card-header"/>
          <p:cNvSpPr>
            <a:spLocks noGrp="1"/>
          </p:cNvSpPr>
          <p:nvPr/>
        </p:nvSpPr>
        <p:spPr>
          <a:xfrm>
            <a:off x="552450" y="990600"/>
            <a:ext cx="5048250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33" name="final-report-text"/>
          <p:cNvSpPr>
            <a:spLocks noGrp="1"/>
          </p:cNvSpPr>
          <p:nvPr/>
        </p:nvSpPr>
        <p:spPr>
          <a:xfrm>
            <a:off x="666750" y="1057275"/>
            <a:ext cx="4819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完整业务闭环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34" name="final-report-text"/>
          <p:cNvSpPr>
            <a:spLocks noGrp="1"/>
          </p:cNvSpPr>
          <p:nvPr/>
        </p:nvSpPr>
        <p:spPr>
          <a:xfrm>
            <a:off x="723900" y="1514475"/>
            <a:ext cx="470535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教师创建多题作业并配置标准答案/关键词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学生拍照或相册上传手写作业图片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OCR 识别、答案对齐、自动批改、结果反馈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教师查看提交、添加批注，学生查看错题与历史成绩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35" name="report-card"/>
          <p:cNvSpPr>
            <a:spLocks noGrp="1"/>
          </p:cNvSpPr>
          <p:nvPr/>
        </p:nvSpPr>
        <p:spPr>
          <a:xfrm>
            <a:off x="6591300" y="990600"/>
            <a:ext cx="5048250" cy="200025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36" name="report-card-header"/>
          <p:cNvSpPr>
            <a:spLocks noGrp="1"/>
          </p:cNvSpPr>
          <p:nvPr/>
        </p:nvSpPr>
        <p:spPr>
          <a:xfrm>
            <a:off x="6591300" y="990600"/>
            <a:ext cx="5048250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37" name="final-report-text"/>
          <p:cNvSpPr>
            <a:spLocks noGrp="1"/>
          </p:cNvSpPr>
          <p:nvPr/>
        </p:nvSpPr>
        <p:spPr>
          <a:xfrm>
            <a:off x="6705600" y="1057275"/>
            <a:ext cx="4819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系统实现成果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38" name="final-report-text"/>
          <p:cNvSpPr>
            <a:spLocks noGrp="1"/>
          </p:cNvSpPr>
          <p:nvPr/>
        </p:nvSpPr>
        <p:spPr>
          <a:xfrm>
            <a:off x="6762750" y="1514475"/>
            <a:ext cx="470535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Android 客户端 + Spring Boot 后端 + Flask OCR 微服务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MySQL/Redis 数据与缓存支撑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PaddleOCR + OpenCV 完成识别与预处理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Docker Compose 一键启动后端、数据库、缓存与 OCR 服务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39" name="report-card"/>
          <p:cNvSpPr>
            <a:spLocks noGrp="1"/>
          </p:cNvSpPr>
          <p:nvPr/>
        </p:nvSpPr>
        <p:spPr>
          <a:xfrm>
            <a:off x="552450" y="3619500"/>
            <a:ext cx="5048250" cy="200025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40" name="report-card-header"/>
          <p:cNvSpPr>
            <a:spLocks noGrp="1"/>
          </p:cNvSpPr>
          <p:nvPr/>
        </p:nvSpPr>
        <p:spPr>
          <a:xfrm>
            <a:off x="552450" y="3619500"/>
            <a:ext cx="5048250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41" name="final-report-text"/>
          <p:cNvSpPr>
            <a:spLocks noGrp="1"/>
          </p:cNvSpPr>
          <p:nvPr/>
        </p:nvSpPr>
        <p:spPr>
          <a:xfrm>
            <a:off x="666750" y="3686175"/>
            <a:ext cx="4819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测试与质量保证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42" name="final-report-text"/>
          <p:cNvSpPr>
            <a:spLocks noGrp="1"/>
          </p:cNvSpPr>
          <p:nvPr/>
        </p:nvSpPr>
        <p:spPr>
          <a:xfrm>
            <a:off x="723900" y="4143375"/>
            <a:ext cx="470535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单元测试 28/28，通过率 100%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集成测试 18/18，通过率 100%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确认测试 28/28，通过率 100%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覆盖认证、作业、提交、OCR、批改、统计与部署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43" name="report-card"/>
          <p:cNvSpPr>
            <a:spLocks noGrp="1"/>
          </p:cNvSpPr>
          <p:nvPr/>
        </p:nvSpPr>
        <p:spPr>
          <a:xfrm>
            <a:off x="6591300" y="3619500"/>
            <a:ext cx="5048250" cy="200025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44" name="report-card-header"/>
          <p:cNvSpPr>
            <a:spLocks noGrp="1"/>
          </p:cNvSpPr>
          <p:nvPr/>
        </p:nvSpPr>
        <p:spPr>
          <a:xfrm>
            <a:off x="6591300" y="3619500"/>
            <a:ext cx="5048250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45" name="final-report-text"/>
          <p:cNvSpPr>
            <a:spLocks noGrp="1"/>
          </p:cNvSpPr>
          <p:nvPr/>
        </p:nvSpPr>
        <p:spPr>
          <a:xfrm>
            <a:off x="6705600" y="3686175"/>
            <a:ext cx="4819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交付物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46" name="final-report-text"/>
          <p:cNvSpPr>
            <a:spLocks noGrp="1"/>
          </p:cNvSpPr>
          <p:nvPr/>
        </p:nvSpPr>
        <p:spPr>
          <a:xfrm>
            <a:off x="6762750" y="4143375"/>
            <a:ext cx="470535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项目源代码：android、backend、ocr-service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Docker 编排文件与数据库初始化脚本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7 份项目文档、用户/配置/测试报告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8 张 OCR 演示与测试图片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48" name="cover-slide19-module"/>
          <p:cNvSpPr>
            <a:spLocks noGrp="1"/>
          </p:cNvSpPr>
          <p:nvPr/>
        </p:nvSpPr>
        <p:spPr>
          <a:xfrm>
            <a:off x="0" y="762000"/>
            <a:ext cx="11430000" cy="5334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9" name="work-card"/>
          <p:cNvSpPr>
            <a:spLocks noGrp="1"/>
          </p:cNvSpPr>
          <p:nvPr/>
        </p:nvSpPr>
        <p:spPr>
          <a:xfrm>
            <a:off x="552450" y="990600"/>
            <a:ext cx="5048250" cy="200025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50" name="work-card-header"/>
          <p:cNvSpPr>
            <a:spLocks noGrp="1"/>
          </p:cNvSpPr>
          <p:nvPr/>
        </p:nvSpPr>
        <p:spPr>
          <a:xfrm>
            <a:off x="552450" y="990600"/>
            <a:ext cx="5048250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51" name="module-division-text"/>
          <p:cNvSpPr>
            <a:spLocks noGrp="1"/>
          </p:cNvSpPr>
          <p:nvPr/>
        </p:nvSpPr>
        <p:spPr>
          <a:xfrm>
            <a:off x="666750" y="1057275"/>
            <a:ext cx="4819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后端与业务闭环已完成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52" name="module-division-text"/>
          <p:cNvSpPr>
            <a:spLocks noGrp="1"/>
          </p:cNvSpPr>
          <p:nvPr/>
        </p:nvSpPr>
        <p:spPr>
          <a:xfrm>
            <a:off x="723900" y="1514475"/>
            <a:ext cx="470535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登录注册、JWT 鉴权、角色权限控制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作业/题目/提交/批改结果/批注接口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OCR 调用、答案对齐、自动批改、重新提交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教师查看提交，学生查看结果与错题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53" name="work-card"/>
          <p:cNvSpPr>
            <a:spLocks noGrp="1"/>
          </p:cNvSpPr>
          <p:nvPr/>
        </p:nvSpPr>
        <p:spPr>
          <a:xfrm>
            <a:off x="6591300" y="990600"/>
            <a:ext cx="5048250" cy="200025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54" name="work-card-header"/>
          <p:cNvSpPr>
            <a:spLocks noGrp="1"/>
          </p:cNvSpPr>
          <p:nvPr/>
        </p:nvSpPr>
        <p:spPr>
          <a:xfrm>
            <a:off x="6591300" y="990600"/>
            <a:ext cx="5048250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55" name="module-division-text"/>
          <p:cNvSpPr>
            <a:spLocks noGrp="1"/>
          </p:cNvSpPr>
          <p:nvPr/>
        </p:nvSpPr>
        <p:spPr>
          <a:xfrm>
            <a:off x="6705600" y="1057275"/>
            <a:ext cx="4819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Android 客户端已完成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56" name="module-division-text"/>
          <p:cNvSpPr>
            <a:spLocks noGrp="1"/>
          </p:cNvSpPr>
          <p:nvPr/>
        </p:nvSpPr>
        <p:spPr>
          <a:xfrm>
            <a:off x="6762750" y="1514475"/>
            <a:ext cx="470535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MVVM + Hilt + Retrofit2 客户端框架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登录/注册、教师端/学生端主界面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作业列表、拍照/相册上传、提交记录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批改详情展示原图、OCR、逐题得分和反馈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57" name="work-card"/>
          <p:cNvSpPr>
            <a:spLocks noGrp="1"/>
          </p:cNvSpPr>
          <p:nvPr/>
        </p:nvSpPr>
        <p:spPr>
          <a:xfrm>
            <a:off x="552450" y="3619500"/>
            <a:ext cx="5048250" cy="200025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58" name="work-card-header"/>
          <p:cNvSpPr>
            <a:spLocks noGrp="1"/>
          </p:cNvSpPr>
          <p:nvPr/>
        </p:nvSpPr>
        <p:spPr>
          <a:xfrm>
            <a:off x="552450" y="3619500"/>
            <a:ext cx="5048250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59" name="module-division-text"/>
          <p:cNvSpPr>
            <a:spLocks noGrp="1"/>
          </p:cNvSpPr>
          <p:nvPr/>
        </p:nvSpPr>
        <p:spPr>
          <a:xfrm>
            <a:off x="666750" y="3686175"/>
            <a:ext cx="4819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OCR 与部署已完成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60" name="module-division-text"/>
          <p:cNvSpPr>
            <a:spLocks noGrp="1"/>
          </p:cNvSpPr>
          <p:nvPr/>
        </p:nvSpPr>
        <p:spPr>
          <a:xfrm>
            <a:off x="723900" y="4143375"/>
            <a:ext cx="470535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Flask OCR 微服务与健康检查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OpenCV 预处理：去噪、二值化、倾斜校正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PaddleOCR 识别与演示兜底机制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Docker Compose 编排 MySQL、Redis、后端、OCR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61" name="work-card"/>
          <p:cNvSpPr>
            <a:spLocks noGrp="1"/>
          </p:cNvSpPr>
          <p:nvPr/>
        </p:nvSpPr>
        <p:spPr>
          <a:xfrm>
            <a:off x="6591300" y="3619500"/>
            <a:ext cx="5048250" cy="200025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62" name="work-card-header"/>
          <p:cNvSpPr>
            <a:spLocks noGrp="1"/>
          </p:cNvSpPr>
          <p:nvPr/>
        </p:nvSpPr>
        <p:spPr>
          <a:xfrm>
            <a:off x="6591300" y="3619500"/>
            <a:ext cx="5048250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63" name="module-division-text"/>
          <p:cNvSpPr>
            <a:spLocks noGrp="1"/>
          </p:cNvSpPr>
          <p:nvPr/>
        </p:nvSpPr>
        <p:spPr>
          <a:xfrm>
            <a:off x="6705600" y="3686175"/>
            <a:ext cx="4819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测试与文档已完成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64" name="module-division-text"/>
          <p:cNvSpPr>
            <a:spLocks noGrp="1"/>
          </p:cNvSpPr>
          <p:nvPr/>
        </p:nvSpPr>
        <p:spPr>
          <a:xfrm>
            <a:off x="6762750" y="4143375"/>
            <a:ext cx="470535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单元测试 28/28、集成测试 18/18、确认测试 28/28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7 份项目文档和用户/配置/测试报告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数据库初始化脚本与 8 张 OCR 测试图片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结题报告与答辩 PPT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744583" y="143693"/>
            <a:ext cx="3570208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1E5C83"/>
                </a:solidFill>
                <a:latin typeface="+mj-ea"/>
                <a:ea typeface="+mj-ea"/>
                <a:cs typeface="+mj-ea"/>
              </a:rPr>
              <a:t>测试验证与验收结论</a:t>
            </a:r>
            <a:endParaRPr sz="2400" b="1">
              <a:solidFill>
                <a:srgbClr val="1E5C83"/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61" name="图片 2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9598" y="6121399"/>
            <a:ext cx="570951" cy="570951"/>
          </a:xfrm>
          <a:prstGeom prst="rect">
            <a:avLst/>
          </a:prstGeom>
        </p:spPr>
      </p:pic>
      <p:sp>
        <p:nvSpPr>
          <p:cNvPr id="12" name="文本框 11"/>
          <p:cNvSpPr>
            <a:spLocks noGrp="1"/>
          </p:cNvSpPr>
          <p:nvPr/>
        </p:nvSpPr>
        <p:spPr>
          <a:xfrm>
            <a:off x="210741" y="996553"/>
            <a:ext cx="630793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333333"/>
                </a:solidFill>
              </a:rPr>
              <a:t>测试验证结果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单元测试：28/28 通过，覆盖批改、提交、认证、OCR、作业模块。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集成测试：18/18 通过，验证 Mapper、服务层、API、OCR 调用和 Docker 编排。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确认测试：28/28 通过，覆盖教师端、学生端、OCR 识别与非功能需求。</a:t>
            </a:r>
            <a:endParaRPr sz="1350">
              <a:solidFill>
                <a:srgbClr val="333333"/>
              </a:solidFill>
            </a:endParaRPr>
          </a:p>
          <a:p>
            <a:r>
              <a:rPr sz="1350">
                <a:solidFill>
                  <a:srgbClr val="333333"/>
                </a:solidFill>
              </a:rPr>
              <a:t>性能表现：OCR 首次模型加载约 15-25s，后续识别约 2-5s。</a:t>
            </a:r>
            <a:endParaRPr sz="1350">
              <a:solidFill>
                <a:srgbClr val="333333"/>
              </a:solidFill>
            </a:endParaRPr>
          </a:p>
        </p:txBody>
      </p:sp>
      <p:sp>
        <p:nvSpPr>
          <p:cNvPr id="14" name="文本框 13"/>
          <p:cNvSpPr>
            <a:spLocks noGrp="1"/>
          </p:cNvSpPr>
          <p:nvPr/>
        </p:nvSpPr>
        <p:spPr>
          <a:xfrm>
            <a:off x="5141668" y="3536076"/>
            <a:ext cx="630793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75">
                <a:solidFill>
                  <a:srgbClr val="333333"/>
                </a:solidFill>
              </a:rPr>
              <a:t>当前可演示能力</a:t>
            </a:r>
            <a:endParaRPr sz="1275">
              <a:solidFill>
                <a:srgbClr val="333333"/>
              </a:solidFill>
            </a:endParaRPr>
          </a:p>
          <a:p>
            <a:r>
              <a:rPr sz="1275">
                <a:solidFill>
                  <a:srgbClr val="333333"/>
                </a:solidFill>
              </a:rPr>
              <a:t>教师：创建作业、查看提交、查看批改详情、添加批注。</a:t>
            </a:r>
            <a:endParaRPr sz="1275">
              <a:solidFill>
                <a:srgbClr val="333333"/>
              </a:solidFill>
            </a:endParaRPr>
          </a:p>
          <a:p>
            <a:r>
              <a:rPr sz="1275">
                <a:solidFill>
                  <a:srgbClr val="333333"/>
                </a:solidFill>
              </a:rPr>
              <a:t>学生：登录后查看作业，拍照/相册上传，查看 OCR 与逐题得分。</a:t>
            </a:r>
            <a:endParaRPr sz="1275">
              <a:solidFill>
                <a:srgbClr val="333333"/>
              </a:solidFill>
            </a:endParaRPr>
          </a:p>
          <a:p>
            <a:r>
              <a:rPr sz="1275">
                <a:solidFill>
                  <a:srgbClr val="333333"/>
                </a:solidFill>
              </a:rPr>
              <a:t>系统：图片预处理、PaddleOCR 识别、答案对齐、自动批改、结果持久化。</a:t>
            </a:r>
            <a:endParaRPr sz="1275">
              <a:solidFill>
                <a:srgbClr val="333333"/>
              </a:solidFill>
            </a:endParaRPr>
          </a:p>
          <a:p>
            <a:r>
              <a:rPr sz="1275">
                <a:solidFill>
                  <a:srgbClr val="333333"/>
                </a:solidFill>
              </a:rPr>
              <a:t>部署：Docker Compose 可启动后端、MySQL、Redis 与 OCR 微服务。</a:t>
            </a:r>
            <a:endParaRPr sz="1275">
              <a:solidFill>
                <a:srgbClr val="333333"/>
              </a:solidFill>
            </a:endParaRPr>
          </a:p>
          <a:p>
            <a:endParaRPr sz="1275"/>
          </a:p>
          <a:p>
            <a:r>
              <a:rPr sz="1275">
                <a:solidFill>
                  <a:srgbClr val="333333"/>
                </a:solidFill>
              </a:rPr>
              <a:t>已知限制：潦草手写识别准确率受图片质量影响；简答题当前以关键词匹配为主，语义评分仍需增强。</a:t>
            </a:r>
            <a:endParaRPr sz="1275">
              <a:solidFill>
                <a:srgbClr val="333333"/>
              </a:solidFill>
            </a:endParaRPr>
          </a:p>
        </p:txBody>
      </p:sp>
      <p:sp>
        <p:nvSpPr>
          <p:cNvPr id="16" name="cover-slide20-body"/>
          <p:cNvSpPr>
            <a:spLocks noGrp="1"/>
          </p:cNvSpPr>
          <p:nvPr/>
        </p:nvSpPr>
        <p:spPr>
          <a:xfrm>
            <a:off x="0" y="781050"/>
            <a:ext cx="11430000" cy="5334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7" name="kpi-card"/>
          <p:cNvSpPr>
            <a:spLocks noGrp="1"/>
          </p:cNvSpPr>
          <p:nvPr/>
        </p:nvSpPr>
        <p:spPr>
          <a:xfrm>
            <a:off x="571500" y="1009650"/>
            <a:ext cx="3143250" cy="1104900"/>
          </a:xfrm>
          <a:prstGeom prst="rect">
            <a:avLst/>
          </a:prstGeom>
          <a:solidFill>
            <a:srgbClr val="FFF5ED"/>
          </a:solidFill>
          <a:ln w="9525">
            <a:solidFill>
              <a:srgbClr val="F0B47C"/>
            </a:solidFill>
            <a:prstDash val="solid"/>
          </a:ln>
        </p:spPr>
      </p:sp>
      <p:sp>
        <p:nvSpPr>
          <p:cNvPr id="18" name="polish-text"/>
          <p:cNvSpPr>
            <a:spLocks noGrp="1"/>
          </p:cNvSpPr>
          <p:nvPr/>
        </p:nvSpPr>
        <p:spPr>
          <a:xfrm>
            <a:off x="742950" y="1104900"/>
            <a:ext cx="2800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275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单元测试</a:t>
            </a:r>
            <a:endParaRPr sz="1275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9" name="polish-text"/>
          <p:cNvSpPr>
            <a:spLocks noGrp="1"/>
          </p:cNvSpPr>
          <p:nvPr/>
        </p:nvSpPr>
        <p:spPr>
          <a:xfrm>
            <a:off x="742950" y="1362075"/>
            <a:ext cx="2800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225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25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28/28</a:t>
            </a:r>
            <a:endParaRPr sz="2250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0" name="polish-text"/>
          <p:cNvSpPr>
            <a:spLocks noGrp="1"/>
          </p:cNvSpPr>
          <p:nvPr/>
        </p:nvSpPr>
        <p:spPr>
          <a:xfrm>
            <a:off x="742950" y="1771650"/>
            <a:ext cx="2800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rPr>
              <a:t>5 个核心业务模块，100% 通过</a:t>
            </a:r>
            <a:endParaRPr sz="1050" b="0">
              <a:solidFill>
                <a:srgbClr val="555555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1" name="kpi-card"/>
          <p:cNvSpPr>
            <a:spLocks noGrp="1"/>
          </p:cNvSpPr>
          <p:nvPr/>
        </p:nvSpPr>
        <p:spPr>
          <a:xfrm>
            <a:off x="4524375" y="1009650"/>
            <a:ext cx="3143250" cy="1104900"/>
          </a:xfrm>
          <a:prstGeom prst="rect">
            <a:avLst/>
          </a:prstGeom>
          <a:solidFill>
            <a:srgbClr val="FFF5ED"/>
          </a:solidFill>
          <a:ln w="9525">
            <a:solidFill>
              <a:srgbClr val="F0B47C"/>
            </a:solidFill>
            <a:prstDash val="solid"/>
          </a:ln>
        </p:spPr>
      </p:sp>
      <p:sp>
        <p:nvSpPr>
          <p:cNvPr id="22" name="polish-text"/>
          <p:cNvSpPr>
            <a:spLocks noGrp="1"/>
          </p:cNvSpPr>
          <p:nvPr/>
        </p:nvSpPr>
        <p:spPr>
          <a:xfrm>
            <a:off x="4695825" y="1104900"/>
            <a:ext cx="2800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275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集成测试</a:t>
            </a:r>
            <a:endParaRPr sz="1275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3" name="polish-text"/>
          <p:cNvSpPr>
            <a:spLocks noGrp="1"/>
          </p:cNvSpPr>
          <p:nvPr/>
        </p:nvSpPr>
        <p:spPr>
          <a:xfrm>
            <a:off x="4695825" y="1362075"/>
            <a:ext cx="2800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225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25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18/18</a:t>
            </a:r>
            <a:endParaRPr sz="2250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4" name="polish-text"/>
          <p:cNvSpPr>
            <a:spLocks noGrp="1"/>
          </p:cNvSpPr>
          <p:nvPr/>
        </p:nvSpPr>
        <p:spPr>
          <a:xfrm>
            <a:off x="4695825" y="1771650"/>
            <a:ext cx="2800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rPr>
              <a:t>数据、服务、API、OCR、Docker</a:t>
            </a:r>
            <a:endParaRPr sz="1050" b="0">
              <a:solidFill>
                <a:srgbClr val="555555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5" name="kpi-card"/>
          <p:cNvSpPr>
            <a:spLocks noGrp="1"/>
          </p:cNvSpPr>
          <p:nvPr/>
        </p:nvSpPr>
        <p:spPr>
          <a:xfrm>
            <a:off x="8477250" y="1009650"/>
            <a:ext cx="3143250" cy="1104900"/>
          </a:xfrm>
          <a:prstGeom prst="rect">
            <a:avLst/>
          </a:prstGeom>
          <a:solidFill>
            <a:srgbClr val="FFF5ED"/>
          </a:solidFill>
          <a:ln w="9525">
            <a:solidFill>
              <a:srgbClr val="F0B47C"/>
            </a:solidFill>
            <a:prstDash val="solid"/>
          </a:ln>
        </p:spPr>
      </p:sp>
      <p:sp>
        <p:nvSpPr>
          <p:cNvPr id="26" name="polish-text"/>
          <p:cNvSpPr>
            <a:spLocks noGrp="1"/>
          </p:cNvSpPr>
          <p:nvPr/>
        </p:nvSpPr>
        <p:spPr>
          <a:xfrm>
            <a:off x="8648700" y="1104900"/>
            <a:ext cx="2800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275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确认测试</a:t>
            </a:r>
            <a:endParaRPr sz="1275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7" name="polish-text"/>
          <p:cNvSpPr>
            <a:spLocks noGrp="1"/>
          </p:cNvSpPr>
          <p:nvPr/>
        </p:nvSpPr>
        <p:spPr>
          <a:xfrm>
            <a:off x="8648700" y="1362075"/>
            <a:ext cx="2800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225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25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28/28</a:t>
            </a:r>
            <a:endParaRPr sz="2250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8" name="polish-text"/>
          <p:cNvSpPr>
            <a:spLocks noGrp="1"/>
          </p:cNvSpPr>
          <p:nvPr/>
        </p:nvSpPr>
        <p:spPr>
          <a:xfrm>
            <a:off x="8648700" y="1771650"/>
            <a:ext cx="2800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rPr>
              <a:t>功能与非功能需求全部通过</a:t>
            </a:r>
            <a:endParaRPr sz="1050" b="0">
              <a:solidFill>
                <a:srgbClr val="555555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9" name="summary-card"/>
          <p:cNvSpPr>
            <a:spLocks noGrp="1"/>
          </p:cNvSpPr>
          <p:nvPr/>
        </p:nvSpPr>
        <p:spPr>
          <a:xfrm>
            <a:off x="571500" y="2571750"/>
            <a:ext cx="5191125" cy="266700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30" name="summary-card-header"/>
          <p:cNvSpPr>
            <a:spLocks noGrp="1"/>
          </p:cNvSpPr>
          <p:nvPr/>
        </p:nvSpPr>
        <p:spPr>
          <a:xfrm>
            <a:off x="571500" y="2571750"/>
            <a:ext cx="5191125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31" name="polish-text"/>
          <p:cNvSpPr>
            <a:spLocks noGrp="1"/>
          </p:cNvSpPr>
          <p:nvPr/>
        </p:nvSpPr>
        <p:spPr>
          <a:xfrm>
            <a:off x="685800" y="2638425"/>
            <a:ext cx="49625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当前可演示能力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32" name="polish-text"/>
          <p:cNvSpPr>
            <a:spLocks noGrp="1"/>
          </p:cNvSpPr>
          <p:nvPr/>
        </p:nvSpPr>
        <p:spPr>
          <a:xfrm>
            <a:off x="742950" y="3086100"/>
            <a:ext cx="4848225" cy="2038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教师：创建作业、查看提交、查看批改详情、添加批注。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学生：查看作业，拍照/相册上传，查看 OCR 与逐题得分。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系统：图片预处理、PaddleOCR 识别、答案对齐、自动批改、结果持久化。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部署：Docker Compose 可启动后端、MySQL、Redis 与 OCR 微服务。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33" name="summary-card"/>
          <p:cNvSpPr>
            <a:spLocks noGrp="1"/>
          </p:cNvSpPr>
          <p:nvPr/>
        </p:nvSpPr>
        <p:spPr>
          <a:xfrm>
            <a:off x="6429375" y="2571750"/>
            <a:ext cx="5191125" cy="266700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34" name="summary-card-header"/>
          <p:cNvSpPr>
            <a:spLocks noGrp="1"/>
          </p:cNvSpPr>
          <p:nvPr/>
        </p:nvSpPr>
        <p:spPr>
          <a:xfrm>
            <a:off x="6429375" y="2571750"/>
            <a:ext cx="5191125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35" name="polish-text"/>
          <p:cNvSpPr>
            <a:spLocks noGrp="1"/>
          </p:cNvSpPr>
          <p:nvPr/>
        </p:nvSpPr>
        <p:spPr>
          <a:xfrm>
            <a:off x="6543675" y="2638425"/>
            <a:ext cx="49625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性能与已知限制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36" name="polish-text"/>
          <p:cNvSpPr>
            <a:spLocks noGrp="1"/>
          </p:cNvSpPr>
          <p:nvPr/>
        </p:nvSpPr>
        <p:spPr>
          <a:xfrm>
            <a:off x="6600825" y="3086100"/>
            <a:ext cx="4848225" cy="2038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OCR 首次模型加载约 15-25s，后续识别约 2-5s。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潦草手写识别准确率受图片质量、书写规范程度影响较大。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简答题当前以关键词匹配为主，语义理解评分仍需增强。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管理员端与班级管理能力已有预留，后续继续补齐。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38" name="cover-slide20"/>
          <p:cNvSpPr>
            <a:spLocks noGrp="1"/>
          </p:cNvSpPr>
          <p:nvPr/>
        </p:nvSpPr>
        <p:spPr>
          <a:xfrm>
            <a:off x="0" y="781050"/>
            <a:ext cx="11430000" cy="5334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" name="kpi-card"/>
          <p:cNvSpPr>
            <a:spLocks noGrp="1"/>
          </p:cNvSpPr>
          <p:nvPr/>
        </p:nvSpPr>
        <p:spPr>
          <a:xfrm>
            <a:off x="571500" y="1009650"/>
            <a:ext cx="3143250" cy="1104900"/>
          </a:xfrm>
          <a:prstGeom prst="rect">
            <a:avLst/>
          </a:prstGeom>
          <a:solidFill>
            <a:srgbClr val="FFF5ED"/>
          </a:solidFill>
          <a:ln w="9525">
            <a:solidFill>
              <a:srgbClr val="F0B47C"/>
            </a:solidFill>
            <a:prstDash val="solid"/>
          </a:ln>
        </p:spPr>
      </p:sp>
      <p:sp>
        <p:nvSpPr>
          <p:cNvPr id="40" name="final-report-text"/>
          <p:cNvSpPr>
            <a:spLocks noGrp="1"/>
          </p:cNvSpPr>
          <p:nvPr/>
        </p:nvSpPr>
        <p:spPr>
          <a:xfrm>
            <a:off x="742950" y="1104900"/>
            <a:ext cx="2800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275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单元测试</a:t>
            </a:r>
            <a:endParaRPr sz="1275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41" name="final-report-text"/>
          <p:cNvSpPr>
            <a:spLocks noGrp="1"/>
          </p:cNvSpPr>
          <p:nvPr/>
        </p:nvSpPr>
        <p:spPr>
          <a:xfrm>
            <a:off x="742950" y="1362075"/>
            <a:ext cx="2800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225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25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28/28</a:t>
            </a:r>
            <a:endParaRPr sz="2250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42" name="final-report-text"/>
          <p:cNvSpPr>
            <a:spLocks noGrp="1"/>
          </p:cNvSpPr>
          <p:nvPr/>
        </p:nvSpPr>
        <p:spPr>
          <a:xfrm>
            <a:off x="742950" y="1771650"/>
            <a:ext cx="2800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rPr>
              <a:t>核心业务模块全部通过</a:t>
            </a:r>
            <a:endParaRPr sz="1050" b="0">
              <a:solidFill>
                <a:srgbClr val="555555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43" name="kpi-card"/>
          <p:cNvSpPr>
            <a:spLocks noGrp="1"/>
          </p:cNvSpPr>
          <p:nvPr/>
        </p:nvSpPr>
        <p:spPr>
          <a:xfrm>
            <a:off x="4524375" y="1009650"/>
            <a:ext cx="3143250" cy="1104900"/>
          </a:xfrm>
          <a:prstGeom prst="rect">
            <a:avLst/>
          </a:prstGeom>
          <a:solidFill>
            <a:srgbClr val="FFF5ED"/>
          </a:solidFill>
          <a:ln w="9525">
            <a:solidFill>
              <a:srgbClr val="F0B47C"/>
            </a:solidFill>
            <a:prstDash val="solid"/>
          </a:ln>
        </p:spPr>
      </p:sp>
      <p:sp>
        <p:nvSpPr>
          <p:cNvPr id="44" name="final-report-text"/>
          <p:cNvSpPr>
            <a:spLocks noGrp="1"/>
          </p:cNvSpPr>
          <p:nvPr/>
        </p:nvSpPr>
        <p:spPr>
          <a:xfrm>
            <a:off x="4695825" y="1104900"/>
            <a:ext cx="2800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275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集成测试</a:t>
            </a:r>
            <a:endParaRPr sz="1275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45" name="final-report-text"/>
          <p:cNvSpPr>
            <a:spLocks noGrp="1"/>
          </p:cNvSpPr>
          <p:nvPr/>
        </p:nvSpPr>
        <p:spPr>
          <a:xfrm>
            <a:off x="4695825" y="1362075"/>
            <a:ext cx="2800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225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25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18/18</a:t>
            </a:r>
            <a:endParaRPr sz="2250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46" name="final-report-text"/>
          <p:cNvSpPr>
            <a:spLocks noGrp="1"/>
          </p:cNvSpPr>
          <p:nvPr/>
        </p:nvSpPr>
        <p:spPr>
          <a:xfrm>
            <a:off x="4695825" y="1771650"/>
            <a:ext cx="2800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rPr>
              <a:t>数据、服务、API、OCR、Docker</a:t>
            </a:r>
            <a:endParaRPr sz="1050" b="0">
              <a:solidFill>
                <a:srgbClr val="555555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47" name="kpi-card"/>
          <p:cNvSpPr>
            <a:spLocks noGrp="1"/>
          </p:cNvSpPr>
          <p:nvPr/>
        </p:nvSpPr>
        <p:spPr>
          <a:xfrm>
            <a:off x="8477250" y="1009650"/>
            <a:ext cx="3143250" cy="1104900"/>
          </a:xfrm>
          <a:prstGeom prst="rect">
            <a:avLst/>
          </a:prstGeom>
          <a:solidFill>
            <a:srgbClr val="FFF5ED"/>
          </a:solidFill>
          <a:ln w="9525">
            <a:solidFill>
              <a:srgbClr val="F0B47C"/>
            </a:solidFill>
            <a:prstDash val="solid"/>
          </a:ln>
        </p:spPr>
      </p:sp>
      <p:sp>
        <p:nvSpPr>
          <p:cNvPr id="48" name="final-report-text"/>
          <p:cNvSpPr>
            <a:spLocks noGrp="1"/>
          </p:cNvSpPr>
          <p:nvPr/>
        </p:nvSpPr>
        <p:spPr>
          <a:xfrm>
            <a:off x="8648700" y="1104900"/>
            <a:ext cx="2800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275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确认测试</a:t>
            </a:r>
            <a:endParaRPr sz="1275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49" name="final-report-text"/>
          <p:cNvSpPr>
            <a:spLocks noGrp="1"/>
          </p:cNvSpPr>
          <p:nvPr/>
        </p:nvSpPr>
        <p:spPr>
          <a:xfrm>
            <a:off x="8648700" y="1362075"/>
            <a:ext cx="2800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225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225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28/28</a:t>
            </a:r>
            <a:endParaRPr sz="2250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50" name="final-report-text"/>
          <p:cNvSpPr>
            <a:spLocks noGrp="1"/>
          </p:cNvSpPr>
          <p:nvPr/>
        </p:nvSpPr>
        <p:spPr>
          <a:xfrm>
            <a:off x="8648700" y="1771650"/>
            <a:ext cx="2800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rPr>
              <a:t>功能与非功能需求全部通过</a:t>
            </a:r>
            <a:endParaRPr sz="1050" b="0">
              <a:solidFill>
                <a:srgbClr val="555555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51" name="report-card"/>
          <p:cNvSpPr>
            <a:spLocks noGrp="1"/>
          </p:cNvSpPr>
          <p:nvPr/>
        </p:nvSpPr>
        <p:spPr>
          <a:xfrm>
            <a:off x="571500" y="2571750"/>
            <a:ext cx="5191125" cy="266700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52" name="report-card-header"/>
          <p:cNvSpPr>
            <a:spLocks noGrp="1"/>
          </p:cNvSpPr>
          <p:nvPr/>
        </p:nvSpPr>
        <p:spPr>
          <a:xfrm>
            <a:off x="571500" y="2571750"/>
            <a:ext cx="5191125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53" name="final-report-text"/>
          <p:cNvSpPr>
            <a:spLocks noGrp="1"/>
          </p:cNvSpPr>
          <p:nvPr/>
        </p:nvSpPr>
        <p:spPr>
          <a:xfrm>
            <a:off x="685800" y="2638425"/>
            <a:ext cx="49625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验收结论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54" name="final-report-text"/>
          <p:cNvSpPr>
            <a:spLocks noGrp="1"/>
          </p:cNvSpPr>
          <p:nvPr/>
        </p:nvSpPr>
        <p:spPr>
          <a:xfrm>
            <a:off x="742950" y="3095625"/>
            <a:ext cx="4848225" cy="2057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系统已达到项目交付标准：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教师端、学生端核心流程完整可用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OCR 识别、答案对齐、自动批改链路可运行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角色权限、密码加密、JWT 鉴权满足安全要求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Docker Compose 能复现后端、MySQL、Redis、OCR 服务运行环境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55" name="report-card"/>
          <p:cNvSpPr>
            <a:spLocks noGrp="1"/>
          </p:cNvSpPr>
          <p:nvPr/>
        </p:nvSpPr>
        <p:spPr>
          <a:xfrm>
            <a:off x="6429375" y="2571750"/>
            <a:ext cx="5191125" cy="266700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56" name="report-card-header"/>
          <p:cNvSpPr>
            <a:spLocks noGrp="1"/>
          </p:cNvSpPr>
          <p:nvPr/>
        </p:nvSpPr>
        <p:spPr>
          <a:xfrm>
            <a:off x="6429375" y="2571750"/>
            <a:ext cx="5191125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57" name="final-report-text"/>
          <p:cNvSpPr>
            <a:spLocks noGrp="1"/>
          </p:cNvSpPr>
          <p:nvPr/>
        </p:nvSpPr>
        <p:spPr>
          <a:xfrm>
            <a:off x="6543675" y="2638425"/>
            <a:ext cx="496252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性能与限制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58" name="final-report-text"/>
          <p:cNvSpPr>
            <a:spLocks noGrp="1"/>
          </p:cNvSpPr>
          <p:nvPr/>
        </p:nvSpPr>
        <p:spPr>
          <a:xfrm>
            <a:off x="6600825" y="3095625"/>
            <a:ext cx="4848225" cy="2057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OCR 首次模型加载约 15-25s，后续识别约 2-5s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登录/查询/批改详情等 API 响应约 150-300ms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潦草手写仍受图片质量与书写规范影响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• 简答题当前以关键词匹配为主，语义评分可继续增强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>
            <a:spLocks noGrp="1"/>
          </p:cNvSpPr>
          <p:nvPr/>
        </p:nvSpPr>
        <p:spPr>
          <a:xfrm>
            <a:off x="744583" y="143693"/>
            <a:ext cx="172354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</a:pPr>
            <a:r>
              <a:rPr sz="2400" b="1">
                <a:solidFill>
                  <a:srgbClr val="1E5C83"/>
                </a:solidFill>
                <a:latin typeface="+mj-ea"/>
                <a:ea typeface="+mj-ea"/>
                <a:cs typeface="+mj-ea"/>
              </a:rPr>
              <a:t>已完成工作与成员分工</a:t>
            </a:r>
            <a:endParaRPr sz="2400" b="1">
              <a:solidFill>
                <a:srgbClr val="1E5C83"/>
              </a:solidFill>
              <a:latin typeface="+mj-ea"/>
              <a:ea typeface="+mj-ea"/>
              <a:cs typeface="+mj-ea"/>
            </a:endParaRPr>
          </a:p>
        </p:txBody>
      </p:sp>
      <p:pic>
        <p:nvPicPr>
          <p:cNvPr id="133" name="图片 2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9598" y="6121399"/>
            <a:ext cx="570951" cy="570951"/>
          </a:xfrm>
          <a:prstGeom prst="rect">
            <a:avLst/>
          </a:prstGeom>
        </p:spPr>
      </p:pic>
      <p:sp>
        <p:nvSpPr>
          <p:cNvPr id="5" name="cover-old-plan"/>
          <p:cNvSpPr>
            <a:spLocks noGrp="1"/>
          </p:cNvSpPr>
          <p:nvPr/>
        </p:nvSpPr>
        <p:spPr>
          <a:xfrm>
            <a:off x="666750" y="895350"/>
            <a:ext cx="10858500" cy="5238750"/>
          </a:xfrm>
          <a:prstGeom prst="roundRect">
            <a:avLst>
              <a:gd name="adj" fmla="val 364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6" name="plan-header"/>
          <p:cNvSpPr>
            <a:spLocks noGrp="1"/>
          </p:cNvSpPr>
          <p:nvPr/>
        </p:nvSpPr>
        <p:spPr>
          <a:xfrm>
            <a:off x="914400" y="1066800"/>
            <a:ext cx="10363200" cy="438150"/>
          </a:xfrm>
          <a:prstGeom prst="roundRect">
            <a:avLst>
              <a:gd name="adj" fmla="val 4348"/>
            </a:avLst>
          </a:prstGeom>
          <a:solidFill>
            <a:srgbClr val="E97824"/>
          </a:solidFill>
          <a:ln w="9525">
            <a:solidFill>
              <a:srgbClr val="E97824"/>
            </a:solidFill>
            <a:prstDash val="solid"/>
          </a:ln>
        </p:spPr>
      </p:sp>
      <p:sp>
        <p:nvSpPr>
          <p:cNvPr id="7" name="text"/>
          <p:cNvSpPr>
            <a:spLocks noGrp="1"/>
          </p:cNvSpPr>
          <p:nvPr/>
        </p:nvSpPr>
        <p:spPr>
          <a:xfrm>
            <a:off x="990600" y="1152525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/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阶段</a:t>
            </a:r>
            <a:endParaRPr sz="1275" b="1">
              <a:solidFill>
                <a:srgbClr val="FFFFFF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8" name="text"/>
          <p:cNvSpPr>
            <a:spLocks noGrp="1"/>
          </p:cNvSpPr>
          <p:nvPr/>
        </p:nvSpPr>
        <p:spPr>
          <a:xfrm>
            <a:off x="2438400" y="1152525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/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重点工作</a:t>
            </a:r>
            <a:endParaRPr sz="1275" b="1">
              <a:solidFill>
                <a:srgbClr val="FFFFFF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9" name="text"/>
          <p:cNvSpPr>
            <a:spLocks noGrp="1"/>
          </p:cNvSpPr>
          <p:nvPr/>
        </p:nvSpPr>
        <p:spPr>
          <a:xfrm>
            <a:off x="7067550" y="1152525"/>
            <a:ext cx="409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/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预期产出</a:t>
            </a:r>
            <a:endParaRPr sz="1275" b="1">
              <a:solidFill>
                <a:srgbClr val="FFFFFF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0" name="phase-阶段一"/>
          <p:cNvSpPr>
            <a:spLocks noGrp="1"/>
          </p:cNvSpPr>
          <p:nvPr/>
        </p:nvSpPr>
        <p:spPr>
          <a:xfrm>
            <a:off x="914400" y="1504950"/>
            <a:ext cx="1409700" cy="742950"/>
          </a:xfrm>
          <a:prstGeom prst="roundRect">
            <a:avLst>
              <a:gd name="adj" fmla="val 2564"/>
            </a:avLst>
          </a:prstGeom>
          <a:solidFill>
            <a:srgbClr val="FFF5ED"/>
          </a:solidFill>
          <a:ln w="9525">
            <a:solidFill>
              <a:srgbClr val="E9B46D"/>
            </a:solidFill>
            <a:prstDash val="solid"/>
          </a:ln>
        </p:spPr>
      </p:sp>
      <p:sp>
        <p:nvSpPr>
          <p:cNvPr id="11" name="work-阶段一"/>
          <p:cNvSpPr>
            <a:spLocks noGrp="1"/>
          </p:cNvSpPr>
          <p:nvPr/>
        </p:nvSpPr>
        <p:spPr>
          <a:xfrm>
            <a:off x="2324100" y="1504950"/>
            <a:ext cx="4629150" cy="742950"/>
          </a:xfrm>
          <a:prstGeom prst="roundRect">
            <a:avLst>
              <a:gd name="adj" fmla="val 2564"/>
            </a:avLst>
          </a:prstGeom>
          <a:solidFill>
            <a:srgbClr val="FFF5ED"/>
          </a:solidFill>
          <a:ln w="9525">
            <a:solidFill>
              <a:srgbClr val="E9B46D"/>
            </a:solidFill>
            <a:prstDash val="solid"/>
          </a:ln>
        </p:spPr>
      </p:sp>
      <p:sp>
        <p:nvSpPr>
          <p:cNvPr id="12" name="deliverable-阶段一"/>
          <p:cNvSpPr>
            <a:spLocks noGrp="1"/>
          </p:cNvSpPr>
          <p:nvPr/>
        </p:nvSpPr>
        <p:spPr>
          <a:xfrm>
            <a:off x="6953250" y="1504950"/>
            <a:ext cx="4324350" cy="742950"/>
          </a:xfrm>
          <a:prstGeom prst="roundRect">
            <a:avLst>
              <a:gd name="adj" fmla="val 2564"/>
            </a:avLst>
          </a:prstGeom>
          <a:solidFill>
            <a:srgbClr val="FFF5ED"/>
          </a:solidFill>
          <a:ln w="9525">
            <a:solidFill>
              <a:srgbClr val="E9B46D"/>
            </a:solidFill>
            <a:prstDash val="solid"/>
          </a:ln>
        </p:spPr>
      </p:sp>
      <p:sp>
        <p:nvSpPr>
          <p:cNvPr id="13" name="text"/>
          <p:cNvSpPr>
            <a:spLocks noGrp="1"/>
          </p:cNvSpPr>
          <p:nvPr/>
        </p:nvSpPr>
        <p:spPr>
          <a:xfrm>
            <a:off x="990600" y="1619250"/>
            <a:ext cx="1257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/>
          <a:lstStyle/>
          <a:p>
            <a:pPr algn="ctr">
              <a:buNone/>
              <a:defRPr sz="135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阶段一</a:t>
            </a:r>
            <a:endParaRPr sz="1350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4" name="text"/>
          <p:cNvSpPr>
            <a:spLocks noGrp="1"/>
          </p:cNvSpPr>
          <p:nvPr/>
        </p:nvSpPr>
        <p:spPr>
          <a:xfrm>
            <a:off x="2438400" y="1581150"/>
            <a:ext cx="4381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优化 OCR 效果：补充手写样本、调参预处理流程、完善题号定位与噪声过滤。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5" name="text"/>
          <p:cNvSpPr>
            <a:spLocks noGrp="1"/>
          </p:cNvSpPr>
          <p:nvPr/>
        </p:nvSpPr>
        <p:spPr>
          <a:xfrm>
            <a:off x="7067550" y="1581150"/>
            <a:ext cx="4095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提升复杂图片下的识别稳定性，形成更完整的测试样本集。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6" name="phase-阶段二"/>
          <p:cNvSpPr>
            <a:spLocks noGrp="1"/>
          </p:cNvSpPr>
          <p:nvPr/>
        </p:nvSpPr>
        <p:spPr>
          <a:xfrm>
            <a:off x="914400" y="2247900"/>
            <a:ext cx="1409700" cy="74295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9B46D"/>
            </a:solidFill>
            <a:prstDash val="solid"/>
          </a:ln>
        </p:spPr>
      </p:sp>
      <p:sp>
        <p:nvSpPr>
          <p:cNvPr id="17" name="work-阶段二"/>
          <p:cNvSpPr>
            <a:spLocks noGrp="1"/>
          </p:cNvSpPr>
          <p:nvPr/>
        </p:nvSpPr>
        <p:spPr>
          <a:xfrm>
            <a:off x="2324100" y="2247900"/>
            <a:ext cx="4629150" cy="74295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9B46D"/>
            </a:solidFill>
            <a:prstDash val="solid"/>
          </a:ln>
        </p:spPr>
      </p:sp>
      <p:sp>
        <p:nvSpPr>
          <p:cNvPr id="18" name="deliverable-阶段二"/>
          <p:cNvSpPr>
            <a:spLocks noGrp="1"/>
          </p:cNvSpPr>
          <p:nvPr/>
        </p:nvSpPr>
        <p:spPr>
          <a:xfrm>
            <a:off x="6953250" y="2247900"/>
            <a:ext cx="4324350" cy="74295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9B46D"/>
            </a:solidFill>
            <a:prstDash val="solid"/>
          </a:ln>
        </p:spPr>
      </p:sp>
      <p:sp>
        <p:nvSpPr>
          <p:cNvPr id="19" name="text"/>
          <p:cNvSpPr>
            <a:spLocks noGrp="1"/>
          </p:cNvSpPr>
          <p:nvPr/>
        </p:nvSpPr>
        <p:spPr>
          <a:xfrm>
            <a:off x="990600" y="2362200"/>
            <a:ext cx="1257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/>
          <a:lstStyle/>
          <a:p>
            <a:pPr algn="ctr">
              <a:buNone/>
              <a:defRPr sz="135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阶段二</a:t>
            </a:r>
            <a:endParaRPr sz="1350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0" name="text"/>
          <p:cNvSpPr>
            <a:spLocks noGrp="1"/>
          </p:cNvSpPr>
          <p:nvPr/>
        </p:nvSpPr>
        <p:spPr>
          <a:xfrm>
            <a:off x="2438400" y="2324100"/>
            <a:ext cx="4381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增强批改策略：在关键词匹配基础上引入语义相似度评分，细化简答题部分得分规则。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1" name="text"/>
          <p:cNvSpPr>
            <a:spLocks noGrp="1"/>
          </p:cNvSpPr>
          <p:nvPr/>
        </p:nvSpPr>
        <p:spPr>
          <a:xfrm>
            <a:off x="7067550" y="2324100"/>
            <a:ext cx="4095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减少简答题误判，提高反馈解释性。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2" name="phase-阶段三"/>
          <p:cNvSpPr>
            <a:spLocks noGrp="1"/>
          </p:cNvSpPr>
          <p:nvPr/>
        </p:nvSpPr>
        <p:spPr>
          <a:xfrm>
            <a:off x="914400" y="2990850"/>
            <a:ext cx="1409700" cy="742950"/>
          </a:xfrm>
          <a:prstGeom prst="roundRect">
            <a:avLst>
              <a:gd name="adj" fmla="val 2564"/>
            </a:avLst>
          </a:prstGeom>
          <a:solidFill>
            <a:srgbClr val="FFF5ED"/>
          </a:solidFill>
          <a:ln w="9525">
            <a:solidFill>
              <a:srgbClr val="E9B46D"/>
            </a:solidFill>
            <a:prstDash val="solid"/>
          </a:ln>
        </p:spPr>
      </p:sp>
      <p:sp>
        <p:nvSpPr>
          <p:cNvPr id="23" name="work-阶段三"/>
          <p:cNvSpPr>
            <a:spLocks noGrp="1"/>
          </p:cNvSpPr>
          <p:nvPr/>
        </p:nvSpPr>
        <p:spPr>
          <a:xfrm>
            <a:off x="2324100" y="2990850"/>
            <a:ext cx="4629150" cy="742950"/>
          </a:xfrm>
          <a:prstGeom prst="roundRect">
            <a:avLst>
              <a:gd name="adj" fmla="val 2564"/>
            </a:avLst>
          </a:prstGeom>
          <a:solidFill>
            <a:srgbClr val="FFF5ED"/>
          </a:solidFill>
          <a:ln w="9525">
            <a:solidFill>
              <a:srgbClr val="E9B46D"/>
            </a:solidFill>
            <a:prstDash val="solid"/>
          </a:ln>
        </p:spPr>
      </p:sp>
      <p:sp>
        <p:nvSpPr>
          <p:cNvPr id="24" name="deliverable-阶段三"/>
          <p:cNvSpPr>
            <a:spLocks noGrp="1"/>
          </p:cNvSpPr>
          <p:nvPr/>
        </p:nvSpPr>
        <p:spPr>
          <a:xfrm>
            <a:off x="6953250" y="2990850"/>
            <a:ext cx="4324350" cy="742950"/>
          </a:xfrm>
          <a:prstGeom prst="roundRect">
            <a:avLst>
              <a:gd name="adj" fmla="val 2564"/>
            </a:avLst>
          </a:prstGeom>
          <a:solidFill>
            <a:srgbClr val="FFF5ED"/>
          </a:solidFill>
          <a:ln w="9525">
            <a:solidFill>
              <a:srgbClr val="E9B46D"/>
            </a:solidFill>
            <a:prstDash val="solid"/>
          </a:ln>
        </p:spPr>
      </p:sp>
      <p:sp>
        <p:nvSpPr>
          <p:cNvPr id="25" name="text"/>
          <p:cNvSpPr>
            <a:spLocks noGrp="1"/>
          </p:cNvSpPr>
          <p:nvPr/>
        </p:nvSpPr>
        <p:spPr>
          <a:xfrm>
            <a:off x="990600" y="3105150"/>
            <a:ext cx="1257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/>
          <a:lstStyle/>
          <a:p>
            <a:pPr algn="ctr">
              <a:buNone/>
              <a:defRPr sz="135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阶段三</a:t>
            </a:r>
            <a:endParaRPr sz="1350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6" name="text"/>
          <p:cNvSpPr>
            <a:spLocks noGrp="1"/>
          </p:cNvSpPr>
          <p:nvPr/>
        </p:nvSpPr>
        <p:spPr>
          <a:xfrm>
            <a:off x="2438400" y="3067050"/>
            <a:ext cx="4381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完善班级与管理员能力：补齐班级创建、成员加入、用户管理与权限边界。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7" name="text"/>
          <p:cNvSpPr>
            <a:spLocks noGrp="1"/>
          </p:cNvSpPr>
          <p:nvPr/>
        </p:nvSpPr>
        <p:spPr>
          <a:xfrm>
            <a:off x="7067550" y="3067050"/>
            <a:ext cx="4095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覆盖真实教学组织场景，降低教师使用门槛。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28" name="phase-阶段四"/>
          <p:cNvSpPr>
            <a:spLocks noGrp="1"/>
          </p:cNvSpPr>
          <p:nvPr/>
        </p:nvSpPr>
        <p:spPr>
          <a:xfrm>
            <a:off x="914400" y="3733800"/>
            <a:ext cx="1409700" cy="74295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9B46D"/>
            </a:solidFill>
            <a:prstDash val="solid"/>
          </a:ln>
        </p:spPr>
      </p:sp>
      <p:sp>
        <p:nvSpPr>
          <p:cNvPr id="29" name="work-阶段四"/>
          <p:cNvSpPr>
            <a:spLocks noGrp="1"/>
          </p:cNvSpPr>
          <p:nvPr/>
        </p:nvSpPr>
        <p:spPr>
          <a:xfrm>
            <a:off x="2324100" y="3733800"/>
            <a:ext cx="4629150" cy="74295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9B46D"/>
            </a:solidFill>
            <a:prstDash val="solid"/>
          </a:ln>
        </p:spPr>
      </p:sp>
      <p:sp>
        <p:nvSpPr>
          <p:cNvPr id="30" name="deliverable-阶段四"/>
          <p:cNvSpPr>
            <a:spLocks noGrp="1"/>
          </p:cNvSpPr>
          <p:nvPr/>
        </p:nvSpPr>
        <p:spPr>
          <a:xfrm>
            <a:off x="6953250" y="3733800"/>
            <a:ext cx="4324350" cy="74295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9B46D"/>
            </a:solidFill>
            <a:prstDash val="solid"/>
          </a:ln>
        </p:spPr>
      </p:sp>
      <p:sp>
        <p:nvSpPr>
          <p:cNvPr id="31" name="text"/>
          <p:cNvSpPr>
            <a:spLocks noGrp="1"/>
          </p:cNvSpPr>
          <p:nvPr/>
        </p:nvSpPr>
        <p:spPr>
          <a:xfrm>
            <a:off x="990600" y="3848100"/>
            <a:ext cx="1257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/>
          <a:lstStyle/>
          <a:p>
            <a:pPr algn="ctr">
              <a:buNone/>
              <a:defRPr sz="135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阶段四</a:t>
            </a:r>
            <a:endParaRPr sz="1350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32" name="text"/>
          <p:cNvSpPr>
            <a:spLocks noGrp="1"/>
          </p:cNvSpPr>
          <p:nvPr/>
        </p:nvSpPr>
        <p:spPr>
          <a:xfrm>
            <a:off x="2438400" y="3810000"/>
            <a:ext cx="4381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强化移动端与部署体验：适配更多 Android 机型，整理演示脚本和生产部署配置。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33" name="text"/>
          <p:cNvSpPr>
            <a:spLocks noGrp="1"/>
          </p:cNvSpPr>
          <p:nvPr/>
        </p:nvSpPr>
        <p:spPr>
          <a:xfrm>
            <a:off x="7067550" y="3810000"/>
            <a:ext cx="4095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t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提升演示稳定性和交付可复现性。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34" name="text"/>
          <p:cNvSpPr>
            <a:spLocks noGrp="1"/>
          </p:cNvSpPr>
          <p:nvPr/>
        </p:nvSpPr>
        <p:spPr>
          <a:xfrm>
            <a:off x="1066800" y="4762500"/>
            <a:ext cx="9906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57150" tIns="38100" rIns="57150" bIns="38100" anchor="ctr"/>
          <a:lstStyle/>
          <a:p>
            <a:pPr algn="ctr">
              <a:buNone/>
              <a:defRPr sz="1425" b="1">
                <a:solidFill>
                  <a:srgbClr val="1F4E79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F4E79"/>
                </a:solidFill>
                <a:latin typeface="Source Han Sans CN"/>
                <a:ea typeface="Source Han Sans CN"/>
                <a:cs typeface="Source Han Sans CN"/>
              </a:rPr>
              <a:t>阶段目标：在现有核心闭环可运行的基础上，优先解决 OCR 准确率和简答题语义评分两个质量瓶颈，再补齐教学管理与运维能力。</a:t>
            </a:r>
            <a:endParaRPr sz="1425" b="1">
              <a:solidFill>
                <a:srgbClr val="1F4E79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37" name="cover-slide21"/>
          <p:cNvSpPr>
            <a:spLocks noGrp="1"/>
          </p:cNvSpPr>
          <p:nvPr/>
        </p:nvSpPr>
        <p:spPr>
          <a:xfrm>
            <a:off x="0" y="800100"/>
            <a:ext cx="11430000" cy="5334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8" name="final-report-text"/>
          <p:cNvSpPr>
            <a:spLocks noGrp="1"/>
          </p:cNvSpPr>
          <p:nvPr/>
        </p:nvSpPr>
        <p:spPr>
          <a:xfrm>
            <a:off x="762000" y="904875"/>
            <a:ext cx="5048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buNone/>
              <a:defRPr sz="135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35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演示图片来自 test-data/ocr-images，可验证工整、潦草、错误与关键词作答场景。</a:t>
            </a:r>
            <a:endParaRPr sz="1350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40" name="image-border"/>
          <p:cNvSpPr>
            <a:spLocks noGrp="1"/>
          </p:cNvSpPr>
          <p:nvPr/>
        </p:nvSpPr>
        <p:spPr>
          <a:xfrm>
            <a:off x="800100" y="1428750"/>
            <a:ext cx="2238375" cy="16192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CFE3EE"/>
            </a:solidFill>
            <a:prstDash val="solid"/>
          </a:ln>
        </p:spPr>
      </p:sp>
      <p:sp>
        <p:nvSpPr>
          <p:cNvPr id="42" name="image-border"/>
          <p:cNvSpPr>
            <a:spLocks noGrp="1"/>
          </p:cNvSpPr>
          <p:nvPr/>
        </p:nvSpPr>
        <p:spPr>
          <a:xfrm>
            <a:off x="3276600" y="1428750"/>
            <a:ext cx="2238375" cy="16192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CFE3EE"/>
            </a:solidFill>
            <a:prstDash val="solid"/>
          </a:ln>
        </p:spPr>
      </p:sp>
      <p:sp>
        <p:nvSpPr>
          <p:cNvPr id="44" name="image-border"/>
          <p:cNvSpPr>
            <a:spLocks noGrp="1"/>
          </p:cNvSpPr>
          <p:nvPr/>
        </p:nvSpPr>
        <p:spPr>
          <a:xfrm>
            <a:off x="800100" y="3429000"/>
            <a:ext cx="2238375" cy="16192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CFE3EE"/>
            </a:solidFill>
            <a:prstDash val="solid"/>
          </a:ln>
        </p:spPr>
      </p:sp>
      <p:sp>
        <p:nvSpPr>
          <p:cNvPr id="46" name="image-border"/>
          <p:cNvSpPr>
            <a:spLocks noGrp="1"/>
          </p:cNvSpPr>
          <p:nvPr/>
        </p:nvSpPr>
        <p:spPr>
          <a:xfrm>
            <a:off x="3276600" y="3429000"/>
            <a:ext cx="2238375" cy="1619250"/>
          </a:xfrm>
          <a:prstGeom prst="rect">
            <a:avLst/>
          </a:prstGeom>
          <a:solidFill>
            <a:srgbClr val="000000">
              <a:alpha val="0"/>
            </a:srgbClr>
          </a:solidFill>
          <a:ln w="9525">
            <a:solidFill>
              <a:srgbClr val="CFE3EE"/>
            </a:solidFill>
            <a:prstDash val="solid"/>
          </a:ln>
        </p:spPr>
      </p:sp>
      <p:sp>
        <p:nvSpPr>
          <p:cNvPr id="47" name="final-report-text"/>
          <p:cNvSpPr>
            <a:spLocks noGrp="1"/>
          </p:cNvSpPr>
          <p:nvPr/>
        </p:nvSpPr>
        <p:spPr>
          <a:xfrm>
            <a:off x="800100" y="3067050"/>
            <a:ext cx="2238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ctr">
              <a:buNone/>
              <a:def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rPr>
              <a:t>工整手写：识别准确，批改正确</a:t>
            </a:r>
            <a:endParaRPr sz="1050" b="0">
              <a:solidFill>
                <a:srgbClr val="555555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48" name="final-report-text"/>
          <p:cNvSpPr>
            <a:spLocks noGrp="1"/>
          </p:cNvSpPr>
          <p:nvPr/>
        </p:nvSpPr>
        <p:spPr>
          <a:xfrm>
            <a:off x="3276600" y="3067050"/>
            <a:ext cx="2238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ctr">
              <a:buNone/>
              <a:def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rPr>
              <a:t>潦草/部分作答：验证鲁棒性</a:t>
            </a:r>
            <a:endParaRPr sz="1050" b="0">
              <a:solidFill>
                <a:srgbClr val="555555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49" name="final-report-text"/>
          <p:cNvSpPr>
            <a:spLocks noGrp="1"/>
          </p:cNvSpPr>
          <p:nvPr/>
        </p:nvSpPr>
        <p:spPr>
          <a:xfrm>
            <a:off x="800100" y="5067300"/>
            <a:ext cx="2238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ctr">
              <a:buNone/>
              <a:def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rPr>
              <a:t>错误答案：验证错误判定</a:t>
            </a:r>
            <a:endParaRPr sz="1050" b="0">
              <a:solidFill>
                <a:srgbClr val="555555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50" name="final-report-text"/>
          <p:cNvSpPr>
            <a:spLocks noGrp="1"/>
          </p:cNvSpPr>
          <p:nvPr/>
        </p:nvSpPr>
        <p:spPr>
          <a:xfrm>
            <a:off x="3276600" y="5067300"/>
            <a:ext cx="2238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ctr">
              <a:buNone/>
              <a:def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050" b="0">
                <a:solidFill>
                  <a:srgbClr val="555555"/>
                </a:solidFill>
                <a:latin typeface="Source Han Sans CN"/>
                <a:ea typeface="Source Han Sans CN"/>
                <a:cs typeface="Source Han Sans CN"/>
              </a:rPr>
              <a:t>关键词行：验证简答题评分</a:t>
            </a:r>
            <a:endParaRPr sz="1050" b="0">
              <a:solidFill>
                <a:srgbClr val="555555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51" name="report-card"/>
          <p:cNvSpPr>
            <a:spLocks noGrp="1"/>
          </p:cNvSpPr>
          <p:nvPr/>
        </p:nvSpPr>
        <p:spPr>
          <a:xfrm>
            <a:off x="6334125" y="1066800"/>
            <a:ext cx="4953000" cy="371475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52" name="report-card-header"/>
          <p:cNvSpPr>
            <a:spLocks noGrp="1"/>
          </p:cNvSpPr>
          <p:nvPr/>
        </p:nvSpPr>
        <p:spPr>
          <a:xfrm>
            <a:off x="6334125" y="1066800"/>
            <a:ext cx="4953000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53" name="final-report-text"/>
          <p:cNvSpPr>
            <a:spLocks noGrp="1"/>
          </p:cNvSpPr>
          <p:nvPr/>
        </p:nvSpPr>
        <p:spPr>
          <a:xfrm>
            <a:off x="6448425" y="1133475"/>
            <a:ext cx="4724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答辩演示流程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54" name="final-report-text"/>
          <p:cNvSpPr>
            <a:spLocks noGrp="1"/>
          </p:cNvSpPr>
          <p:nvPr/>
        </p:nvSpPr>
        <p:spPr>
          <a:xfrm>
            <a:off x="6505575" y="1590675"/>
            <a:ext cx="4610100" cy="3105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1. Docker Compose 启动后端、MySQL、Redis、OCR 服务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2. 教师登录并创建包含选择、填空、简答的作业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3. 学生登录，选择演示图片上传作业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4. 后端保存图片，调用 OCR 服务识别并完成答案对齐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5. 自动批改生成逐题得分、总分与反馈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6. 教师查看提交并添加批注，学生查看批改详情和错题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55" name="final-report-text"/>
          <p:cNvSpPr>
            <a:spLocks noGrp="1"/>
          </p:cNvSpPr>
          <p:nvPr/>
        </p:nvSpPr>
        <p:spPr>
          <a:xfrm>
            <a:off x="6477000" y="5000625"/>
            <a:ext cx="468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2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说明：项目包未包含现成视频文件；PPT 已解决演示图片展示。若要演示视频，需要运行系统后录屏或提供现成录屏素材。</a:t>
            </a:r>
            <a:endParaRPr sz="1200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57" name="cover-slide21-no-screenshot"/>
          <p:cNvSpPr>
            <a:spLocks noGrp="1"/>
          </p:cNvSpPr>
          <p:nvPr/>
        </p:nvSpPr>
        <p:spPr>
          <a:xfrm>
            <a:off x="0" y="800100"/>
            <a:ext cx="11430000" cy="5334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8" name="info-card"/>
          <p:cNvSpPr>
            <a:spLocks noGrp="1"/>
          </p:cNvSpPr>
          <p:nvPr/>
        </p:nvSpPr>
        <p:spPr>
          <a:xfrm>
            <a:off x="838200" y="990600"/>
            <a:ext cx="10458450" cy="1219200"/>
          </a:xfrm>
          <a:prstGeom prst="rect">
            <a:avLst/>
          </a:prstGeom>
          <a:solidFill>
            <a:srgbClr val="F7FBFD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59" name="info-card-header"/>
          <p:cNvSpPr>
            <a:spLocks noGrp="1"/>
          </p:cNvSpPr>
          <p:nvPr/>
        </p:nvSpPr>
        <p:spPr>
          <a:xfrm>
            <a:off x="838200" y="990600"/>
            <a:ext cx="10458450" cy="400050"/>
          </a:xfrm>
          <a:prstGeom prst="rect">
            <a:avLst/>
          </a:prstGeom>
          <a:solidFill>
            <a:srgbClr val="DCEFF8"/>
          </a:solidFill>
          <a:ln w="9525">
            <a:solidFill>
              <a:srgbClr val="BBD8E8"/>
            </a:solidFill>
            <a:prstDash val="solid"/>
          </a:ln>
        </p:spPr>
      </p:sp>
      <p:sp>
        <p:nvSpPr>
          <p:cNvPr id="60" name="no-screenshot-text"/>
          <p:cNvSpPr>
            <a:spLocks noGrp="1"/>
          </p:cNvSpPr>
          <p:nvPr/>
        </p:nvSpPr>
        <p:spPr>
          <a:xfrm>
            <a:off x="952500" y="1057275"/>
            <a:ext cx="10229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42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真实 App 运行截图说明</a:t>
            </a:r>
            <a:endParaRPr sz="142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61" name="no-screenshot-text"/>
          <p:cNvSpPr>
            <a:spLocks noGrp="1"/>
          </p:cNvSpPr>
          <p:nvPr/>
        </p:nvSpPr>
        <p:spPr>
          <a:xfrm>
            <a:off x="1009650" y="1543050"/>
            <a:ext cx="101155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t"/>
          <a:lstStyle/>
          <a:p>
            <a:pPr algn="l">
              <a:buNone/>
              <a:def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当前环境无法运行 Android 前端，项目包内也未提供真实 App 运行截图或录屏。按答辩真实性要求，本页不放 OCR 测试图片、生成图片或伪造 App 截图；如后续能在 Android Studio / 模拟器中运行，可再替换为真实截图。</a:t>
            </a:r>
            <a:endParaRPr sz="127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62" name="member-header"/>
          <p:cNvSpPr>
            <a:spLocks noGrp="1"/>
          </p:cNvSpPr>
          <p:nvPr/>
        </p:nvSpPr>
        <p:spPr>
          <a:xfrm>
            <a:off x="838200" y="2571750"/>
            <a:ext cx="10458450" cy="457200"/>
          </a:xfrm>
          <a:prstGeom prst="rect">
            <a:avLst/>
          </a:prstGeom>
          <a:solidFill>
            <a:srgbClr val="E97824"/>
          </a:solidFill>
          <a:ln w="9525">
            <a:solidFill>
              <a:srgbClr val="E97824"/>
            </a:solidFill>
            <a:prstDash val="solid"/>
          </a:ln>
        </p:spPr>
      </p:sp>
      <p:sp>
        <p:nvSpPr>
          <p:cNvPr id="63" name="no-screenshot-text"/>
          <p:cNvSpPr>
            <a:spLocks noGrp="1"/>
          </p:cNvSpPr>
          <p:nvPr/>
        </p:nvSpPr>
        <p:spPr>
          <a:xfrm>
            <a:off x="990600" y="2667000"/>
            <a:ext cx="1504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成员</a:t>
            </a:r>
            <a:endParaRPr sz="1275" b="1">
              <a:solidFill>
                <a:srgbClr val="FFFFFF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64" name="no-screenshot-text"/>
          <p:cNvSpPr>
            <a:spLocks noGrp="1"/>
          </p:cNvSpPr>
          <p:nvPr/>
        </p:nvSpPr>
        <p:spPr>
          <a:xfrm>
            <a:off x="2781300" y="26670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贡献占比</a:t>
            </a:r>
            <a:endParaRPr sz="1275" b="1">
              <a:solidFill>
                <a:srgbClr val="FFFFFF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65" name="no-screenshot-text"/>
          <p:cNvSpPr>
            <a:spLocks noGrp="1"/>
          </p:cNvSpPr>
          <p:nvPr/>
        </p:nvSpPr>
        <p:spPr>
          <a:xfrm>
            <a:off x="4305300" y="2667000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报告记录 / 说明</a:t>
            </a:r>
            <a:endParaRPr sz="1275" b="1">
              <a:solidFill>
                <a:srgbClr val="FFFFFF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66" name="member-name"/>
          <p:cNvSpPr>
            <a:spLocks noGrp="1"/>
          </p:cNvSpPr>
          <p:nvPr/>
        </p:nvSpPr>
        <p:spPr>
          <a:xfrm>
            <a:off x="838200" y="3028950"/>
            <a:ext cx="1809750" cy="628650"/>
          </a:xfrm>
          <a:prstGeom prst="rect">
            <a:avLst/>
          </a:prstGeom>
          <a:solidFill>
            <a:srgbClr val="FFF5ED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67" name="member-ratio"/>
          <p:cNvSpPr>
            <a:spLocks noGrp="1"/>
          </p:cNvSpPr>
          <p:nvPr/>
        </p:nvSpPr>
        <p:spPr>
          <a:xfrm>
            <a:off x="2647950" y="3028950"/>
            <a:ext cx="1524000" cy="628650"/>
          </a:xfrm>
          <a:prstGeom prst="rect">
            <a:avLst/>
          </a:prstGeom>
          <a:solidFill>
            <a:srgbClr val="FFF5ED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68" name="member-note"/>
          <p:cNvSpPr>
            <a:spLocks noGrp="1"/>
          </p:cNvSpPr>
          <p:nvPr/>
        </p:nvSpPr>
        <p:spPr>
          <a:xfrm>
            <a:off x="4171950" y="3028950"/>
            <a:ext cx="7124700" cy="628650"/>
          </a:xfrm>
          <a:prstGeom prst="rect">
            <a:avLst/>
          </a:prstGeom>
          <a:solidFill>
            <a:srgbClr val="FFF5ED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69" name="no-screenshot-text"/>
          <p:cNvSpPr>
            <a:spLocks noGrp="1"/>
          </p:cNvSpPr>
          <p:nvPr/>
        </p:nvSpPr>
        <p:spPr>
          <a:xfrm>
            <a:off x="990600" y="31908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50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0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申梓忻</a:t>
            </a:r>
            <a:endParaRPr sz="1500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70" name="no-screenshot-text"/>
          <p:cNvSpPr>
            <a:spLocks noGrp="1"/>
          </p:cNvSpPr>
          <p:nvPr/>
        </p:nvSpPr>
        <p:spPr>
          <a:xfrm>
            <a:off x="2781300" y="3190875"/>
            <a:ext cx="1257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5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25%</a:t>
            </a:r>
            <a:endParaRPr sz="1500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71" name="no-screenshot-text"/>
          <p:cNvSpPr>
            <a:spLocks noGrp="1"/>
          </p:cNvSpPr>
          <p:nvPr/>
        </p:nvSpPr>
        <p:spPr>
          <a:xfrm>
            <a:off x="4305300" y="312420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结题报告中记录：组长，负责系统架构设计、后端开发、OCR 服务集成、项目管理。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72" name="member-name"/>
          <p:cNvSpPr>
            <a:spLocks noGrp="1"/>
          </p:cNvSpPr>
          <p:nvPr/>
        </p:nvSpPr>
        <p:spPr>
          <a:xfrm>
            <a:off x="838200" y="3657600"/>
            <a:ext cx="180975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73" name="member-ratio"/>
          <p:cNvSpPr>
            <a:spLocks noGrp="1"/>
          </p:cNvSpPr>
          <p:nvPr/>
        </p:nvSpPr>
        <p:spPr>
          <a:xfrm>
            <a:off x="2647950" y="3657600"/>
            <a:ext cx="15240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74" name="member-note"/>
          <p:cNvSpPr>
            <a:spLocks noGrp="1"/>
          </p:cNvSpPr>
          <p:nvPr/>
        </p:nvSpPr>
        <p:spPr>
          <a:xfrm>
            <a:off x="4171950" y="3657600"/>
            <a:ext cx="71247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75" name="no-screenshot-text"/>
          <p:cNvSpPr>
            <a:spLocks noGrp="1"/>
          </p:cNvSpPr>
          <p:nvPr/>
        </p:nvSpPr>
        <p:spPr>
          <a:xfrm>
            <a:off x="990600" y="381952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50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0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潘亮</a:t>
            </a:r>
            <a:endParaRPr sz="1500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76" name="no-screenshot-text"/>
          <p:cNvSpPr>
            <a:spLocks noGrp="1"/>
          </p:cNvSpPr>
          <p:nvPr/>
        </p:nvSpPr>
        <p:spPr>
          <a:xfrm>
            <a:off x="2781300" y="3819525"/>
            <a:ext cx="1257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5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25%</a:t>
            </a:r>
            <a:endParaRPr sz="1500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77" name="no-screenshot-text"/>
          <p:cNvSpPr>
            <a:spLocks noGrp="1"/>
          </p:cNvSpPr>
          <p:nvPr/>
        </p:nvSpPr>
        <p:spPr>
          <a:xfrm>
            <a:off x="4305300" y="37528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小组成员贡献文件记录贡献占比为 25%。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78" name="member-name"/>
          <p:cNvSpPr>
            <a:spLocks noGrp="1"/>
          </p:cNvSpPr>
          <p:nvPr/>
        </p:nvSpPr>
        <p:spPr>
          <a:xfrm>
            <a:off x="838200" y="4286250"/>
            <a:ext cx="1809750" cy="628650"/>
          </a:xfrm>
          <a:prstGeom prst="rect">
            <a:avLst/>
          </a:prstGeom>
          <a:solidFill>
            <a:srgbClr val="FFF5ED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79" name="member-ratio"/>
          <p:cNvSpPr>
            <a:spLocks noGrp="1"/>
          </p:cNvSpPr>
          <p:nvPr/>
        </p:nvSpPr>
        <p:spPr>
          <a:xfrm>
            <a:off x="2647950" y="4286250"/>
            <a:ext cx="1524000" cy="628650"/>
          </a:xfrm>
          <a:prstGeom prst="rect">
            <a:avLst/>
          </a:prstGeom>
          <a:solidFill>
            <a:srgbClr val="FFF5ED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80" name="member-note"/>
          <p:cNvSpPr>
            <a:spLocks noGrp="1"/>
          </p:cNvSpPr>
          <p:nvPr/>
        </p:nvSpPr>
        <p:spPr>
          <a:xfrm>
            <a:off x="4171950" y="4286250"/>
            <a:ext cx="7124700" cy="628650"/>
          </a:xfrm>
          <a:prstGeom prst="rect">
            <a:avLst/>
          </a:prstGeom>
          <a:solidFill>
            <a:srgbClr val="FFF5ED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81" name="no-screenshot-text"/>
          <p:cNvSpPr>
            <a:spLocks noGrp="1"/>
          </p:cNvSpPr>
          <p:nvPr/>
        </p:nvSpPr>
        <p:spPr>
          <a:xfrm>
            <a:off x="990600" y="444817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50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0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申光耀</a:t>
            </a:r>
            <a:endParaRPr sz="1500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82" name="no-screenshot-text"/>
          <p:cNvSpPr>
            <a:spLocks noGrp="1"/>
          </p:cNvSpPr>
          <p:nvPr/>
        </p:nvSpPr>
        <p:spPr>
          <a:xfrm>
            <a:off x="2781300" y="4448175"/>
            <a:ext cx="1257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5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25%</a:t>
            </a:r>
            <a:endParaRPr sz="1500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83" name="no-screenshot-text"/>
          <p:cNvSpPr>
            <a:spLocks noGrp="1"/>
          </p:cNvSpPr>
          <p:nvPr/>
        </p:nvSpPr>
        <p:spPr>
          <a:xfrm>
            <a:off x="4305300" y="438150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小组成员贡献文件记录贡献占比为 25%。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84" name="member-name"/>
          <p:cNvSpPr>
            <a:spLocks noGrp="1"/>
          </p:cNvSpPr>
          <p:nvPr/>
        </p:nvSpPr>
        <p:spPr>
          <a:xfrm>
            <a:off x="838200" y="4914900"/>
            <a:ext cx="180975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85" name="member-ratio"/>
          <p:cNvSpPr>
            <a:spLocks noGrp="1"/>
          </p:cNvSpPr>
          <p:nvPr/>
        </p:nvSpPr>
        <p:spPr>
          <a:xfrm>
            <a:off x="2647950" y="4914900"/>
            <a:ext cx="15240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86" name="member-note"/>
          <p:cNvSpPr>
            <a:spLocks noGrp="1"/>
          </p:cNvSpPr>
          <p:nvPr/>
        </p:nvSpPr>
        <p:spPr>
          <a:xfrm>
            <a:off x="4171950" y="4914900"/>
            <a:ext cx="71247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87" name="no-screenshot-text"/>
          <p:cNvSpPr>
            <a:spLocks noGrp="1"/>
          </p:cNvSpPr>
          <p:nvPr/>
        </p:nvSpPr>
        <p:spPr>
          <a:xfrm>
            <a:off x="990600" y="5076825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50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0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冉潘</a:t>
            </a:r>
            <a:endParaRPr sz="1500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88" name="no-screenshot-text"/>
          <p:cNvSpPr>
            <a:spLocks noGrp="1"/>
          </p:cNvSpPr>
          <p:nvPr/>
        </p:nvSpPr>
        <p:spPr>
          <a:xfrm>
            <a:off x="2781300" y="5076825"/>
            <a:ext cx="1257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5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25%</a:t>
            </a:r>
            <a:endParaRPr sz="1500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89" name="no-screenshot-text"/>
          <p:cNvSpPr>
            <a:spLocks noGrp="1"/>
          </p:cNvSpPr>
          <p:nvPr/>
        </p:nvSpPr>
        <p:spPr>
          <a:xfrm>
            <a:off x="4305300" y="50101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buNone/>
              <a:def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00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小组成员贡献文件记录贡献占比为 25%；本结题汇报 PPT 汇报人。</a:t>
            </a:r>
            <a:endParaRPr sz="1200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90" name="no-screenshot-text"/>
          <p:cNvSpPr>
            <a:spLocks noGrp="1"/>
          </p:cNvSpPr>
          <p:nvPr/>
        </p:nvSpPr>
        <p:spPr>
          <a:xfrm>
            <a:off x="1143000" y="5715000"/>
            <a:ext cx="981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buNone/>
              <a:defRPr sz="1125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说明：当前可确认的四人分工材料主要是贡献比例；若需要更细的职责描述，可按实际开发记录继续补充。</a:t>
            </a:r>
            <a:endParaRPr sz="1125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92" name="cover-slide21-module"/>
          <p:cNvSpPr>
            <a:spLocks noGrp="1"/>
          </p:cNvSpPr>
          <p:nvPr/>
        </p:nvSpPr>
        <p:spPr>
          <a:xfrm>
            <a:off x="0" y="800100"/>
            <a:ext cx="11430000" cy="5334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93" name="module-division-text"/>
          <p:cNvSpPr>
            <a:spLocks noGrp="1"/>
          </p:cNvSpPr>
          <p:nvPr/>
        </p:nvSpPr>
        <p:spPr>
          <a:xfrm>
            <a:off x="819150" y="990600"/>
            <a:ext cx="10382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50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00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按照系统模块划分完成工作；贡献比例沿用小组成员贡献记录，四人各 25%。</a:t>
            </a:r>
            <a:endParaRPr sz="1500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94" name="division-header"/>
          <p:cNvSpPr>
            <a:spLocks noGrp="1"/>
          </p:cNvSpPr>
          <p:nvPr/>
        </p:nvSpPr>
        <p:spPr>
          <a:xfrm>
            <a:off x="571500" y="1562100"/>
            <a:ext cx="11049000" cy="419100"/>
          </a:xfrm>
          <a:prstGeom prst="rect">
            <a:avLst/>
          </a:prstGeom>
          <a:solidFill>
            <a:srgbClr val="E97824"/>
          </a:solidFill>
          <a:ln w="9525">
            <a:solidFill>
              <a:srgbClr val="E97824"/>
            </a:solidFill>
            <a:prstDash val="solid"/>
          </a:ln>
        </p:spPr>
      </p:sp>
      <p:sp>
        <p:nvSpPr>
          <p:cNvPr id="95" name="module-division-text"/>
          <p:cNvSpPr>
            <a:spLocks noGrp="1"/>
          </p:cNvSpPr>
          <p:nvPr/>
        </p:nvSpPr>
        <p:spPr>
          <a:xfrm>
            <a:off x="685800" y="1638300"/>
            <a:ext cx="1200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成员</a:t>
            </a:r>
            <a:endParaRPr sz="1275" b="1">
              <a:solidFill>
                <a:srgbClr val="FFFFFF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96" name="module-division-text"/>
          <p:cNvSpPr>
            <a:spLocks noGrp="1"/>
          </p:cNvSpPr>
          <p:nvPr/>
        </p:nvSpPr>
        <p:spPr>
          <a:xfrm>
            <a:off x="2133600" y="1638300"/>
            <a:ext cx="781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占比</a:t>
            </a:r>
            <a:endParaRPr sz="1275" b="1">
              <a:solidFill>
                <a:srgbClr val="FFFFFF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97" name="module-division-text"/>
          <p:cNvSpPr>
            <a:spLocks noGrp="1"/>
          </p:cNvSpPr>
          <p:nvPr/>
        </p:nvSpPr>
        <p:spPr>
          <a:xfrm>
            <a:off x="3181350" y="1638300"/>
            <a:ext cx="1924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负责模块</a:t>
            </a:r>
            <a:endParaRPr sz="1275" b="1">
              <a:solidFill>
                <a:srgbClr val="FFFFFF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98" name="module-division-text"/>
          <p:cNvSpPr>
            <a:spLocks noGrp="1"/>
          </p:cNvSpPr>
          <p:nvPr/>
        </p:nvSpPr>
        <p:spPr>
          <a:xfrm>
            <a:off x="5372100" y="1638300"/>
            <a:ext cx="6115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FFFFFF"/>
                </a:solidFill>
                <a:latin typeface="Source Han Sans CN"/>
                <a:ea typeface="Source Han Sans CN"/>
                <a:cs typeface="Source Han Sans CN"/>
              </a:rPr>
              <a:t>已完成工作</a:t>
            </a:r>
            <a:endParaRPr sz="1275" b="1">
              <a:solidFill>
                <a:srgbClr val="FFFFFF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99" name="division-name"/>
          <p:cNvSpPr>
            <a:spLocks noGrp="1"/>
          </p:cNvSpPr>
          <p:nvPr/>
        </p:nvSpPr>
        <p:spPr>
          <a:xfrm>
            <a:off x="571500" y="1981200"/>
            <a:ext cx="1428750" cy="781050"/>
          </a:xfrm>
          <a:prstGeom prst="rect">
            <a:avLst/>
          </a:prstGeom>
          <a:solidFill>
            <a:srgbClr val="FFF5ED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100" name="division-pct"/>
          <p:cNvSpPr>
            <a:spLocks noGrp="1"/>
          </p:cNvSpPr>
          <p:nvPr/>
        </p:nvSpPr>
        <p:spPr>
          <a:xfrm>
            <a:off x="2000250" y="1981200"/>
            <a:ext cx="1047750" cy="781050"/>
          </a:xfrm>
          <a:prstGeom prst="rect">
            <a:avLst/>
          </a:prstGeom>
          <a:solidFill>
            <a:srgbClr val="FFF5ED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101" name="division-module"/>
          <p:cNvSpPr>
            <a:spLocks noGrp="1"/>
          </p:cNvSpPr>
          <p:nvPr/>
        </p:nvSpPr>
        <p:spPr>
          <a:xfrm>
            <a:off x="3048000" y="1981200"/>
            <a:ext cx="2190750" cy="781050"/>
          </a:xfrm>
          <a:prstGeom prst="rect">
            <a:avLst/>
          </a:prstGeom>
          <a:solidFill>
            <a:srgbClr val="FFF5ED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102" name="division-items"/>
          <p:cNvSpPr>
            <a:spLocks noGrp="1"/>
          </p:cNvSpPr>
          <p:nvPr/>
        </p:nvSpPr>
        <p:spPr>
          <a:xfrm>
            <a:off x="5238750" y="1981200"/>
            <a:ext cx="6381750" cy="781050"/>
          </a:xfrm>
          <a:prstGeom prst="rect">
            <a:avLst/>
          </a:prstGeom>
          <a:solidFill>
            <a:srgbClr val="FFF5ED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103" name="module-division-text"/>
          <p:cNvSpPr>
            <a:spLocks noGrp="1"/>
          </p:cNvSpPr>
          <p:nvPr/>
        </p:nvSpPr>
        <p:spPr>
          <a:xfrm>
            <a:off x="685800" y="2190750"/>
            <a:ext cx="1200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57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7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申梓忻</a:t>
            </a:r>
            <a:endParaRPr sz="157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04" name="module-division-text"/>
          <p:cNvSpPr>
            <a:spLocks noGrp="1"/>
          </p:cNvSpPr>
          <p:nvPr/>
        </p:nvSpPr>
        <p:spPr>
          <a:xfrm>
            <a:off x="2133600" y="2190750"/>
            <a:ext cx="781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5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25%</a:t>
            </a:r>
            <a:endParaRPr sz="1500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05" name="module-division-text"/>
          <p:cNvSpPr>
            <a:spLocks noGrp="1"/>
          </p:cNvSpPr>
          <p:nvPr/>
        </p:nvSpPr>
        <p:spPr>
          <a:xfrm>
            <a:off x="3181350" y="2133600"/>
            <a:ext cx="1924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27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系统架构 / 后端 / OCR 集成</a:t>
            </a:r>
            <a:endParaRPr sz="127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06" name="module-division-text"/>
          <p:cNvSpPr>
            <a:spLocks noGrp="1"/>
          </p:cNvSpPr>
          <p:nvPr/>
        </p:nvSpPr>
        <p:spPr>
          <a:xfrm>
            <a:off x="5372100" y="2057400"/>
            <a:ext cx="61150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系统总体架构设计；Spring Boot 后端核心接口；OCR 服务调用与答案对齐；项目管理与技术整合。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07" name="division-name"/>
          <p:cNvSpPr>
            <a:spLocks noGrp="1"/>
          </p:cNvSpPr>
          <p:nvPr/>
        </p:nvSpPr>
        <p:spPr>
          <a:xfrm>
            <a:off x="571500" y="2762250"/>
            <a:ext cx="1428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108" name="division-pct"/>
          <p:cNvSpPr>
            <a:spLocks noGrp="1"/>
          </p:cNvSpPr>
          <p:nvPr/>
        </p:nvSpPr>
        <p:spPr>
          <a:xfrm>
            <a:off x="2000250" y="2762250"/>
            <a:ext cx="1047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109" name="division-module"/>
          <p:cNvSpPr>
            <a:spLocks noGrp="1"/>
          </p:cNvSpPr>
          <p:nvPr/>
        </p:nvSpPr>
        <p:spPr>
          <a:xfrm>
            <a:off x="3048000" y="2762250"/>
            <a:ext cx="2190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110" name="division-items"/>
          <p:cNvSpPr>
            <a:spLocks noGrp="1"/>
          </p:cNvSpPr>
          <p:nvPr/>
        </p:nvSpPr>
        <p:spPr>
          <a:xfrm>
            <a:off x="5238750" y="2762250"/>
            <a:ext cx="6381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111" name="module-division-text"/>
          <p:cNvSpPr>
            <a:spLocks noGrp="1"/>
          </p:cNvSpPr>
          <p:nvPr/>
        </p:nvSpPr>
        <p:spPr>
          <a:xfrm>
            <a:off x="685800" y="2971800"/>
            <a:ext cx="1200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57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7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潘亮</a:t>
            </a:r>
            <a:endParaRPr sz="157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12" name="module-division-text"/>
          <p:cNvSpPr>
            <a:spLocks noGrp="1"/>
          </p:cNvSpPr>
          <p:nvPr/>
        </p:nvSpPr>
        <p:spPr>
          <a:xfrm>
            <a:off x="2133600" y="2971800"/>
            <a:ext cx="781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5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25%</a:t>
            </a:r>
            <a:endParaRPr sz="1500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13" name="module-division-text"/>
          <p:cNvSpPr>
            <a:spLocks noGrp="1"/>
          </p:cNvSpPr>
          <p:nvPr/>
        </p:nvSpPr>
        <p:spPr>
          <a:xfrm>
            <a:off x="3181350" y="2914650"/>
            <a:ext cx="1924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27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Android 客户端</a:t>
            </a:r>
            <a:endParaRPr sz="127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14" name="module-division-text"/>
          <p:cNvSpPr>
            <a:spLocks noGrp="1"/>
          </p:cNvSpPr>
          <p:nvPr/>
        </p:nvSpPr>
        <p:spPr>
          <a:xfrm>
            <a:off x="5372100" y="2838450"/>
            <a:ext cx="61150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Android 项目框架；登录注册页面；教师端/学生端主界面；作业列表、图片上传、批改详情展示。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15" name="division-name"/>
          <p:cNvSpPr>
            <a:spLocks noGrp="1"/>
          </p:cNvSpPr>
          <p:nvPr/>
        </p:nvSpPr>
        <p:spPr>
          <a:xfrm>
            <a:off x="571500" y="3543300"/>
            <a:ext cx="1428750" cy="781050"/>
          </a:xfrm>
          <a:prstGeom prst="rect">
            <a:avLst/>
          </a:prstGeom>
          <a:solidFill>
            <a:srgbClr val="FFF5ED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116" name="division-pct"/>
          <p:cNvSpPr>
            <a:spLocks noGrp="1"/>
          </p:cNvSpPr>
          <p:nvPr/>
        </p:nvSpPr>
        <p:spPr>
          <a:xfrm>
            <a:off x="2000250" y="3543300"/>
            <a:ext cx="1047750" cy="781050"/>
          </a:xfrm>
          <a:prstGeom prst="rect">
            <a:avLst/>
          </a:prstGeom>
          <a:solidFill>
            <a:srgbClr val="FFF5ED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117" name="division-module"/>
          <p:cNvSpPr>
            <a:spLocks noGrp="1"/>
          </p:cNvSpPr>
          <p:nvPr/>
        </p:nvSpPr>
        <p:spPr>
          <a:xfrm>
            <a:off x="3048000" y="3543300"/>
            <a:ext cx="2190750" cy="781050"/>
          </a:xfrm>
          <a:prstGeom prst="rect">
            <a:avLst/>
          </a:prstGeom>
          <a:solidFill>
            <a:srgbClr val="FFF5ED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118" name="division-items"/>
          <p:cNvSpPr>
            <a:spLocks noGrp="1"/>
          </p:cNvSpPr>
          <p:nvPr/>
        </p:nvSpPr>
        <p:spPr>
          <a:xfrm>
            <a:off x="5238750" y="3543300"/>
            <a:ext cx="6381750" cy="781050"/>
          </a:xfrm>
          <a:prstGeom prst="rect">
            <a:avLst/>
          </a:prstGeom>
          <a:solidFill>
            <a:srgbClr val="FFF5ED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119" name="module-division-text"/>
          <p:cNvSpPr>
            <a:spLocks noGrp="1"/>
          </p:cNvSpPr>
          <p:nvPr/>
        </p:nvSpPr>
        <p:spPr>
          <a:xfrm>
            <a:off x="685800" y="3752850"/>
            <a:ext cx="1200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57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7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申光耀</a:t>
            </a:r>
            <a:endParaRPr sz="157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20" name="module-division-text"/>
          <p:cNvSpPr>
            <a:spLocks noGrp="1"/>
          </p:cNvSpPr>
          <p:nvPr/>
        </p:nvSpPr>
        <p:spPr>
          <a:xfrm>
            <a:off x="2133600" y="3752850"/>
            <a:ext cx="781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5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25%</a:t>
            </a:r>
            <a:endParaRPr sz="1500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21" name="module-division-text"/>
          <p:cNvSpPr>
            <a:spLocks noGrp="1"/>
          </p:cNvSpPr>
          <p:nvPr/>
        </p:nvSpPr>
        <p:spPr>
          <a:xfrm>
            <a:off x="3181350" y="3695700"/>
            <a:ext cx="1924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27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数据库 / 统计 / 测试</a:t>
            </a:r>
            <a:endParaRPr sz="127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22" name="module-division-text"/>
          <p:cNvSpPr>
            <a:spLocks noGrp="1"/>
          </p:cNvSpPr>
          <p:nvPr/>
        </p:nvSpPr>
        <p:spPr>
          <a:xfrm>
            <a:off x="5372100" y="3619500"/>
            <a:ext cx="61150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数据库表结构与初始化数据；统计分析接口支撑；单元、集成、确认测试用例与测试报告整理。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23" name="division-name"/>
          <p:cNvSpPr>
            <a:spLocks noGrp="1"/>
          </p:cNvSpPr>
          <p:nvPr/>
        </p:nvSpPr>
        <p:spPr>
          <a:xfrm>
            <a:off x="571500" y="4324350"/>
            <a:ext cx="1428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124" name="division-pct"/>
          <p:cNvSpPr>
            <a:spLocks noGrp="1"/>
          </p:cNvSpPr>
          <p:nvPr/>
        </p:nvSpPr>
        <p:spPr>
          <a:xfrm>
            <a:off x="2000250" y="4324350"/>
            <a:ext cx="1047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125" name="division-module"/>
          <p:cNvSpPr>
            <a:spLocks noGrp="1"/>
          </p:cNvSpPr>
          <p:nvPr/>
        </p:nvSpPr>
        <p:spPr>
          <a:xfrm>
            <a:off x="3048000" y="4324350"/>
            <a:ext cx="2190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126" name="division-items"/>
          <p:cNvSpPr>
            <a:spLocks noGrp="1"/>
          </p:cNvSpPr>
          <p:nvPr/>
        </p:nvSpPr>
        <p:spPr>
          <a:xfrm>
            <a:off x="5238750" y="4324350"/>
            <a:ext cx="63817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6E6EF"/>
            </a:solidFill>
            <a:prstDash val="solid"/>
          </a:ln>
        </p:spPr>
      </p:sp>
      <p:sp>
        <p:nvSpPr>
          <p:cNvPr id="127" name="module-division-text"/>
          <p:cNvSpPr>
            <a:spLocks noGrp="1"/>
          </p:cNvSpPr>
          <p:nvPr/>
        </p:nvSpPr>
        <p:spPr>
          <a:xfrm>
            <a:off x="685800" y="4533900"/>
            <a:ext cx="1200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57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7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冉潘</a:t>
            </a:r>
            <a:endParaRPr sz="157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28" name="module-division-text"/>
          <p:cNvSpPr>
            <a:spLocks noGrp="1"/>
          </p:cNvSpPr>
          <p:nvPr/>
        </p:nvSpPr>
        <p:spPr>
          <a:xfrm>
            <a:off x="2133600" y="4533900"/>
            <a:ext cx="781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5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500" b="1">
                <a:solidFill>
                  <a:srgbClr val="B64B18"/>
                </a:solidFill>
                <a:latin typeface="Source Han Sans CN"/>
                <a:ea typeface="Source Han Sans CN"/>
                <a:cs typeface="Source Han Sans CN"/>
              </a:rPr>
              <a:t>25%</a:t>
            </a:r>
            <a:endParaRPr sz="1500" b="1">
              <a:solidFill>
                <a:srgbClr val="B64B18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29" name="module-division-text"/>
          <p:cNvSpPr>
            <a:spLocks noGrp="1"/>
          </p:cNvSpPr>
          <p:nvPr/>
        </p:nvSpPr>
        <p:spPr>
          <a:xfrm>
            <a:off x="3181350" y="4476750"/>
            <a:ext cx="1924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ctr">
              <a:defRPr sz="127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275" b="1">
                <a:solidFill>
                  <a:srgbClr val="1E5C83"/>
                </a:solidFill>
                <a:latin typeface="Source Han Sans CN"/>
                <a:ea typeface="Source Han Sans CN"/>
                <a:cs typeface="Source Han Sans CN"/>
              </a:rPr>
              <a:t>部署文档 / 联调 / 汇报</a:t>
            </a:r>
            <a:endParaRPr sz="1275" b="1">
              <a:solidFill>
                <a:srgbClr val="1E5C83"/>
              </a:solidFill>
              <a:latin typeface="Source Han Sans CN"/>
              <a:ea typeface="Source Han Sans CN"/>
              <a:cs typeface="Source Han Sans CN"/>
            </a:endParaRPr>
          </a:p>
        </p:txBody>
      </p:sp>
      <p:sp>
        <p:nvSpPr>
          <p:cNvPr id="130" name="module-division-text"/>
          <p:cNvSpPr>
            <a:spLocks noGrp="1"/>
          </p:cNvSpPr>
          <p:nvPr/>
        </p:nvSpPr>
        <p:spPr>
          <a:xfrm>
            <a:off x="5372100" y="4400550"/>
            <a:ext cx="61150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76200" tIns="47625" rIns="76200" bIns="47625" anchor="ctr"/>
          <a:lstStyle/>
          <a:p>
            <a:pPr algn="l">
              <a:def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defRPr>
            </a:pPr>
            <a:r>
              <a:rPr sz="1125" b="0">
                <a:solidFill>
                  <a:srgbClr val="333333"/>
                </a:solidFill>
                <a:latin typeface="Source Han Sans CN"/>
                <a:ea typeface="Source Han Sans CN"/>
                <a:cs typeface="Source Han Sans CN"/>
              </a:rPr>
              <a:t>Docker Compose 部署配置；用户手册、配置手册、结题材料整理；答辩 PPT 与汇报演示流程。</a:t>
            </a:r>
            <a:endParaRPr sz="1125" b="0">
              <a:solidFill>
                <a:srgbClr val="333333"/>
              </a:solidFill>
              <a:latin typeface="Source Han Sans CN"/>
              <a:ea typeface="Source Han Sans CN"/>
              <a:cs typeface="Source Han Sans C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1" name="图片 2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49598" y="6121399"/>
            <a:ext cx="570951" cy="570951"/>
          </a:xfrm>
          <a:prstGeom prst="rect">
            <a:avLst/>
          </a:prstGeom>
        </p:spPr>
      </p:pic>
      <p:sp>
        <p:nvSpPr>
          <p:cNvPr id="29" name="文本框 28"/>
          <p:cNvSpPr>
            <a:spLocks noGrp="1"/>
          </p:cNvSpPr>
          <p:nvPr/>
        </p:nvSpPr>
        <p:spPr>
          <a:xfrm>
            <a:off x="1979930" y="2442210"/>
            <a:ext cx="8743315" cy="1861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457200">
              <a:buNone/>
            </a:pPr>
            <a:r>
              <a:rPr sz="11500">
                <a:solidFill>
                  <a:schemeClr val="accent1">
                    <a:lumMod val="75000"/>
                  </a:schemeClr>
                </a:solidFill>
              </a:rPr>
              <a:t>谢谢大家！</a:t>
            </a:r>
            <a:endParaRPr sz="1150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B8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三角形 5"/>
          <p:cNvSpPr>
            <a:spLocks noGrp="1"/>
          </p:cNvSpPr>
          <p:nvPr/>
        </p:nvSpPr>
        <p:spPr>
          <a:xfrm rot="10800000">
            <a:off x="3914669" y="-1"/>
            <a:ext cx="6932418" cy="6211616"/>
          </a:xfrm>
          <a:prstGeom prst="triangle">
            <a:avLst/>
          </a:prstGeom>
          <a:gradFill rotWithShape="1">
            <a:gsLst>
              <a:gs pos="0">
                <a:srgbClr val="00B0F0">
                  <a:alpha val="0"/>
                </a:srgbClr>
              </a:gs>
              <a:gs pos="100000">
                <a:srgbClr val="0070C0">
                  <a:alpha val="31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7" name="平行四边形 16"/>
          <p:cNvSpPr>
            <a:spLocks noGrp="1"/>
          </p:cNvSpPr>
          <p:nvPr/>
        </p:nvSpPr>
        <p:spPr>
          <a:xfrm>
            <a:off x="-1920230" y="0"/>
            <a:ext cx="10229323" cy="6872456"/>
          </a:xfrm>
          <a:prstGeom prst="parallelogram">
            <a:avLst>
              <a:gd name="adj" fmla="val 56852"/>
            </a:avLst>
          </a:prstGeom>
          <a:blipFill rotWithShape="1">
            <a:blip r:embed="rId1"/>
            <a:srcRect/>
            <a:stretch>
              <a:fillRect l="14352" t="222" r="-14352" b="-222"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8" name="三角形 2"/>
          <p:cNvSpPr>
            <a:spLocks noGrp="1"/>
          </p:cNvSpPr>
          <p:nvPr/>
        </p:nvSpPr>
        <p:spPr>
          <a:xfrm rot="10800000">
            <a:off x="5555083" y="2540"/>
            <a:ext cx="4762398" cy="4267225"/>
          </a:xfrm>
          <a:prstGeom prst="triangle">
            <a:avLst/>
          </a:prstGeom>
          <a:gradFill rotWithShape="1">
            <a:gsLst>
              <a:gs pos="0">
                <a:srgbClr val="00B0F0">
                  <a:alpha val="0"/>
                </a:srgbClr>
              </a:gs>
              <a:gs pos="100000">
                <a:srgbClr val="0070C0">
                  <a:alpha val="60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9" name="三角形 4"/>
          <p:cNvSpPr>
            <a:spLocks noGrp="1"/>
          </p:cNvSpPr>
          <p:nvPr/>
        </p:nvSpPr>
        <p:spPr>
          <a:xfrm rot="10800000">
            <a:off x="4952824" y="-2"/>
            <a:ext cx="6306169" cy="5650482"/>
          </a:xfrm>
          <a:prstGeom prst="triangle">
            <a:avLst/>
          </a:prstGeom>
          <a:gradFill rotWithShape="1">
            <a:gsLst>
              <a:gs pos="0">
                <a:srgbClr val="00B0F0">
                  <a:alpha val="44000"/>
                </a:srgbClr>
              </a:gs>
              <a:gs pos="100000">
                <a:srgbClr val="0070C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20" name="三角形 6"/>
          <p:cNvSpPr>
            <a:spLocks noGrp="1"/>
          </p:cNvSpPr>
          <p:nvPr/>
        </p:nvSpPr>
        <p:spPr>
          <a:xfrm>
            <a:off x="4400745" y="3638198"/>
            <a:ext cx="3590596" cy="3217262"/>
          </a:xfrm>
          <a:prstGeom prst="triangle">
            <a:avLst/>
          </a:prstGeom>
          <a:gradFill rotWithShape="1">
            <a:gsLst>
              <a:gs pos="0">
                <a:srgbClr val="00B0F0">
                  <a:alpha val="60000"/>
                </a:srgbClr>
              </a:gs>
              <a:gs pos="100000">
                <a:srgbClr val="0070C0">
                  <a:alpha val="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21" name="三角形 7"/>
          <p:cNvSpPr>
            <a:spLocks noGrp="1"/>
          </p:cNvSpPr>
          <p:nvPr/>
        </p:nvSpPr>
        <p:spPr>
          <a:xfrm>
            <a:off x="4400745" y="4790273"/>
            <a:ext cx="2323801" cy="2082183"/>
          </a:xfrm>
          <a:prstGeom prst="triangle">
            <a:avLst/>
          </a:prstGeom>
          <a:gradFill rotWithShape="1">
            <a:gsLst>
              <a:gs pos="0">
                <a:srgbClr val="00B0F0">
                  <a:alpha val="36000"/>
                </a:srgbClr>
              </a:gs>
              <a:gs pos="100000">
                <a:srgbClr val="0070C0">
                  <a:alpha val="3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22" name="直角三角形 21"/>
          <p:cNvSpPr>
            <a:spLocks noGrp="1"/>
          </p:cNvSpPr>
          <p:nvPr/>
        </p:nvSpPr>
        <p:spPr>
          <a:xfrm rot="5400000">
            <a:off x="-820219" y="810102"/>
            <a:ext cx="3740727" cy="2120524"/>
          </a:xfrm>
          <a:prstGeom prst="rtTriangle">
            <a:avLst/>
          </a:prstGeom>
          <a:gradFill>
            <a:gsLst>
              <a:gs pos="0">
                <a:srgbClr val="00B0F0">
                  <a:alpha val="60000"/>
                </a:srgbClr>
              </a:gs>
              <a:gs pos="100000">
                <a:srgbClr val="0070C0">
                  <a:alpha val="70000"/>
                </a:srgb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23" name="直角三角形 22"/>
          <p:cNvSpPr>
            <a:spLocks noGrp="1"/>
          </p:cNvSpPr>
          <p:nvPr/>
        </p:nvSpPr>
        <p:spPr>
          <a:xfrm rot="5400000">
            <a:off x="-608207" y="630081"/>
            <a:ext cx="2909457" cy="1649298"/>
          </a:xfrm>
          <a:prstGeom prst="rtTriangle">
            <a:avLst/>
          </a:prstGeom>
          <a:gradFill>
            <a:gsLst>
              <a:gs pos="0">
                <a:srgbClr val="00B0F0">
                  <a:alpha val="60000"/>
                </a:srgbClr>
              </a:gs>
              <a:gs pos="100000">
                <a:srgbClr val="0070C0">
                  <a:alpha val="70000"/>
                </a:srgbClr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24" name="文本框 23"/>
          <p:cNvSpPr>
            <a:spLocks noGrp="1"/>
          </p:cNvSpPr>
          <p:nvPr/>
        </p:nvSpPr>
        <p:spPr>
          <a:xfrm>
            <a:off x="6772011" y="2515346"/>
            <a:ext cx="5302717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5000">
                <a:solidFill>
                  <a:schemeClr val="bg1"/>
                </a:solidFill>
                <a:latin typeface="+mj-ea"/>
                <a:ea typeface="+mj-ea"/>
                <a:cs typeface="+mj-ea"/>
              </a:rPr>
              <a:t>中国科学技术大学</a:t>
            </a:r>
            <a:endParaRPr sz="5000">
              <a:solidFill>
                <a:schemeClr val="bg1"/>
              </a:solidFill>
              <a:latin typeface="+mj-ea"/>
              <a:ea typeface="+mj-ea"/>
              <a:cs typeface="+mj-ea"/>
            </a:endParaRPr>
          </a:p>
        </p:txBody>
      </p:sp>
      <p:sp>
        <p:nvSpPr>
          <p:cNvPr id="25" name="文本框 24"/>
          <p:cNvSpPr>
            <a:spLocks noGrp="1"/>
          </p:cNvSpPr>
          <p:nvPr/>
        </p:nvSpPr>
        <p:spPr>
          <a:xfrm>
            <a:off x="6831476" y="3579053"/>
            <a:ext cx="50537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1400">
                <a:solidFill>
                  <a:schemeClr val="bg1"/>
                </a:solidFill>
              </a:rPr>
              <a:t>University Of Science And Technology Of China</a:t>
            </a:r>
            <a:endParaRPr sz="1400">
              <a:solidFill>
                <a:schemeClr val="bg1"/>
              </a:solidFill>
            </a:endParaRPr>
          </a:p>
        </p:txBody>
      </p:sp>
      <p:sp>
        <p:nvSpPr>
          <p:cNvPr id="26" name="文本框 25"/>
          <p:cNvSpPr>
            <a:spLocks noGrp="1"/>
          </p:cNvSpPr>
          <p:nvPr/>
        </p:nvSpPr>
        <p:spPr>
          <a:xfrm>
            <a:off x="6789838" y="4269765"/>
            <a:ext cx="145424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FFFFFF"/>
                </a:solidFill>
              </a:rPr>
              <a:t>汇报人：冉潘</a:t>
            </a:r>
            <a:endParaRPr sz="1200">
              <a:solidFill>
                <a:srgbClr val="FFFFFF"/>
              </a:solidFill>
            </a:endParaRPr>
          </a:p>
        </p:txBody>
      </p:sp>
      <p:pic>
        <p:nvPicPr>
          <p:cNvPr id="39" name="图片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5508" y="5355443"/>
            <a:ext cx="1142994" cy="1142994"/>
          </a:xfrm>
          <a:prstGeom prst="rect">
            <a:avLst/>
          </a:prstGeom>
        </p:spPr>
      </p:pic>
      <p:sp>
        <p:nvSpPr>
          <p:cNvPr id="2" name="文本框 1"/>
          <p:cNvSpPr>
            <a:spLocks noGrp="1"/>
          </p:cNvSpPr>
          <p:nvPr/>
        </p:nvSpPr>
        <p:spPr>
          <a:xfrm>
            <a:off x="6789420" y="4709160"/>
            <a:ext cx="266319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chemeClr val="bg1"/>
                </a:solidFill>
              </a:rPr>
              <a:t>指导教师：</a:t>
            </a:r>
            <a:r>
              <a:rPr>
                <a:solidFill>
                  <a:schemeClr val="bg1"/>
                </a:solidFill>
              </a:rPr>
              <a:t>翟建芳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6831330" y="5179695"/>
            <a:ext cx="3905885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25">
                <a:solidFill>
                  <a:srgbClr val="FFFFFF"/>
                </a:solidFill>
              </a:rPr>
              <a:t>组员：申光耀，潘亮，申梓忻，冉潘</a:t>
            </a:r>
            <a:endParaRPr sz="1125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88ku">
      <a:majorFont>
        <a:latin typeface="Arial Black"/>
        <a:ea typeface="思源黑体 CN Bold"/>
        <a:cs typeface=""/>
      </a:majorFont>
      <a:minorFont>
        <a:latin typeface="Arial"/>
        <a:ea typeface="思源黑体 CN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88ku">
      <a:majorFont>
        <a:latin typeface="Arial Black"/>
        <a:ea typeface="思源黑体 CN Bold"/>
        <a:cs typeface=""/>
      </a:majorFont>
      <a:minorFont>
        <a:latin typeface="Arial"/>
        <a:ea typeface="思源黑体 CN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5736</Words>
  <Application>WPS 演示</Application>
  <PresentationFormat>Converted Presentation</PresentationFormat>
  <Paragraphs>466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42" baseType="lpstr">
      <vt:lpstr>Arial</vt:lpstr>
      <vt:lpstr>宋体</vt:lpstr>
      <vt:lpstr>Wingdings</vt:lpstr>
      <vt:lpstr>Source Han Sans CN</vt:lpstr>
      <vt:lpstr>Source Han Sans CN Normal</vt:lpstr>
      <vt:lpstr>Arial</vt:lpstr>
      <vt:lpstr>思源黑体 CN Bold</vt:lpstr>
      <vt:lpstr>黑体</vt:lpstr>
      <vt:lpstr>思源黑体 CN Regular</vt:lpstr>
      <vt:lpstr>微软雅黑</vt:lpstr>
      <vt:lpstr>Arial Unicode MS</vt:lpstr>
      <vt:lpstr>Calibri</vt:lpstr>
      <vt:lpstr>Arial Black</vt:lpstr>
      <vt:lpstr>Source Han Sans CN</vt:lpstr>
      <vt:lpstr>Source Han Sans CN Normal</vt:lpstr>
      <vt:lpstr>Saturday Sans Regular</vt:lpstr>
      <vt:lpstr>兰米黑体</vt:lpstr>
      <vt:lpstr>方正大黑体_GBK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养狗了没有</cp:lastModifiedBy>
  <cp:revision>1</cp:revision>
  <dcterms:created xsi:type="dcterms:W3CDTF">2026-06-17T08:40:04Z</dcterms:created>
  <dcterms:modified xsi:type="dcterms:W3CDTF">2026-06-17T08:40:04Z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97E3345F6B1443BE8571C4EDFD72B40D_12</vt:lpwstr>
  </property>
</Properties>
</file>
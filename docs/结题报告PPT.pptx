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e704ce5fe4c02" /><Relationship Type="http://schemas.openxmlformats.org/officeDocument/2006/relationships/extended-properties" Target="/docProps/app.xml" Id="Rab53e49d68d04251" /><Relationship Type="http://schemas.openxmlformats.org/officeDocument/2006/relationships/officeDocument" Target="/ppt/presentation.xml" Id="R5daffbe0cd3f44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be0b3102ae425d"/>
  </p:sldMasterIdLst>
  <p:notesMasterIdLst>
    <p:notesMasterId xmlns:r="http://schemas.openxmlformats.org/officeDocument/2006/relationships" r:id="Rdc4a8b3b4596407b"/>
  </p:notesMasterIdLst>
  <p:sldIdLst>
    <p:sldId xmlns:r="http://schemas.openxmlformats.org/officeDocument/2006/relationships" id="256" r:id="R3dcd67e32f764136"/>
    <p:sldId xmlns:r="http://schemas.openxmlformats.org/officeDocument/2006/relationships" id="257" r:id="R406e8b8282cb4931"/>
    <p:sldId xmlns:r="http://schemas.openxmlformats.org/officeDocument/2006/relationships" id="258" r:id="R152c91af24634274"/>
    <p:sldId xmlns:r="http://schemas.openxmlformats.org/officeDocument/2006/relationships" id="259" r:id="R0c2a229f8f4e45b4"/>
    <p:sldId xmlns:r="http://schemas.openxmlformats.org/officeDocument/2006/relationships" id="260" r:id="R0dab2d5b75014264"/>
    <p:sldId xmlns:r="http://schemas.openxmlformats.org/officeDocument/2006/relationships" id="261" r:id="R1caa736ed90e456b"/>
    <p:sldId xmlns:r="http://schemas.openxmlformats.org/officeDocument/2006/relationships" id="262" r:id="R4bbf6631c6324d62"/>
    <p:sldId xmlns:r="http://schemas.openxmlformats.org/officeDocument/2006/relationships" id="263" r:id="R8921316a17c74ac4"/>
    <p:sldId xmlns:r="http://schemas.openxmlformats.org/officeDocument/2006/relationships" id="264" r:id="Rd68a5f995379401a"/>
    <p:sldId xmlns:r="http://schemas.openxmlformats.org/officeDocument/2006/relationships" id="265" r:id="R633c695bbea64dcb"/>
    <p:sldId xmlns:r="http://schemas.openxmlformats.org/officeDocument/2006/relationships" id="266" r:id="Rcab188cf6ce244a1"/>
    <p:sldId xmlns:r="http://schemas.openxmlformats.org/officeDocument/2006/relationships" id="267" r:id="Rf81133d877fd48cc"/>
    <p:sldId xmlns:r="http://schemas.openxmlformats.org/officeDocument/2006/relationships" id="268" r:id="Re0feb954db1e421e"/>
    <p:sldId xmlns:r="http://schemas.openxmlformats.org/officeDocument/2006/relationships" id="269" r:id="Rd71605d9bff94f0c"/>
    <p:sldId xmlns:r="http://schemas.openxmlformats.org/officeDocument/2006/relationships" id="270" r:id="R231e786be30d4c5b"/>
    <p:sldId xmlns:r="http://schemas.openxmlformats.org/officeDocument/2006/relationships" id="271" r:id="Rc415dc24438a40de"/>
    <p:sldId xmlns:r="http://schemas.openxmlformats.org/officeDocument/2006/relationships" id="272" r:id="Rd4ddd206198f43c8"/>
    <p:sldId xmlns:r="http://schemas.openxmlformats.org/officeDocument/2006/relationships" id="273" r:id="R536e40c7eb564587"/>
    <p:sldId xmlns:r="http://schemas.openxmlformats.org/officeDocument/2006/relationships" id="274" r:id="Rd52e2da06ba24d89"/>
    <p:sldId xmlns:r="http://schemas.openxmlformats.org/officeDocument/2006/relationships" id="275" r:id="Rbb4c436cc4924ba5"/>
    <p:sldId xmlns:r="http://schemas.openxmlformats.org/officeDocument/2006/relationships" id="276" r:id="R6c54da24fca84af6"/>
    <p:sldId xmlns:r="http://schemas.openxmlformats.org/officeDocument/2006/relationships" id="277" r:id="R0a9b83d85fc14ba5"/>
    <p:sldId xmlns:r="http://schemas.openxmlformats.org/officeDocument/2006/relationships" id="278" r:id="R91c38cc6ac6449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1a1a90d6934e89" /><Relationship Type="http://schemas.openxmlformats.org/officeDocument/2006/relationships/slideMaster" Target="/ppt/slideMasters/slideMaster1.xml" Id="R82be0b3102ae425d" /><Relationship Type="http://schemas.openxmlformats.org/officeDocument/2006/relationships/notesMaster" Target="/ppt/notesMasters/notesMaster1.xml" Id="Rdc4a8b3b4596407b" /><Relationship Type="http://schemas.openxmlformats.org/officeDocument/2006/relationships/presProps" Target="/ppt/presProps.xml" Id="R9059505497fe47f9" /><Relationship Type="http://schemas.openxmlformats.org/officeDocument/2006/relationships/tableStyles" Target="/ppt/tableStyles.xml" Id="R95641d32a2ba43b2" /><Relationship Type="http://schemas.openxmlformats.org/officeDocument/2006/relationships/slide" Target="/ppt/slides/slide1.xml" Id="R3dcd67e32f764136" /><Relationship Type="http://schemas.openxmlformats.org/officeDocument/2006/relationships/slide" Target="/ppt/slides/slide2.xml" Id="R406e8b8282cb4931" /><Relationship Type="http://schemas.openxmlformats.org/officeDocument/2006/relationships/slide" Target="/ppt/slides/slide3.xml" Id="R152c91af24634274" /><Relationship Type="http://schemas.openxmlformats.org/officeDocument/2006/relationships/slide" Target="/ppt/slides/slide4.xml" Id="R0c2a229f8f4e45b4" /><Relationship Type="http://schemas.openxmlformats.org/officeDocument/2006/relationships/slide" Target="/ppt/slides/slide5.xml" Id="R0dab2d5b75014264" /><Relationship Type="http://schemas.openxmlformats.org/officeDocument/2006/relationships/slide" Target="/ppt/slides/slide6.xml" Id="R1caa736ed90e456b" /><Relationship Type="http://schemas.openxmlformats.org/officeDocument/2006/relationships/slide" Target="/ppt/slides/slide7.xml" Id="R4bbf6631c6324d62" /><Relationship Type="http://schemas.openxmlformats.org/officeDocument/2006/relationships/slide" Target="/ppt/slides/slide8.xml" Id="R8921316a17c74ac4" /><Relationship Type="http://schemas.openxmlformats.org/officeDocument/2006/relationships/slide" Target="/ppt/slides/slide9.xml" Id="Rd68a5f995379401a" /><Relationship Type="http://schemas.openxmlformats.org/officeDocument/2006/relationships/slide" Target="/ppt/slides/slide10.xml" Id="R633c695bbea64dcb" /><Relationship Type="http://schemas.openxmlformats.org/officeDocument/2006/relationships/slide" Target="/ppt/slides/slide11.xml" Id="Rcab188cf6ce244a1" /><Relationship Type="http://schemas.openxmlformats.org/officeDocument/2006/relationships/slide" Target="/ppt/slides/slide12.xml" Id="Rf81133d877fd48cc" /><Relationship Type="http://schemas.openxmlformats.org/officeDocument/2006/relationships/slide" Target="/ppt/slides/slide13.xml" Id="Re0feb954db1e421e" /><Relationship Type="http://schemas.openxmlformats.org/officeDocument/2006/relationships/slide" Target="/ppt/slides/slide14.xml" Id="Rd71605d9bff94f0c" /><Relationship Type="http://schemas.openxmlformats.org/officeDocument/2006/relationships/slide" Target="/ppt/slides/slide15.xml" Id="R231e786be30d4c5b" /><Relationship Type="http://schemas.openxmlformats.org/officeDocument/2006/relationships/slide" Target="/ppt/slides/slide16.xml" Id="Rc415dc24438a40de" /><Relationship Type="http://schemas.openxmlformats.org/officeDocument/2006/relationships/slide" Target="/ppt/slides/slide17.xml" Id="Rd4ddd206198f43c8" /><Relationship Type="http://schemas.openxmlformats.org/officeDocument/2006/relationships/slide" Target="/ppt/slides/slide18.xml" Id="R536e40c7eb564587" /><Relationship Type="http://schemas.openxmlformats.org/officeDocument/2006/relationships/slide" Target="/ppt/slides/slide19.xml" Id="Rd52e2da06ba24d89" /><Relationship Type="http://schemas.openxmlformats.org/officeDocument/2006/relationships/slide" Target="/ppt/slides/slide20.xml" Id="Rbb4c436cc4924ba5" /><Relationship Type="http://schemas.openxmlformats.org/officeDocument/2006/relationships/slide" Target="/ppt/slides/slide21.xml" Id="R6c54da24fca84af6" /><Relationship Type="http://schemas.openxmlformats.org/officeDocument/2006/relationships/slide" Target="/ppt/slides/slide22.xml" Id="R0a9b83d85fc14ba5" /><Relationship Type="http://schemas.openxmlformats.org/officeDocument/2006/relationships/slide" Target="/ppt/slides/slide23.xml" Id="R91c38cc6ac6449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c8d40cda67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88ku">
      <a:majorFont>
        <a:latin typeface="Arial Black"/>
        <a:ea typeface="思源黑体 CN Bold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e07d2e5ac64097" /><Relationship Type="http://schemas.openxmlformats.org/officeDocument/2006/relationships/notesMaster" Target="/ppt/notesMasters/notesMaster1.xml" Id="R83080d7d2c6f4d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32eeb28d2f4893" /><Relationship Type="http://schemas.openxmlformats.org/officeDocument/2006/relationships/notesMaster" Target="/ppt/notesMasters/notesMaster1.xml" Id="R07ec8128d5a14b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289df76ad442b5" /><Relationship Type="http://schemas.openxmlformats.org/officeDocument/2006/relationships/notesMaster" Target="/ppt/notesMasters/notesMaster1.xml" Id="Rbe72ee76b6544f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4dd3b2dc444248" /><Relationship Type="http://schemas.openxmlformats.org/officeDocument/2006/relationships/notesMaster" Target="/ppt/notesMasters/notesMaster1.xml" Id="R4fa196ef388140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9f3d447ddc479a" /><Relationship Type="http://schemas.openxmlformats.org/officeDocument/2006/relationships/notesMaster" Target="/ppt/notesMasters/notesMaster1.xml" Id="R6e9ae56108e545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785116f0b548cd" /><Relationship Type="http://schemas.openxmlformats.org/officeDocument/2006/relationships/notesMaster" Target="/ppt/notesMasters/notesMaster1.xml" Id="R7c6c23e30d7440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4c46695a3d41cb" /><Relationship Type="http://schemas.openxmlformats.org/officeDocument/2006/relationships/notesMaster" Target="/ppt/notesMasters/notesMaster1.xml" Id="R2e0e79b7eae549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a74d0f8ab64735" /><Relationship Type="http://schemas.openxmlformats.org/officeDocument/2006/relationships/notesMaster" Target="/ppt/notesMasters/notesMaster1.xml" Id="Rac3dcf0237f64f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751f2d7eea4cf9" /><Relationship Type="http://schemas.openxmlformats.org/officeDocument/2006/relationships/notesMaster" Target="/ppt/notesMasters/notesMaster1.xml" Id="Rea34ffdd279b40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67163dd5fd493f" /><Relationship Type="http://schemas.openxmlformats.org/officeDocument/2006/relationships/notesMaster" Target="/ppt/notesMasters/notesMaster1.xml" Id="R9f760beca32542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600a272a92482d" /><Relationship Type="http://schemas.openxmlformats.org/officeDocument/2006/relationships/notesMaster" Target="/ppt/notesMasters/notesMaster1.xml" Id="R791af0bd04354b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4dd1a472044c88" /><Relationship Type="http://schemas.openxmlformats.org/officeDocument/2006/relationships/notesMaster" Target="/ppt/notesMasters/notesMaster1.xml" Id="R39eb7ed7924240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f04c8766874784" /><Relationship Type="http://schemas.openxmlformats.org/officeDocument/2006/relationships/notesMaster" Target="/ppt/notesMasters/notesMaster1.xml" Id="R8bc661ac0a7449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ecae81ec2b4625" /><Relationship Type="http://schemas.openxmlformats.org/officeDocument/2006/relationships/notesMaster" Target="/ppt/notesMasters/notesMaster1.xml" Id="R6d25cc96fb4d44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5c9a70fb6149a6" /><Relationship Type="http://schemas.openxmlformats.org/officeDocument/2006/relationships/notesMaster" Target="/ppt/notesMasters/notesMaster1.xml" Id="R94d30b0211644b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01ccc4ff80456b" /><Relationship Type="http://schemas.openxmlformats.org/officeDocument/2006/relationships/notesMaster" Target="/ppt/notesMasters/notesMaster1.xml" Id="R5c8e1566ea3b4f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4dcfb3cbda74042" /><Relationship Type="http://schemas.openxmlformats.org/officeDocument/2006/relationships/notesMaster" Target="/ppt/notesMasters/notesMaster1.xml" Id="Re00902cf718a4b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a043a0388e4e98" /><Relationship Type="http://schemas.openxmlformats.org/officeDocument/2006/relationships/notesMaster" Target="/ppt/notesMasters/notesMaster1.xml" Id="R246c12497c844dc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1562c513874399" /><Relationship Type="http://schemas.openxmlformats.org/officeDocument/2006/relationships/notesMaster" Target="/ppt/notesMasters/notesMaster1.xml" Id="R613ad1a86af049f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026a23c8dd49dd" /><Relationship Type="http://schemas.openxmlformats.org/officeDocument/2006/relationships/notesMaster" Target="/ppt/notesMasters/notesMaster1.xml" Id="R800345a087cf46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bcc8cc125e4039" /><Relationship Type="http://schemas.openxmlformats.org/officeDocument/2006/relationships/notesMaster" Target="/ppt/notesMasters/notesMaster1.xml" Id="R145a153d01f347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6fe588193ae40e5" /><Relationship Type="http://schemas.openxmlformats.org/officeDocument/2006/relationships/notesMaster" Target="/ppt/notesMasters/notesMaster1.xml" Id="Rf01a5e54ef144e4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9a738b89ac4246" /><Relationship Type="http://schemas.openxmlformats.org/officeDocument/2006/relationships/notesMaster" Target="/ppt/notesMasters/notesMaster1.xml" Id="R1c28b17da3d74b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809cce3ff4a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2adba7b8749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3bff355604d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be6d4bea94b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e45f6926e458f" /></Relationships>
</file>

<file path=ppt/slideLayouts/slideLayout1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平行四边形 4">
            <a:extLst xmlns:a="http://schemas.openxmlformats.org/drawingml/2006/main">
              <a:ext uri="{FF2B5EF4-FFF2-40B4-BE49-F238E27FC236}">
                <a16:creationId xmlns:a16="http://schemas.microsoft.com/office/drawing/2014/main" id="{9AD3F891-5F81-4B62-AB08-D0B175B3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34863" y="182880"/>
            <a:ext cx="3491571" cy="418010"/>
          </a:xfrm>
          <a:prstGeom xmlns:a="http://schemas.openxmlformats.org/drawingml/2006/main" prst="parallelogram">
            <a:avLst>
              <a:gd name="adj" fmla="val 56250"/>
            </a:avLst>
          </a:prstGeom>
          <a:gradFill xmlns:a="http://schemas.openxmlformats.org/drawingml/2006/main" rotWithShape="1">
            <a:gsLst>
              <a:gs pos="0">
                <a:srgbClr val="00B0F0">
                  <a:alpha val="26000"/>
                </a:srgbClr>
              </a:gs>
              <a:gs pos="100000">
                <a:srgbClr val="0070C0">
                  <a:alpha val="47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6de2a567e24d6a" /><Relationship Type="http://schemas.openxmlformats.org/officeDocument/2006/relationships/slideLayout" Target="/ppt/slideLayouts/slideLayout1.xml" Id="R025f0a1461384b84" /><Relationship Type="http://schemas.openxmlformats.org/officeDocument/2006/relationships/slideLayout" Target="/ppt/slideLayouts/slideLayout2.xml" Id="Rc8768951c6e84382" /><Relationship Type="http://schemas.openxmlformats.org/officeDocument/2006/relationships/slideLayout" Target="/ppt/slideLayouts/slideLayout3.xml" Id="R4b74b9abaf9e449a" /><Relationship Type="http://schemas.openxmlformats.org/officeDocument/2006/relationships/slideLayout" Target="/ppt/slideLayouts/slideLayout4.xml" Id="Rf152c876f4c24f09" /><Relationship Type="http://schemas.openxmlformats.org/officeDocument/2006/relationships/slideLayout" Target="/ppt/slideLayouts/slideLayout5.xml" Id="R55c9468ac6df4b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5f0a1461384b84"/>
    <p:sldLayoutId xmlns:r="http://schemas.openxmlformats.org/officeDocument/2006/relationships" id="2147483650" r:id="Rc8768951c6e84382"/>
    <p:sldLayoutId xmlns:r="http://schemas.openxmlformats.org/officeDocument/2006/relationships" id="2147483651" r:id="R4b74b9abaf9e449a"/>
    <p:sldLayoutId xmlns:r="http://schemas.openxmlformats.org/officeDocument/2006/relationships" id="2147483652" r:id="Rf152c876f4c24f09"/>
    <p:sldLayoutId xmlns:r="http://schemas.openxmlformats.org/officeDocument/2006/relationships" id="2147483653" r:id="R55c9468ac6df4b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88ku">
      <a:majorFont>
        <a:latin typeface="Arial Black"/>
        <a:ea typeface="思源黑体 CN Bold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64d9815d53c46d9" /><Relationship Type="http://schemas.openxmlformats.org/officeDocument/2006/relationships/image" Target="/ppt/media/image.png" Id="R1bf6206269724332" /><Relationship Type="http://schemas.openxmlformats.org/officeDocument/2006/relationships/image" Target="/ppt/media/image2.png" Id="R50a49ca05b2c45e6" /><Relationship Type="http://schemas.openxmlformats.org/officeDocument/2006/relationships/notesSlide" Target="/ppt/notesSlides/notesSlide1.xml" Id="R25356a927e0b45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63b3eecc0794505" /><Relationship Type="http://schemas.openxmlformats.org/officeDocument/2006/relationships/notesSlide" Target="/ppt/notesSlides/notesSlide2.xml" Id="R492e05b4888b4c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d35855100495f" /><Relationship Type="http://schemas.openxmlformats.org/officeDocument/2006/relationships/image" Target="/ppt/media/image2.png" Id="R7895bdbb36584884" /><Relationship Type="http://schemas.openxmlformats.org/officeDocument/2006/relationships/image" Target="/ppt/media/image3.png" Id="R5d2e5c518b124642" /><Relationship Type="http://schemas.openxmlformats.org/officeDocument/2006/relationships/notesSlide" Target="/ppt/notesSlides/notesSlide3.xml" Id="R7f8d7ce7fe4948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eacf2706a4f00" /><Relationship Type="http://schemas.openxmlformats.org/officeDocument/2006/relationships/image" Target="/ppt/media/image2.png" Id="Rbfa8c48e14724126" /><Relationship Type="http://schemas.openxmlformats.org/officeDocument/2006/relationships/image" Target="/ppt/media/image4.png" Id="R13162d1f6c1246ed" /><Relationship Type="http://schemas.openxmlformats.org/officeDocument/2006/relationships/notesSlide" Target="/ppt/notesSlides/notesSlide4.xml" Id="R9944c3ad82fa40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4c1bac4624b8c" /><Relationship Type="http://schemas.openxmlformats.org/officeDocument/2006/relationships/image" Target="/ppt/media/image2.png" Id="R45797d95f5a94bc9" /><Relationship Type="http://schemas.openxmlformats.org/officeDocument/2006/relationships/image" Target="/ppt/media/image5.png" Id="R8a48dd0217644824" /><Relationship Type="http://schemas.openxmlformats.org/officeDocument/2006/relationships/notesSlide" Target="/ppt/notesSlides/notesSlide5.xml" Id="R44b49274f8be42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18a0c248f49bc" /><Relationship Type="http://schemas.openxmlformats.org/officeDocument/2006/relationships/image" Target="/ppt/media/image6.png" Id="R02bd8c11f8934c30" /><Relationship Type="http://schemas.openxmlformats.org/officeDocument/2006/relationships/notesSlide" Target="/ppt/notesSlides/notesSlide6.xml" Id="Rc10b9ff6480b41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b242b004e4a3c" /><Relationship Type="http://schemas.openxmlformats.org/officeDocument/2006/relationships/image" Target="/ppt/media/image7.png" Id="Rdf7a301f555a4143" /><Relationship Type="http://schemas.openxmlformats.org/officeDocument/2006/relationships/image" Target="/ppt/media/image8.png" Id="R48507e4ebe894481" /><Relationship Type="http://schemas.openxmlformats.org/officeDocument/2006/relationships/notesSlide" Target="/ppt/notesSlides/notesSlide7.xml" Id="Rb6447cbcf58c4e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fffeae3ca4eda" /><Relationship Type="http://schemas.openxmlformats.org/officeDocument/2006/relationships/image" Target="/ppt/media/image9.png" Id="R60767883f95c465a" /><Relationship Type="http://schemas.openxmlformats.org/officeDocument/2006/relationships/notesSlide" Target="/ppt/notesSlides/notesSlide8.xml" Id="R58e458eb5a4f41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4dbe4871a4b2e" /><Relationship Type="http://schemas.openxmlformats.org/officeDocument/2006/relationships/notesSlide" Target="/ppt/notesSlides/notesSlide9.xml" Id="Ra8712ea04be947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92e3c3d6a455e" /><Relationship Type="http://schemas.openxmlformats.org/officeDocument/2006/relationships/image" Target="/ppt/media/image10.png" Id="R951e39f09870485b" /><Relationship Type="http://schemas.openxmlformats.org/officeDocument/2006/relationships/image" Target="/ppt/media/image11.png" Id="R15574d1b60aa4c75" /><Relationship Type="http://schemas.openxmlformats.org/officeDocument/2006/relationships/notesSlide" Target="/ppt/notesSlides/notesSlide10.xml" Id="R0befd9e071194f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76a1ba4cc4c08" /><Relationship Type="http://schemas.openxmlformats.org/officeDocument/2006/relationships/image" Target="/ppt/media/image12.png" Id="R82bce34514ef4807" /><Relationship Type="http://schemas.openxmlformats.org/officeDocument/2006/relationships/image" Target="/ppt/media/image13.png" Id="R2e19ab6d6fb444de" /><Relationship Type="http://schemas.openxmlformats.org/officeDocument/2006/relationships/notesSlide" Target="/ppt/notesSlides/notesSlide11.xml" Id="Re3e5385932604f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ce51052904806" /><Relationship Type="http://schemas.openxmlformats.org/officeDocument/2006/relationships/image" Target="/ppt/media/image2.png" Id="R2b842c6666494c0b" /><Relationship Type="http://schemas.openxmlformats.org/officeDocument/2006/relationships/image" Target="/ppt/media/image14.png" Id="R51ff53ea7c324c2d" /><Relationship Type="http://schemas.openxmlformats.org/officeDocument/2006/relationships/notesSlide" Target="/ppt/notesSlides/notesSlide12.xml" Id="R88ec436c3a294a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3d2e22e2044d0" /><Relationship Type="http://schemas.openxmlformats.org/officeDocument/2006/relationships/image" Target="/ppt/media/image2.png" Id="R4f60edd6c46d4b6b" /><Relationship Type="http://schemas.openxmlformats.org/officeDocument/2006/relationships/image" Target="/ppt/media/image15.png" Id="Rb945221aeeaa490d" /><Relationship Type="http://schemas.openxmlformats.org/officeDocument/2006/relationships/notesSlide" Target="/ppt/notesSlides/notesSlide13.xml" Id="Rbede1c36c81a46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ccf7d3bc340be" /><Relationship Type="http://schemas.openxmlformats.org/officeDocument/2006/relationships/image" Target="/ppt/media/image2.png" Id="Racba39c37bd748aa" /><Relationship Type="http://schemas.openxmlformats.org/officeDocument/2006/relationships/image" Target="/ppt/media/image16.png" Id="Ra8e066e1944a4a5e" /><Relationship Type="http://schemas.openxmlformats.org/officeDocument/2006/relationships/image" Target="/ppt/media/image17.png" Id="R1aaa07f9e4e14c61" /><Relationship Type="http://schemas.openxmlformats.org/officeDocument/2006/relationships/notesSlide" Target="/ppt/notesSlides/notesSlide14.xml" Id="Rd30cd10453b246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a16fde1114d1f" /><Relationship Type="http://schemas.openxmlformats.org/officeDocument/2006/relationships/image" Target="/ppt/media/image2.png" Id="R02d7fae634504f6d" /><Relationship Type="http://schemas.openxmlformats.org/officeDocument/2006/relationships/image" Target="/ppt/media/image18.png" Id="R556aa8f8ccda498b" /><Relationship Type="http://schemas.openxmlformats.org/officeDocument/2006/relationships/image" Target="/ppt/media/image19.png" Id="R2bbfbc51277c4686" /><Relationship Type="http://schemas.openxmlformats.org/officeDocument/2006/relationships/image" Target="/ppt/media/image20.png" Id="R36849935842a43bb" /><Relationship Type="http://schemas.openxmlformats.org/officeDocument/2006/relationships/notesSlide" Target="/ppt/notesSlides/notesSlide15.xml" Id="Rddf323ed28e343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2a9898a864bf5" /><Relationship Type="http://schemas.openxmlformats.org/officeDocument/2006/relationships/image" Target="/ppt/media/image2.png" Id="Rdf63d048ae134c3c" /><Relationship Type="http://schemas.openxmlformats.org/officeDocument/2006/relationships/image" Target="/ppt/media/image21.png" Id="R5fd2f8fc13ea4507" /><Relationship Type="http://schemas.openxmlformats.org/officeDocument/2006/relationships/image" Target="/ppt/media/image22.png" Id="R9347775e2c334ec8" /><Relationship Type="http://schemas.openxmlformats.org/officeDocument/2006/relationships/notesSlide" Target="/ppt/notesSlides/notesSlide16.xml" Id="R9c783ccdbf8d42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e2f06c7ed430f" /><Relationship Type="http://schemas.openxmlformats.org/officeDocument/2006/relationships/image" Target="/ppt/media/image2.png" Id="Rded9433c9d5a42d7" /><Relationship Type="http://schemas.openxmlformats.org/officeDocument/2006/relationships/image" Target="/ppt/media/image23.png" Id="R0c02446ec4a548f3" /><Relationship Type="http://schemas.openxmlformats.org/officeDocument/2006/relationships/image" Target="/ppt/media/image24.png" Id="Rd2c99206413d4a40" /><Relationship Type="http://schemas.openxmlformats.org/officeDocument/2006/relationships/notesSlide" Target="/ppt/notesSlides/notesSlide17.xml" Id="Rff0b39acdbb246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a20e816aa4c52" /><Relationship Type="http://schemas.openxmlformats.org/officeDocument/2006/relationships/image" Target="/ppt/media/image2.png" Id="Re2938a215dd8474b" /><Relationship Type="http://schemas.openxmlformats.org/officeDocument/2006/relationships/image" Target="/ppt/media/image25.png" Id="Red09730b25014bd1" /><Relationship Type="http://schemas.openxmlformats.org/officeDocument/2006/relationships/notesSlide" Target="/ppt/notesSlides/notesSlide18.xml" Id="R8350684e133344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7627e9cee4e9f" /><Relationship Type="http://schemas.openxmlformats.org/officeDocument/2006/relationships/image" Target="/ppt/media/image2.png" Id="R003f00a3fa0448ad" /><Relationship Type="http://schemas.openxmlformats.org/officeDocument/2006/relationships/notesSlide" Target="/ppt/notesSlides/notesSlide19.xml" Id="R073903e589254e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5769346644882" /><Relationship Type="http://schemas.openxmlformats.org/officeDocument/2006/relationships/image" Target="/ppt/media/image2.png" Id="Ra99fcde7cb104163" /><Relationship Type="http://schemas.openxmlformats.org/officeDocument/2006/relationships/notesSlide" Target="/ppt/notesSlides/notesSlide20.xml" Id="R390cdf3238ac4b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0c997c9124588" /><Relationship Type="http://schemas.openxmlformats.org/officeDocument/2006/relationships/image" Target="/ppt/media/image2.png" Id="Rb8aa4a2833bb459f" /><Relationship Type="http://schemas.openxmlformats.org/officeDocument/2006/relationships/notesSlide" Target="/ppt/notesSlides/notesSlide21.xml" Id="R46d52eb4a6eb49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82199e6674194" /><Relationship Type="http://schemas.openxmlformats.org/officeDocument/2006/relationships/image" Target="/ppt/media/image2.png" Id="R04a0b171b8ad483f" /><Relationship Type="http://schemas.openxmlformats.org/officeDocument/2006/relationships/notesSlide" Target="/ppt/notesSlides/notesSlide22.xml" Id="Rade8cf2c674041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ac0eccb0e34849" /><Relationship Type="http://schemas.openxmlformats.org/officeDocument/2006/relationships/image" Target="/ppt/media/image.png" Id="Rf3b54c5d7f5a405e" /><Relationship Type="http://schemas.openxmlformats.org/officeDocument/2006/relationships/image" Target="/ppt/media/image2.png" Id="Rc3b27bc488cf44a1" /><Relationship Type="http://schemas.openxmlformats.org/officeDocument/2006/relationships/notesSlide" Target="/ppt/notesSlides/notesSlide23.xml" Id="Ra3eb456d432549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4B8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三角形 5">
            <a:extLst xmlns:a="http://schemas.openxmlformats.org/drawingml/2006/main">
              <a:ext uri="{FF2B5EF4-FFF2-40B4-BE49-F238E27FC236}">
                <a16:creationId xmlns:a16="http://schemas.microsoft.com/office/drawing/2014/main" id="{559CC103-6B8B-4986-84AB-59048BFC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914669" y="-1"/>
            <a:ext cx="6932418" cy="6211616"/>
          </a:xfrm>
          <a:prstGeom xmlns:a="http://schemas.openxmlformats.org/drawingml/2006/main" prst="triangle">
            <a:avLst/>
          </a:prstGeom>
          <a:gradFill xmlns:a="http://schemas.openxmlformats.org/drawingml/2006/main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31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平行四边形 10">
            <a:extLst xmlns:a="http://schemas.openxmlformats.org/drawingml/2006/main">
              <a:ext uri="{FF2B5EF4-FFF2-40B4-BE49-F238E27FC236}">
                <a16:creationId xmlns:a16="http://schemas.microsoft.com/office/drawing/2014/main" id="{72332C76-C053-4C64-9B0E-35D75675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20230" y="0"/>
            <a:ext cx="10229323" cy="6872456"/>
          </a:xfrm>
          <a:prstGeom xmlns:a="http://schemas.openxmlformats.org/drawingml/2006/main" prst="parallelogram">
            <a:avLst>
              <a:gd name="adj" fmla="val 56852"/>
            </a:avLst>
          </a:prstGeom>
          <a:blipFill xmlns:a="http://schemas.openxmlformats.org/drawingml/2006/main" rotWithShape="1">
            <a:blip xmlns:r="http://schemas.openxmlformats.org/officeDocument/2006/relationships" r:embed="R1bf6206269724332"/>
            <a:srcRect l="0" t="0" r="0" b="0"/>
            <a:stretch>
              <a:fillRect l="14352" t="222" r="-14352" b="-222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三角形 2">
            <a:extLst xmlns:a="http://schemas.openxmlformats.org/drawingml/2006/main">
              <a:ext uri="{FF2B5EF4-FFF2-40B4-BE49-F238E27FC236}">
                <a16:creationId xmlns:a16="http://schemas.microsoft.com/office/drawing/2014/main" id="{DA42FADA-1F45-431E-94A9-D7C70EA9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555083" y="2540"/>
            <a:ext cx="4762398" cy="4267225"/>
          </a:xfrm>
          <a:prstGeom xmlns:a="http://schemas.openxmlformats.org/drawingml/2006/main" prst="triangle">
            <a:avLst/>
          </a:prstGeom>
          <a:gradFill xmlns:a="http://schemas.openxmlformats.org/drawingml/2006/main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60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三角形 4">
            <a:extLst xmlns:a="http://schemas.openxmlformats.org/drawingml/2006/main">
              <a:ext uri="{FF2B5EF4-FFF2-40B4-BE49-F238E27FC236}">
                <a16:creationId xmlns:a16="http://schemas.microsoft.com/office/drawing/2014/main" id="{702E2B66-47DA-4B0F-844A-41092DBD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952824" y="-2"/>
            <a:ext cx="6306169" cy="5650482"/>
          </a:xfrm>
          <a:prstGeom xmlns:a="http://schemas.openxmlformats.org/drawingml/2006/main" prst="triangle">
            <a:avLst/>
          </a:prstGeom>
          <a:gradFill xmlns:a="http://schemas.openxmlformats.org/drawingml/2006/main" rotWithShape="1">
            <a:gsLst>
              <a:gs pos="0">
                <a:srgbClr val="00B0F0">
                  <a:alpha val="44000"/>
                </a:srgbClr>
              </a:gs>
              <a:gs pos="100000">
                <a:srgbClr val="0070C0">
                  <a:alpha val="0"/>
                </a:srgb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三角形 6">
            <a:extLst xmlns:a="http://schemas.openxmlformats.org/drawingml/2006/main">
              <a:ext uri="{FF2B5EF4-FFF2-40B4-BE49-F238E27FC236}">
                <a16:creationId xmlns:a16="http://schemas.microsoft.com/office/drawing/2014/main" id="{8A8801DA-3F21-435E-A0B5-A2DC0D0D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745" y="3638198"/>
            <a:ext cx="3590596" cy="3217262"/>
          </a:xfrm>
          <a:prstGeom xmlns:a="http://schemas.openxmlformats.org/drawingml/2006/main" prst="triangle">
            <a:avLst/>
          </a:prstGeom>
          <a:gradFill xmlns:a="http://schemas.openxmlformats.org/drawingml/2006/main" rotWithShape="1"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三角形 7">
            <a:extLst xmlns:a="http://schemas.openxmlformats.org/drawingml/2006/main">
              <a:ext uri="{FF2B5EF4-FFF2-40B4-BE49-F238E27FC236}">
                <a16:creationId xmlns:a16="http://schemas.microsoft.com/office/drawing/2014/main" id="{0D3C7892-3361-44DE-AA25-9559C4C6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745" y="4790273"/>
            <a:ext cx="2323801" cy="2082183"/>
          </a:xfrm>
          <a:prstGeom xmlns:a="http://schemas.openxmlformats.org/drawingml/2006/main" prst="triangle">
            <a:avLst/>
          </a:prstGeom>
          <a:gradFill xmlns:a="http://schemas.openxmlformats.org/drawingml/2006/main" rotWithShape="1">
            <a:gsLst>
              <a:gs pos="0">
                <a:srgbClr val="00B0F0">
                  <a:alpha val="36000"/>
                </a:srgbClr>
              </a:gs>
              <a:gs pos="100000">
                <a:srgbClr val="0070C0">
                  <a:alpha val="35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0ED16440-0741-4FD1-B5D1-8632FAF1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820219" y="810102"/>
            <a:ext cx="3740727" cy="2120524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直角三角形 9">
            <a:extLst xmlns:a="http://schemas.openxmlformats.org/drawingml/2006/main">
              <a:ext uri="{FF2B5EF4-FFF2-40B4-BE49-F238E27FC236}">
                <a16:creationId xmlns:a16="http://schemas.microsoft.com/office/drawing/2014/main" id="{6F90B349-72B6-427E-B96F-3798354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608207" y="630081"/>
            <a:ext cx="2909457" cy="1649298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FE1C9C7-268E-4E47-B433-EE31C0DA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011" y="2515346"/>
            <a:ext cx="5302717" cy="860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结题报告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2CAAA2D-38AE-437A-9C72-385ACCF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118" y="3925595"/>
            <a:ext cx="180369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FFFFFF"/>
                </a:solidFill>
              </a:rPr>
              <a:t>汇报人：4组-冉潘</a:t>
            </a:r>
          </a:p>
        </p:txBody>
      </p:sp>
      <p:pic>
        <p:nvPicPr>
          <p:cNvPr id="2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49ca05b2c45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95508" y="5355443"/>
            <a:ext cx="1142994" cy="1142994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9002A15-F6B1-4555-9358-6CBC2AFA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335" y="4405630"/>
            <a:ext cx="213296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bg1"/>
                </a:solidFill>
              </a:rPr>
              <a:t>指导教师：翟建芳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4262088-BA3C-4D90-AE84-9F0460A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320" y="4918710"/>
            <a:ext cx="390588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FFFFFF"/>
                </a:solidFill>
              </a:rPr>
              <a:t>组员：申光耀，潘亮，申梓忻，冉潘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7458AE8-ED44-4538-935E-79F09398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23035"/>
            <a:ext cx="406400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25" b="1">
                <a:solidFill>
                  <a:srgbClr val="FFFFFF"/>
                </a:solidFill>
              </a:rPr>
              <a:t>手写作业 OCR</a:t>
            </a:r>
          </a:p>
          <a:p xmlns:a="http://schemas.openxmlformats.org/drawingml/2006/main">
            <a:pPr algn="l">
              <a:buNone/>
            </a:pPr>
            <a:r>
              <a:rPr sz="2025" b="1">
                <a:solidFill>
                  <a:srgbClr val="FFFFFF"/>
                </a:solidFill>
              </a:rPr>
              <a:t>识别与自动批改系统</a:t>
            </a:r>
          </a:p>
        </p:txBody>
      </p:sp>
    </p:spTree>
    <p:extLst>
      <p:ext uri="{BB962C8B-B14F-4D97-AF65-F5344CB8AC3E}">
        <p14:creationId xmlns:p14="http://schemas.microsoft.com/office/powerpoint/2010/main" val="347339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角三角形 2">
            <a:extLst xmlns:a="http://schemas.openxmlformats.org/drawingml/2006/main">
              <a:ext uri="{FF2B5EF4-FFF2-40B4-BE49-F238E27FC236}">
                <a16:creationId xmlns:a16="http://schemas.microsoft.com/office/drawing/2014/main" id="{349426F3-CCED-4FE9-A2A7-BEBAE2CD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1532048" y="1532048"/>
            <a:ext cx="7074394" cy="4010296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直角三角形 3">
            <a:extLst xmlns:a="http://schemas.openxmlformats.org/drawingml/2006/main">
              <a:ext uri="{FF2B5EF4-FFF2-40B4-BE49-F238E27FC236}">
                <a16:creationId xmlns:a16="http://schemas.microsoft.com/office/drawing/2014/main" id="{5AD35224-7E75-4AC4-8ABF-F6BE8795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1159604" y="1191595"/>
            <a:ext cx="5502311" cy="3119122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547D7C5-40A0-4EC6-B15B-2281B45F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51" y="432358"/>
            <a:ext cx="182880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Source Han Sans CN"/>
                <a:ea typeface="Source Han Sans CN"/>
                <a:cs typeface="Source Han Sans CN"/>
              </a:rPr>
              <a:t>目录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2FF341F-FE44-4907-B19F-84F6C414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323" y="1160698"/>
            <a:ext cx="3704860" cy="3505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200000"/>
              </a:lnSpc>
              <a:buChar char="Ø"/>
            </a:pPr>
            <a:r>
              <a:rPr sz="1650">
                <a:solidFill>
                  <a:srgbClr val="1E5C83"/>
                </a:solidFill>
                <a:latin typeface="+mj-ea"/>
                <a:ea typeface="+mj-ea"/>
                <a:cs typeface="+mj-ea"/>
              </a:rPr>
              <a:t>项目背景与目标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Char char="Ø"/>
            </a:pPr>
            <a:r>
              <a:rPr sz="1650">
                <a:solidFill>
                  <a:srgbClr val="1E5C83"/>
                </a:solidFill>
                <a:latin typeface="+mj-ea"/>
                <a:ea typeface="+mj-ea"/>
                <a:cs typeface="+mj-ea"/>
              </a:rPr>
              <a:t>系统架构与技术选型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Char char="Ø"/>
            </a:pPr>
            <a:r>
              <a:rPr sz="1650">
                <a:solidFill>
                  <a:srgbClr val="1E5C83"/>
                </a:solidFill>
                <a:latin typeface="+mj-ea"/>
                <a:ea typeface="+mj-ea"/>
                <a:cs typeface="+mj-ea"/>
              </a:rPr>
              <a:t>核心功能实现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Char char="Ø"/>
            </a:pPr>
            <a:r>
              <a:rPr sz="1650">
                <a:solidFill>
                  <a:srgbClr val="1E5C83"/>
                </a:solidFill>
                <a:latin typeface="+mj-ea"/>
                <a:ea typeface="+mj-ea"/>
                <a:cs typeface="+mj-ea"/>
              </a:rPr>
              <a:t>数据库与客户端设计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861032F-7F55-41C1-A50C-30A0AEC8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371" y="1160698"/>
            <a:ext cx="4423006" cy="42805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200000"/>
              </a:lnSpc>
              <a:buChar char="Ø"/>
            </a:pPr>
            <a:r>
              <a:rPr sz="1650">
                <a:solidFill>
                  <a:srgbClr val="1E5C83"/>
                </a:solidFill>
                <a:latin typeface="+mj-ea"/>
                <a:ea typeface="+mj-ea"/>
                <a:cs typeface="+mj-ea"/>
              </a:rPr>
              <a:t>测试验证与验收结论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Char char="Ø"/>
            </a:pPr>
            <a:r>
              <a:rPr sz="1650">
                <a:solidFill>
                  <a:srgbClr val="1E5C83"/>
                </a:solidFill>
                <a:latin typeface="+mj-ea"/>
                <a:ea typeface="+mj-ea"/>
                <a:cs typeface="+mj-ea"/>
              </a:rPr>
              <a:t>演示素材与答辩流程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Char char="Ø"/>
            </a:pPr>
            <a:r>
              <a:rPr sz="1650">
                <a:solidFill>
                  <a:srgbClr val="1E5C83"/>
                </a:solidFill>
                <a:latin typeface="+mj-ea"/>
                <a:ea typeface="+mj-ea"/>
                <a:cs typeface="+mj-ea"/>
              </a:rPr>
              <a:t>项目成果与交付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Char char="Ø"/>
            </a:pPr>
            <a:r>
              <a:rPr sz="1650">
                <a:solidFill>
                  <a:srgbClr val="1E5C83"/>
                </a:solidFill>
                <a:latin typeface="+mj-ea"/>
                <a:ea typeface="+mj-ea"/>
                <a:cs typeface="+mj-ea"/>
              </a:rPr>
              <a:t>总结与改进方向</a:t>
            </a:r>
          </a:p>
        </p:txBody>
      </p:sp>
    </p:spTree>
    <p:extLst>
      <p:ext uri="{BB962C8B-B14F-4D97-AF65-F5344CB8AC3E}">
        <p14:creationId xmlns:p14="http://schemas.microsoft.com/office/powerpoint/2010/main" val="14996269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53B79AE8-1983-464B-ADD1-E3E03EFD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301268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E5C83"/>
                </a:solidFill>
                <a:latin typeface="+mj-ea"/>
                <a:ea typeface="+mj-ea"/>
                <a:cs typeface="+mj-ea"/>
              </a:rPr>
              <a:t>项目背景与目标</a:t>
            </a:r>
          </a:p>
        </p:txBody>
      </p:sp>
      <p:sp>
        <p:nvSpPr>
          <p:cNvPr id="10" name="PA-文本框 42">
            <a:extLst xmlns:a="http://schemas.openxmlformats.org/drawingml/2006/main">
              <a:ext uri="{FF2B5EF4-FFF2-40B4-BE49-F238E27FC236}">
                <a16:creationId xmlns:a16="http://schemas.microsoft.com/office/drawing/2014/main" id="{56ACD5AF-6D16-4961-B602-9F57240F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3" y="2812833"/>
            <a:ext cx="3902314" cy="11543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 xmlns:a="http://schemas.openxmlformats.org/drawingml/2006/main">
            <a:r>
              <a:rPr sz="2800">
                <a:solidFill>
                  <a:srgbClr val="FF0000"/>
                </a:solidFill>
                <a:latin typeface="Arial"/>
                <a:ea typeface="Arial"/>
                <a:cs typeface="Arial"/>
              </a:rPr>
              <a:t>需求分析：</a:t>
            </a:r>
          </a:p>
          <a:p xmlns:a="http://schemas.openxmlformats.org/drawingml/2006/main"/>
        </p:txBody>
      </p:sp>
      <p:pic>
        <p:nvPicPr>
          <p:cNvPr id="2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5bdbb365848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pic>
        <p:nvPicPr>
          <p:cNvPr id="25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e5c518b124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865" y="683144"/>
            <a:ext cx="3765550" cy="1737608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3C7E51B-057C-4187-A0A9-84186214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257" y="1101995"/>
            <a:ext cx="6291975" cy="1737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425">
                <a:solidFill>
                  <a:srgbClr val="333333"/>
                </a:solidFill>
              </a:rPr>
              <a:t>- 传统纸质作业批改耗时，反馈周期长，教师重复劳动重</a:t>
            </a:r>
          </a:p>
          <a:p xmlns:a="http://schemas.openxmlformats.org/drawingml/2006/main">
            <a:r>
              <a:rPr sz="1425">
                <a:solidFill>
                  <a:srgbClr val="333333"/>
                </a:solidFill>
              </a:rPr>
              <a:t>- 移动端拍照上传 + OCR 识别 + 自动批改，可形成轻量化数字作业闭环</a:t>
            </a:r>
          </a:p>
          <a:p xmlns:a="http://schemas.openxmlformats.org/drawingml/2006/main">
            <a:r>
              <a:rPr sz="1425">
                <a:solidFill>
                  <a:srgbClr val="333333"/>
                </a:solidFill>
              </a:rPr>
              <a:t>- 项目目标：完成教师布置作业、学生上传图片、OCR 识别、自动批改、成绩反馈与统计分析的完整流程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93DC4BC-1634-4DF6-A42B-CE307191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65" y="3865663"/>
            <a:ext cx="8113395" cy="3139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333333"/>
                </a:solidFill>
              </a:rPr>
              <a:t>教师：创建作业、设置标准答案/关键词、查看提交与统计、人工批注复核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学生：拍照或相册上传手写作业，查看 OCR 内容、得分、反馈与历史提交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系统：完成图片预处理、PaddleOCR 识别、答案对齐、自动评分和异常兜底</a:t>
            </a:r>
          </a:p>
        </p:txBody>
      </p:sp>
      <p:sp>
        <p:nvSpPr>
          <p:cNvPr id="5" name="PA-文本框 42">
            <a:extLst xmlns:a="http://schemas.openxmlformats.org/drawingml/2006/main">
              <a:ext uri="{FF2B5EF4-FFF2-40B4-BE49-F238E27FC236}">
                <a16:creationId xmlns:a16="http://schemas.microsoft.com/office/drawing/2014/main" id="{13CCD137-91FF-D7AF-D388-22E7F216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43" y="581618"/>
            <a:ext cx="3902314" cy="11543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 xmlns:a="http://schemas.openxmlformats.org/drawingml/2006/main">
            <a:r>
              <a:rPr sz="2800">
                <a:solidFill>
                  <a:srgbClr val="FF0000"/>
                </a:solidFill>
                <a:latin typeface="Arial"/>
                <a:ea typeface="Arial"/>
                <a:cs typeface="Arial"/>
              </a:rPr>
              <a:t>项目背景：</a:t>
            </a:r>
          </a:p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8470993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C98BCE26-7E26-485B-81C8-140CD274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71" y="143693"/>
            <a:ext cx="267893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系统总体架构设计</a:t>
            </a:r>
          </a:p>
        </p:txBody>
      </p:sp>
      <p:pic>
        <p:nvPicPr>
          <p:cNvPr id="15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8c48e147241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8FD3433-9ABD-4330-BDCE-34C741C2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71" y="1115695"/>
            <a:ext cx="562229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三层微服务架构</a:t>
            </a:r>
          </a:p>
        </p:txBody>
      </p:sp>
      <p:pic>
        <p:nvPicPr>
          <p:cNvPr id="17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62d1f6c1246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1416" y="934435"/>
            <a:ext cx="6420064" cy="4150645"/>
          </a:xfrm>
          <a:prstGeom xmlns:a="http://schemas.openxmlformats.org/drawingml/2006/main" prst="rect">
            <a:avLst/>
          </a:prstGeom>
        </p:spPr>
      </p:pic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32E3DE4-7513-20B3-AECB-9BEAE45C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71" y="5595417"/>
            <a:ext cx="923121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333333"/>
                </a:solidFill>
                <a:latin typeface="+mj-ea"/>
                <a:ea typeface="+mj-ea"/>
                <a:cs typeface="+mj-ea"/>
              </a:rPr>
              <a:t>部署方式：Docker Compose 编排后端、MySQL、Redis 与 OCR 微服务；Android 客户端通过 REST API 接入</a:t>
            </a:r>
          </a:p>
        </p:txBody>
      </p:sp>
    </p:spTree>
    <p:extLst>
      <p:ext uri="{BB962C8B-B14F-4D97-AF65-F5344CB8AC3E}">
        <p14:creationId xmlns:p14="http://schemas.microsoft.com/office/powerpoint/2010/main" val="13863455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97d95f5a94b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898D933-27D1-F9BF-FCF0-146276B9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233910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技术选型与依赖</a:t>
            </a:r>
          </a:p>
        </p:txBody>
      </p:sp>
      <p:pic>
        <p:nvPicPr>
          <p:cNvPr id="1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8dd0217644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69310" y="622695"/>
            <a:ext cx="7988921" cy="61091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0009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4F7F7C3-DF3F-4215-A271-45FF7C77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1" y="182245"/>
            <a:ext cx="56959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核心模块详细设计（一）用户认证模块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C871071-FDD1-8D71-2C31-C329832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" y="1120676"/>
            <a:ext cx="7793831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333333"/>
                </a:solidFill>
              </a:rPr>
              <a:t>认证流程：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1. 注册时选择教师/学生角色，密码使用 BCrypt 加密存储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2. 登录成功后签发 JWT，后续请求由 Spring Security 过滤器校验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3. 基于角色进行接口访问控制，教师端与学生端能力隔离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4. Token 与用户信息结合 Redis/服务端配置完成会话管理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02E06CC-6067-AF80-17D1-E98B6EB7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" y="2894133"/>
            <a:ext cx="23288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关键接口：</a:t>
            </a:r>
          </a:p>
        </p:txBody>
      </p:sp>
      <p:pic>
        <p:nvPicPr>
          <p:cNvPr id="13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d8c11f8934c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031" y="3366085"/>
            <a:ext cx="9994044" cy="17878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956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AFF173C-666D-09FE-8B41-319B478A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1" y="182245"/>
            <a:ext cx="56959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核心模块详细设计（一）用户认证模块</a:t>
            </a:r>
          </a:p>
        </p:txBody>
      </p:sp>
      <p:pic>
        <p:nvPicPr>
          <p:cNvPr id="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a301f555a4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8624" y="842759"/>
            <a:ext cx="5415415" cy="4543629"/>
          </a:xfrm>
          <a:prstGeom xmlns:a="http://schemas.openxmlformats.org/drawingml/2006/main" prst="rect">
            <a:avLst/>
          </a:prstGeom>
        </p:spPr>
      </p:pic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07e4ebe894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1" y="842759"/>
            <a:ext cx="5310186" cy="56151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5846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0711D67-FCB0-95EB-7A91-7551D48C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1" y="182245"/>
            <a:ext cx="56959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核心模块详细设计（二）作业管理模块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4F6463DF-F14A-8BAC-F9D7-9A1D3D4B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78" y="1120676"/>
            <a:ext cx="5818585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333333"/>
                </a:solidFill>
              </a:rPr>
              <a:t>功能说明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教师创建作业：标题、学科、班级、截止日期与题目列表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题目支持选择题、填空题、简答题，配置标准答案、关键词、分值和批改模式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学生按班级查看待完成作业，可重新提交并覆盖旧批改结果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教师查看提交列表、批改详情，并添加文字批注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B364306-72A2-DFD5-71D0-9DD2EBB9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78" y="3536434"/>
            <a:ext cx="630793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</a:rPr>
              <a:t>关键接口</a:t>
            </a:r>
          </a:p>
        </p:txBody>
      </p:sp>
      <p:pic>
        <p:nvPicPr>
          <p:cNvPr id="12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67883f95c46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641" y="4013200"/>
            <a:ext cx="8261747" cy="23432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988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FE7101F-BB1F-B296-CDBF-96567066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1" y="182245"/>
            <a:ext cx="56959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核心模块详细设计（三）</a:t>
            </a: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OCR</a:t>
            </a: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识别模块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24D1B49-337B-9340-240F-BC8162E9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428"/>
            <a:ext cx="5986463" cy="4524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333333"/>
                </a:solidFill>
              </a:rPr>
              <a:t>图像预处理流程（OpenCV）</a:t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原始图片 → 灰度化 → 高斯去噪 → 自适应二值化 → 倾斜校正 → OCR 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OCR 识别流程</a:t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1. Spring Boot 后端接收上传图片并调用 Flask OCR 微服务</a:t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2. OCR 服务完成预处理后调用 PaddleOCR，返回文本与位置坐标</a:t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3. 后端按题号、标准答案与关键词完成答案对齐</a:t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4. 识别结果进入批改引擎，写入提交与逐题得分记录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BA8DDB4-92A6-007B-54AE-D3CD5804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070" y="857428"/>
            <a:ext cx="6307930" cy="2031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333333"/>
                </a:solidFill>
              </a:rPr>
              <a:t>技术亮点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PaddleOCR 支持中文/英文识别，首次加载后续请求约 2-5s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Mock/演示兜底：OCR 服务不可用时流程不中断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MKLDNN CPU 推理加速，降低本地部署门槛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题号匹配、标准答案回溯与噪声过滤提升批改稳定性</a:t>
            </a:r>
          </a:p>
        </p:txBody>
      </p:sp>
    </p:spTree>
    <p:extLst>
      <p:ext uri="{BB962C8B-B14F-4D97-AF65-F5344CB8AC3E}">
        <p14:creationId xmlns:p14="http://schemas.microsoft.com/office/powerpoint/2010/main" val="36067554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280EF62-B77C-7A6D-664B-1F8A86B5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1" y="182245"/>
            <a:ext cx="56959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核心模块详细设计（三）</a:t>
            </a: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OCR</a:t>
            </a: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识别模块</a:t>
            </a:r>
          </a:p>
        </p:txBody>
      </p:sp>
      <p:pic>
        <p:nvPicPr>
          <p:cNvPr id="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e39f0987048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80" y="643910"/>
            <a:ext cx="6032320" cy="4930340"/>
          </a:xfrm>
          <a:prstGeom xmlns:a="http://schemas.openxmlformats.org/drawingml/2006/main" prst="rect">
            <a:avLst/>
          </a:prstGeom>
        </p:spPr>
      </p:pic>
      <p:pic>
        <p:nvPicPr>
          <p:cNvPr id="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74d1b60aa4c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483615"/>
            <a:ext cx="5654530" cy="58907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3614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8E5BB06-9796-0965-AD4B-08A9089B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1" y="182245"/>
            <a:ext cx="56959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核心模块详细设计（三）</a:t>
            </a: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OCR</a:t>
            </a: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识别模块</a:t>
            </a:r>
          </a:p>
        </p:txBody>
      </p:sp>
      <p:pic>
        <p:nvPicPr>
          <p:cNvPr id="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ce34514ef4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60959"/>
            <a:ext cx="5593565" cy="2766300"/>
          </a:xfrm>
          <a:prstGeom xmlns:a="http://schemas.openxmlformats.org/drawingml/2006/main" prst="rect">
            <a:avLst/>
          </a:prstGeom>
        </p:spPr>
      </p:pic>
      <p:pic>
        <p:nvPicPr>
          <p:cNvPr id="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9ab6d6fb444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9303" y="829647"/>
            <a:ext cx="5730737" cy="46790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53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982794A-AAFC-4D6E-8778-3239397C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541686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核心模块详细设计（四）自动批改引擎</a:t>
            </a:r>
          </a:p>
        </p:txBody>
      </p:sp>
      <p:sp>
        <p:nvSpPr>
          <p:cNvPr id="11" name="TextBox 24">
            <a:extLst xmlns:a="http://schemas.openxmlformats.org/drawingml/2006/main">
              <a:ext uri="{FF2B5EF4-FFF2-40B4-BE49-F238E27FC236}">
                <a16:creationId xmlns:a16="http://schemas.microsoft.com/office/drawing/2014/main" id="{4DFAB33A-07EC-46D4-8FD5-884D62AA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4" y="947557"/>
            <a:ext cx="1728866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5400000" scaled="1"/>
                </a:gradFill>
                <a:latin typeface="+mj-lt"/>
                <a:ea typeface="+mj-lt"/>
                <a:cs typeface="+mj-lt"/>
              </a:rPr>
              <a:t> </a:t>
            </a:r>
            <a:r>
              <a:rPr sz="280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5400000" scaled="1"/>
                </a:gradFill>
                <a:latin typeface="+mj-lt"/>
                <a:ea typeface="+mj-lt"/>
                <a:cs typeface="+mj-lt"/>
              </a:rPr>
              <a:t>批改策略</a:t>
            </a:r>
          </a:p>
        </p:txBody>
      </p:sp>
      <p:pic>
        <p:nvPicPr>
          <p:cNvPr id="3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42c6666494c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pic>
        <p:nvPicPr>
          <p:cNvPr id="32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f53ea7c324c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660" y="1812976"/>
            <a:ext cx="10274129" cy="304307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62A043D4-5DE3-BCCD-EE4E-CE4F9645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38" y="5231464"/>
            <a:ext cx="9345949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333333"/>
                </a:solidFill>
              </a:rPr>
              <a:t>批改结果数据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每题记录：学生答案、判定结果（正确/错误/部分正确）、得分、满分与反馈信息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支持精确匹配、关键词匹配和人工复核/批注，覆盖选择题、填空题、简答题</a:t>
            </a:r>
          </a:p>
        </p:txBody>
      </p:sp>
    </p:spTree>
    <p:extLst>
      <p:ext uri="{BB962C8B-B14F-4D97-AF65-F5344CB8AC3E}">
        <p14:creationId xmlns:p14="http://schemas.microsoft.com/office/powerpoint/2010/main" val="52870382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9A64BCE6-976C-5AC7-CCE6-8DA55B87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541686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核心模块详细设计（四）自动批改引擎</a:t>
            </a:r>
          </a:p>
        </p:txBody>
      </p:sp>
      <p:pic>
        <p:nvPicPr>
          <p:cNvPr id="6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0edd6c46d4b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pic>
        <p:nvPicPr>
          <p:cNvPr id="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5221aeeaa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352" y="821938"/>
            <a:ext cx="10470246" cy="55280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554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729A8D50-B693-2B63-A655-B5E0213B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541686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核心模块详细设计（四）自动批改引擎</a:t>
            </a:r>
          </a:p>
        </p:txBody>
      </p:sp>
      <p:pic>
        <p:nvPicPr>
          <p:cNvPr id="7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a39c37bd748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pic>
        <p:nvPicPr>
          <p:cNvPr id="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066e1944a4a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8846" y="811347"/>
            <a:ext cx="5964791" cy="4617903"/>
          </a:xfrm>
          <a:prstGeom xmlns:a="http://schemas.openxmlformats.org/drawingml/2006/main" prst="rect">
            <a:avLst/>
          </a:prstGeom>
        </p:spPr>
      </p:pic>
      <p:pic>
        <p:nvPicPr>
          <p:cNvPr id="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a07f9e4e14c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46136" y="3193562"/>
            <a:ext cx="5700254" cy="35207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2328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5EB4EB27-CE9C-2B7E-CF93-CBE2DEDB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604364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核心模块详细设计（四）</a:t>
            </a: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—— </a:t>
            </a: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自动批改引擎</a:t>
            </a:r>
          </a:p>
        </p:txBody>
      </p:sp>
      <p:pic>
        <p:nvPicPr>
          <p:cNvPr id="8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7fae634504f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pic>
        <p:nvPicPr>
          <p:cNvPr id="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aa8f8ccda49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2" y="772236"/>
            <a:ext cx="4957762" cy="4858075"/>
          </a:xfrm>
          <a:prstGeom xmlns:a="http://schemas.openxmlformats.org/drawingml/2006/main" prst="rect">
            <a:avLst/>
          </a:prstGeom>
        </p:spPr>
      </p:pic>
      <p:pic>
        <p:nvPicPr>
          <p:cNvPr id="1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fbc51277c46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1401" y="772236"/>
            <a:ext cx="5208500" cy="3798578"/>
          </a:xfrm>
          <a:prstGeom xmlns:a="http://schemas.openxmlformats.org/drawingml/2006/main" prst="rect">
            <a:avLst/>
          </a:prstGeom>
        </p:spPr>
      </p:pic>
      <p:pic>
        <p:nvPicPr>
          <p:cNvPr id="11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49935842a43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7176" y="4570814"/>
            <a:ext cx="4026456" cy="23643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180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3B2C18C-2E32-EABB-52C5-FEABDCBA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548579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核心模块详细设计（五）统计分析模块</a:t>
            </a: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 </a:t>
            </a:r>
          </a:p>
        </p:txBody>
      </p:sp>
      <p:pic>
        <p:nvPicPr>
          <p:cNvPr id="18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3d048ae134c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B213B7A-BF58-5AA0-2AAB-7EFA20C0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6" y="781915"/>
            <a:ext cx="630793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</a:rPr>
              <a:t>统计维度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1A9694A-44D2-F828-3BA3-A6B6EB99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070" y="751732"/>
            <a:ext cx="630793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333333"/>
                </a:solidFill>
              </a:rPr>
              <a:t>实现方式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后端按作业、班级、学生维度实时聚合提交与批改结果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教师端展示班级整体成绩、题目正确率与提交完成情况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学生端展示个人成绩、批改详情与历史提交趋势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统计表预留扩展，后续可加入定时汇总提升大数据量查询性能</a:t>
            </a:r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2f8fc13ea45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516" y="1181875"/>
            <a:ext cx="5235394" cy="1691787"/>
          </a:xfrm>
          <a:prstGeom xmlns:a="http://schemas.openxmlformats.org/drawingml/2006/main" prst="rect">
            <a:avLst/>
          </a:prstGeom>
        </p:spPr>
      </p:pic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B07877F-BAA7-09DA-6CCC-13A7BF6F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8" y="2965131"/>
            <a:ext cx="641508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</a:rPr>
              <a:t>关键接口</a:t>
            </a:r>
          </a:p>
        </p:txBody>
      </p:sp>
      <p:pic>
        <p:nvPicPr>
          <p:cNvPr id="2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7775e2c334e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4890" y="3334463"/>
            <a:ext cx="6485182" cy="34216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0200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0DC4AF6-80BF-43DE-95BB-48B46C17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172354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数据库设计</a:t>
            </a:r>
          </a:p>
        </p:txBody>
      </p:sp>
      <p:pic>
        <p:nvPicPr>
          <p:cNvPr id="1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9433c9d5a42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pic>
        <p:nvPicPr>
          <p:cNvPr id="14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2446ec4a548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65103"/>
            <a:ext cx="4300538" cy="5992897"/>
          </a:xfrm>
          <a:prstGeom xmlns:a="http://schemas.openxmlformats.org/drawingml/2006/main" prst="rect">
            <a:avLst/>
          </a:prstGeom>
        </p:spPr>
      </p:pic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7AEA348-A3BE-DFA7-650A-A90C5A51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53" y="5076704"/>
            <a:ext cx="630793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333333"/>
                </a:solidFill>
              </a:rPr>
              <a:t>- 8 张核心业务表：用户、班级、成员、作业、题目、提交、批改结果、教师批注</a:t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- 预留 OCR 结果与统计扩展表；统一 utf8mb4 字符集，MyBatis-Plus 维护逻辑删除与驼峰映射</a:t>
            </a:r>
          </a:p>
        </p:txBody>
      </p:sp>
      <p:pic>
        <p:nvPicPr>
          <p:cNvPr id="16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99206413d4a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1653" y="983767"/>
            <a:ext cx="8390347" cy="38331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630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8F948E8-DFC9-457E-8FCF-A61976E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27910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Android </a:t>
            </a:r>
            <a:r>
              <a: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客户端设计</a:t>
            </a:r>
          </a:p>
        </p:txBody>
      </p:sp>
      <p:pic>
        <p:nvPicPr>
          <p:cNvPr id="14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38a215dd847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5D7250D-DD10-E15B-DDE3-E2C457F6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8" y="1028611"/>
            <a:ext cx="6307930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</a:rPr>
              <a:t>架构模式：</a:t>
            </a:r>
            <a:r>
              <a:rPr>
                <a:solidFill>
                  <a:srgbClr val="FF0000"/>
                </a:solidFill>
              </a:rPr>
              <a:t>MVVM</a:t>
            </a:r>
          </a:p>
          <a:p xmlns:a="http://schemas.openxmlformats.org/drawingml/2006/main"/>
          <a:p xmlns:a="http://schemas.openxmlformats.org/drawingml/2006/main">
            <a:r>
              <a:t>View (Activity/Fragment) ←→ </a:t>
            </a:r>
            <a:r>
              <a:t>ViewModel</a:t>
            </a:r>
            <a:r>
              <a:t> ←→ Repository ←→ Retrofit API / Room DB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D42335D-E54C-B483-E86D-8918B2BC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8" y="2451187"/>
            <a:ext cx="630793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</a:rPr>
              <a:t>功能页面</a:t>
            </a:r>
          </a:p>
        </p:txBody>
      </p:sp>
      <p:pic>
        <p:nvPicPr>
          <p:cNvPr id="1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9730b25014b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638" y="2836859"/>
            <a:ext cx="8070279" cy="3734124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0717FDB1-B64C-8439-A97D-384B5827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329" y="973859"/>
            <a:ext cx="630793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333333"/>
                </a:solidFill>
              </a:rPr>
              <a:t>关键特性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Hilt 依赖注入管理 Repository、网络服务与本地偏好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Coroutine 处理异步网络请求，Retrofit 对接后端 REST API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FileProvider 适配拍照上传，支持相机和相册两种图片来源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- 教师/学生端底部导航分流，批改详情页复用展示原图、OCR 与得分</a:t>
            </a:r>
          </a:p>
        </p:txBody>
      </p:sp>
    </p:spTree>
    <p:extLst>
      <p:ext uri="{BB962C8B-B14F-4D97-AF65-F5344CB8AC3E}">
        <p14:creationId xmlns:p14="http://schemas.microsoft.com/office/powerpoint/2010/main" val="56574884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89B9169-602F-CE50-EBCB-F2650970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237866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E5C83"/>
                </a:solidFill>
                <a:latin typeface="+mj-ea"/>
                <a:ea typeface="+mj-ea"/>
                <a:cs typeface="+mj-ea"/>
              </a:rPr>
              <a:t>当前已完成工作</a:t>
            </a:r>
          </a:p>
        </p:txBody>
      </p:sp>
      <p:pic>
        <p:nvPicPr>
          <p:cNvPr id="66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f00a3fa04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7A9B6C6-D8C5-8D95-9FE8-8B92999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03" y="849303"/>
            <a:ext cx="6307930" cy="3416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</a:rPr>
              <a:t>后端（Spring Boot）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用户注册/登录、JWT 鉴权与角色权限控制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作业、题目、提交、批改结果、批注等核心接口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OCR 调用、答案对齐、自动批改和重新提交处理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统计分析接口与 Swagger/Knife4j 接口文档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650E04E-3B40-611A-0F02-925E47EB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1" y="4536893"/>
            <a:ext cx="6307930" cy="2031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</a:rPr>
              <a:t>OCR 微服务（Python Flask）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Flask RESTful 服务与健康检查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OpenCV 图像预处理：去噪、二值化、倾斜校正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PaddleOCR 中英文识别与位置坐标返回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服务不可用时启用演示兜底文本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4C76240-54C6-A03A-BBE0-9661816E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541" y="890916"/>
            <a:ext cx="6307930" cy="2031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</a:rPr>
              <a:t>Android 客户端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MVVM + Hilt + Retrofit2 项目框架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登录/注册、教师端/学生端主界面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作业列表、拍照/相册上传、提交记录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批改详情展示：原图、OCR、逐题得分和反馈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1000A48-DC9F-417F-BF93-5567F424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696" y="4509568"/>
            <a:ext cx="530185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</a:rPr>
              <a:t>交付与验证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Docker Compose 一键启动后端、MySQL、Redis、OCR 服务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- 7 份项目文档、8 张 OCR 测试图片</a:t>
            </a:r>
          </a:p>
          <a:p xmlns:a="http://schemas.openxmlformats.org/drawingml/2006/main">
            <a:r>
              <a:rPr sz="1200">
                <a:solidFill>
                  <a:srgbClr val="333333"/>
                </a:solidFill>
              </a:rPr>
              <a:t>- 单元/集成/确认测试报告均已完成</a:t>
            </a:r>
          </a:p>
        </p:txBody>
      </p:sp>
      <p:sp>
        <p:nvSpPr>
          <p:cNvPr id="12" name="cover-slide19-body">
            <a:extLst xmlns:a="http://schemas.openxmlformats.org/drawingml/2006/main">
              <a:ext uri="{FF2B5EF4-FFF2-40B4-BE49-F238E27FC236}">
                <a16:creationId xmlns:a16="http://schemas.microsoft.com/office/drawing/2014/main" id="{D820E10C-067C-4100-AFC0-E9BDF39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1430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mmary-card">
            <a:extLst xmlns:a="http://schemas.openxmlformats.org/drawingml/2006/main">
              <a:ext uri="{FF2B5EF4-FFF2-40B4-BE49-F238E27FC236}">
                <a16:creationId xmlns:a16="http://schemas.microsoft.com/office/drawing/2014/main" id="{311CAE9A-B023-4C2A-90A4-EDEA438C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14" name="summary-card-header">
            <a:extLst xmlns:a="http://schemas.openxmlformats.org/drawingml/2006/main">
              <a:ext uri="{FF2B5EF4-FFF2-40B4-BE49-F238E27FC236}">
                <a16:creationId xmlns:a16="http://schemas.microsoft.com/office/drawing/2014/main" id="{5E038D22-7EDA-41C4-BD73-737817AA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15" name="polish-text">
            <a:extLst xmlns:a="http://schemas.openxmlformats.org/drawingml/2006/main">
              <a:ext uri="{FF2B5EF4-FFF2-40B4-BE49-F238E27FC236}">
                <a16:creationId xmlns:a16="http://schemas.microsoft.com/office/drawing/2014/main" id="{83A7B0C6-26B8-4A8A-82FB-4B9A15E0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后端服务</a:t>
            </a:r>
          </a:p>
        </p:txBody>
      </p:sp>
      <p:sp>
        <p:nvSpPr>
          <p:cNvPr id="16" name="polish-text">
            <a:extLst xmlns:a="http://schemas.openxmlformats.org/drawingml/2006/main">
              <a:ext uri="{FF2B5EF4-FFF2-40B4-BE49-F238E27FC236}">
                <a16:creationId xmlns:a16="http://schemas.microsoft.com/office/drawing/2014/main" id="{EECB635A-D57F-4F37-81BE-92896199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705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JWT 鉴权、角色权限、作业/题目/提交/批改/批注接口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OCR 调用、答案对齐、自动批改和重新提交处理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统计分析接口与 Swagger/Knife4j 文档</a:t>
            </a:r>
          </a:p>
        </p:txBody>
      </p:sp>
      <p:sp>
        <p:nvSpPr>
          <p:cNvPr id="17" name="summary-card">
            <a:extLst xmlns:a="http://schemas.openxmlformats.org/drawingml/2006/main">
              <a:ext uri="{FF2B5EF4-FFF2-40B4-BE49-F238E27FC236}">
                <a16:creationId xmlns:a16="http://schemas.microsoft.com/office/drawing/2014/main" id="{36F28FEB-4A4A-4628-9358-A96F9733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9906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18" name="summary-card-header">
            <a:extLst xmlns:a="http://schemas.openxmlformats.org/drawingml/2006/main">
              <a:ext uri="{FF2B5EF4-FFF2-40B4-BE49-F238E27FC236}">
                <a16:creationId xmlns:a16="http://schemas.microsoft.com/office/drawing/2014/main" id="{20BF8816-D214-4954-B66B-217B1421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9906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19" name="polish-text">
            <a:extLst xmlns:a="http://schemas.openxmlformats.org/drawingml/2006/main">
              <a:ext uri="{FF2B5EF4-FFF2-40B4-BE49-F238E27FC236}">
                <a16:creationId xmlns:a16="http://schemas.microsoft.com/office/drawing/2014/main" id="{BCBBB158-042B-4042-89D1-ADA7BAF1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572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Android 客户端</a:t>
            </a:r>
          </a:p>
        </p:txBody>
      </p:sp>
      <p:sp>
        <p:nvSpPr>
          <p:cNvPr id="20" name="polish-text">
            <a:extLst xmlns:a="http://schemas.openxmlformats.org/drawingml/2006/main">
              <a:ext uri="{FF2B5EF4-FFF2-40B4-BE49-F238E27FC236}">
                <a16:creationId xmlns:a16="http://schemas.microsoft.com/office/drawing/2014/main" id="{6ADE9BD1-9204-436C-9326-BD6D2484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04950"/>
            <a:ext cx="4705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MVVM + Hilt + Retrofit2 项目框架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登录/注册、教师端/学生端主界面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作业列表、拍照/相册上传、批改详情与提交记录</a:t>
            </a:r>
          </a:p>
        </p:txBody>
      </p:sp>
      <p:sp>
        <p:nvSpPr>
          <p:cNvPr id="21" name="summary-card">
            <a:extLst xmlns:a="http://schemas.openxmlformats.org/drawingml/2006/main">
              <a:ext uri="{FF2B5EF4-FFF2-40B4-BE49-F238E27FC236}">
                <a16:creationId xmlns:a16="http://schemas.microsoft.com/office/drawing/2014/main" id="{5B2441DD-FD4B-4DE8-AF52-A81D0DFC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22" name="summary-card-header">
            <a:extLst xmlns:a="http://schemas.openxmlformats.org/drawingml/2006/main">
              <a:ext uri="{FF2B5EF4-FFF2-40B4-BE49-F238E27FC236}">
                <a16:creationId xmlns:a16="http://schemas.microsoft.com/office/drawing/2014/main" id="{91169D5F-ED5B-4E1B-8D60-DA5CC6A5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23" name="polish-text">
            <a:extLst xmlns:a="http://schemas.openxmlformats.org/drawingml/2006/main">
              <a:ext uri="{FF2B5EF4-FFF2-40B4-BE49-F238E27FC236}">
                <a16:creationId xmlns:a16="http://schemas.microsoft.com/office/drawing/2014/main" id="{F3314A6B-963C-4796-A83C-0CD9CCE1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OCR 微服务</a:t>
            </a:r>
          </a:p>
        </p:txBody>
      </p:sp>
      <p:sp>
        <p:nvSpPr>
          <p:cNvPr id="24" name="polish-text">
            <a:extLst xmlns:a="http://schemas.openxmlformats.org/drawingml/2006/main">
              <a:ext uri="{FF2B5EF4-FFF2-40B4-BE49-F238E27FC236}">
                <a16:creationId xmlns:a16="http://schemas.microsoft.com/office/drawing/2014/main" id="{BB6CDA81-CB07-4736-AB66-35ACD196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4705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Flask RESTful 服务与健康检查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OpenCV 预处理：去噪、二值化、倾斜校正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PaddleOCR 识别、位置坐标返回与演示兜底</a:t>
            </a:r>
          </a:p>
        </p:txBody>
      </p:sp>
      <p:sp>
        <p:nvSpPr>
          <p:cNvPr id="25" name="summary-card">
            <a:extLst xmlns:a="http://schemas.openxmlformats.org/drawingml/2006/main">
              <a:ext uri="{FF2B5EF4-FFF2-40B4-BE49-F238E27FC236}">
                <a16:creationId xmlns:a16="http://schemas.microsoft.com/office/drawing/2014/main" id="{349B1758-3A3A-4B67-918E-2EA15930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26" name="summary-card-header">
            <a:extLst xmlns:a="http://schemas.openxmlformats.org/drawingml/2006/main">
              <a:ext uri="{FF2B5EF4-FFF2-40B4-BE49-F238E27FC236}">
                <a16:creationId xmlns:a16="http://schemas.microsoft.com/office/drawing/2014/main" id="{6F44CA0A-A78F-4600-873C-4ABF4E03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27" name="polish-text">
            <a:extLst xmlns:a="http://schemas.openxmlformats.org/drawingml/2006/main">
              <a:ext uri="{FF2B5EF4-FFF2-40B4-BE49-F238E27FC236}">
                <a16:creationId xmlns:a16="http://schemas.microsoft.com/office/drawing/2014/main" id="{EA381C4D-5B61-4455-995A-57B8FE9F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861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交付与验证</a:t>
            </a:r>
          </a:p>
        </p:txBody>
      </p:sp>
      <p:sp>
        <p:nvSpPr>
          <p:cNvPr id="28" name="polish-text">
            <a:extLst xmlns:a="http://schemas.openxmlformats.org/drawingml/2006/main">
              <a:ext uri="{FF2B5EF4-FFF2-40B4-BE49-F238E27FC236}">
                <a16:creationId xmlns:a16="http://schemas.microsoft.com/office/drawing/2014/main" id="{CF8ECB9E-B68F-4FC3-B94D-0DB6A36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4705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Docker Compose 一键启动后端、MySQL、Redis、OCR 服务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7 份项目文档、8 张 OCR 测试图片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单元、集成、确认测试报告均已完成</a:t>
            </a:r>
          </a:p>
        </p:txBody>
      </p:sp>
      <p:sp>
        <p:nvSpPr>
          <p:cNvPr id="30" name="cover-slide19">
            <a:extLst xmlns:a="http://schemas.openxmlformats.org/drawingml/2006/main">
              <a:ext uri="{FF2B5EF4-FFF2-40B4-BE49-F238E27FC236}">
                <a16:creationId xmlns:a16="http://schemas.microsoft.com/office/drawing/2014/main" id="{E4C7602D-1C90-4CC7-858A-705F9851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1430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port-card">
            <a:extLst xmlns:a="http://schemas.openxmlformats.org/drawingml/2006/main">
              <a:ext uri="{FF2B5EF4-FFF2-40B4-BE49-F238E27FC236}">
                <a16:creationId xmlns:a16="http://schemas.microsoft.com/office/drawing/2014/main" id="{22054791-E97D-4006-9416-A55EFBCC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32" name="report-card-header">
            <a:extLst xmlns:a="http://schemas.openxmlformats.org/drawingml/2006/main">
              <a:ext uri="{FF2B5EF4-FFF2-40B4-BE49-F238E27FC236}">
                <a16:creationId xmlns:a16="http://schemas.microsoft.com/office/drawing/2014/main" id="{9AF0CC20-3775-461E-8FB1-BE85A23A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33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116B69BC-5213-4C0B-92C7-B55CD15C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完整业务闭环</a:t>
            </a:r>
          </a:p>
        </p:txBody>
      </p:sp>
      <p:sp>
        <p:nvSpPr>
          <p:cNvPr id="34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B4314C87-8E33-4583-BBF1-92E9DB6E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47053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教师创建多题作业并配置标准答案/关键词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学生拍照或相册上传手写作业图片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OCR 识别、答案对齐、自动批改、结果反馈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教师查看提交、添加批注，学生查看错题与历史成绩</a:t>
            </a:r>
          </a:p>
        </p:txBody>
      </p:sp>
      <p:sp>
        <p:nvSpPr>
          <p:cNvPr id="35" name="report-card">
            <a:extLst xmlns:a="http://schemas.openxmlformats.org/drawingml/2006/main">
              <a:ext uri="{FF2B5EF4-FFF2-40B4-BE49-F238E27FC236}">
                <a16:creationId xmlns:a16="http://schemas.microsoft.com/office/drawing/2014/main" id="{86B88961-82CA-40A2-8E09-FE47C418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9906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36" name="report-card-header">
            <a:extLst xmlns:a="http://schemas.openxmlformats.org/drawingml/2006/main">
              <a:ext uri="{FF2B5EF4-FFF2-40B4-BE49-F238E27FC236}">
                <a16:creationId xmlns:a16="http://schemas.microsoft.com/office/drawing/2014/main" id="{A6858319-7FAB-4218-8A7C-691DEBEE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9906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37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76777106-300D-4205-94A6-7B78EA24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572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系统实现成果</a:t>
            </a:r>
          </a:p>
        </p:txBody>
      </p:sp>
      <p:sp>
        <p:nvSpPr>
          <p:cNvPr id="38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263B9F1B-C53D-4183-846C-A1A8B05D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14475"/>
            <a:ext cx="47053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Android 客户端 + Spring Boot 后端 + Flask OCR 微服务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MySQL/Redis 数据与缓存支撑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PaddleOCR + OpenCV 完成识别与预处理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Docker Compose 一键启动后端、数据库、缓存与 OCR 服务</a:t>
            </a:r>
          </a:p>
        </p:txBody>
      </p:sp>
      <p:sp>
        <p:nvSpPr>
          <p:cNvPr id="39" name="report-card">
            <a:extLst xmlns:a="http://schemas.openxmlformats.org/drawingml/2006/main">
              <a:ext uri="{FF2B5EF4-FFF2-40B4-BE49-F238E27FC236}">
                <a16:creationId xmlns:a16="http://schemas.microsoft.com/office/drawing/2014/main" id="{6A98D25B-F23D-4FBD-A146-CC840931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40" name="report-card-header">
            <a:extLst xmlns:a="http://schemas.openxmlformats.org/drawingml/2006/main">
              <a:ext uri="{FF2B5EF4-FFF2-40B4-BE49-F238E27FC236}">
                <a16:creationId xmlns:a16="http://schemas.microsoft.com/office/drawing/2014/main" id="{CE60DA8F-6CE7-422F-BBD9-D4640EBC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41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80044D59-F918-42BF-9B0A-42656712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测试与质量保证</a:t>
            </a:r>
          </a:p>
        </p:txBody>
      </p:sp>
      <p:sp>
        <p:nvSpPr>
          <p:cNvPr id="42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CBC19A43-97E7-4418-9E0B-DE436B03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47053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单元测试 28/28，通过率 100%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集成测试 18/18，通过率 100%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确认测试 28/28，通过率 100%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覆盖认证、作业、提交、OCR、批改、统计与部署</a:t>
            </a:r>
          </a:p>
        </p:txBody>
      </p:sp>
      <p:sp>
        <p:nvSpPr>
          <p:cNvPr id="43" name="report-card">
            <a:extLst xmlns:a="http://schemas.openxmlformats.org/drawingml/2006/main">
              <a:ext uri="{FF2B5EF4-FFF2-40B4-BE49-F238E27FC236}">
                <a16:creationId xmlns:a16="http://schemas.microsoft.com/office/drawing/2014/main" id="{A853CEAD-1524-49DD-AB20-AD9648AD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44" name="report-card-header">
            <a:extLst xmlns:a="http://schemas.openxmlformats.org/drawingml/2006/main">
              <a:ext uri="{FF2B5EF4-FFF2-40B4-BE49-F238E27FC236}">
                <a16:creationId xmlns:a16="http://schemas.microsoft.com/office/drawing/2014/main" id="{31C3FC69-945C-49A5-95A1-EC8D4D4E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45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664C68BD-2DA7-4E77-B8C4-2ABDAFE1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861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交付物</a:t>
            </a:r>
          </a:p>
        </p:txBody>
      </p:sp>
      <p:sp>
        <p:nvSpPr>
          <p:cNvPr id="46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598878CA-0B8D-41DE-AEAE-0CBF2A45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43375"/>
            <a:ext cx="47053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项目源代码：android、backend、ocr-service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Docker 编排文件与数据库初始化脚本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7 份项目文档、用户/配置/测试报告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8 张 OCR 演示与测试图片</a:t>
            </a:r>
          </a:p>
        </p:txBody>
      </p:sp>
      <p:sp>
        <p:nvSpPr>
          <p:cNvPr id="48" name="cover-slide19-module">
            <a:extLst xmlns:a="http://schemas.openxmlformats.org/drawingml/2006/main">
              <a:ext uri="{FF2B5EF4-FFF2-40B4-BE49-F238E27FC236}">
                <a16:creationId xmlns:a16="http://schemas.microsoft.com/office/drawing/2014/main" id="{CC5A357B-8451-45A9-BFEE-210737B8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1430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work-card">
            <a:extLst xmlns:a="http://schemas.openxmlformats.org/drawingml/2006/main">
              <a:ext uri="{FF2B5EF4-FFF2-40B4-BE49-F238E27FC236}">
                <a16:creationId xmlns:a16="http://schemas.microsoft.com/office/drawing/2014/main" id="{EC6DC0EB-E042-4C64-B642-DE37D71C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0" name="work-card-header">
            <a:extLst xmlns:a="http://schemas.openxmlformats.org/drawingml/2006/main">
              <a:ext uri="{FF2B5EF4-FFF2-40B4-BE49-F238E27FC236}">
                <a16:creationId xmlns:a16="http://schemas.microsoft.com/office/drawing/2014/main" id="{A8A1A6D2-89AD-4DBD-BDAF-DA7D782C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1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7D468F14-6AA6-4491-84C7-55400A0F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后端与业务闭环已完成</a:t>
            </a:r>
          </a:p>
        </p:txBody>
      </p:sp>
      <p:sp>
        <p:nvSpPr>
          <p:cNvPr id="52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8FE28410-4BD7-43E6-BDFA-B38C99A5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470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登录注册、JWT 鉴权、角色权限控制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作业/题目/提交/批改结果/批注接口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OCR 调用、答案对齐、自动批改、重新提交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教师查看提交，学生查看结果与错题</a:t>
            </a:r>
          </a:p>
        </p:txBody>
      </p:sp>
      <p:sp>
        <p:nvSpPr>
          <p:cNvPr id="53" name="work-card">
            <a:extLst xmlns:a="http://schemas.openxmlformats.org/drawingml/2006/main">
              <a:ext uri="{FF2B5EF4-FFF2-40B4-BE49-F238E27FC236}">
                <a16:creationId xmlns:a16="http://schemas.microsoft.com/office/drawing/2014/main" id="{17B442A7-9F58-416D-BA78-F1D89B08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9906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4" name="work-card-header">
            <a:extLst xmlns:a="http://schemas.openxmlformats.org/drawingml/2006/main">
              <a:ext uri="{FF2B5EF4-FFF2-40B4-BE49-F238E27FC236}">
                <a16:creationId xmlns:a16="http://schemas.microsoft.com/office/drawing/2014/main" id="{C8A3F984-C695-4812-A173-BC98E8FA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9906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5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1791C80A-EC04-4C4C-BA0F-119D8A08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572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Android 客户端已完成</a:t>
            </a:r>
          </a:p>
        </p:txBody>
      </p:sp>
      <p:sp>
        <p:nvSpPr>
          <p:cNvPr id="56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E3BDCC7D-FB65-4AF0-91E5-03F56CE2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14475"/>
            <a:ext cx="470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MVVM + Hilt + Retrofit2 客户端框架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登录/注册、教师端/学生端主界面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作业列表、拍照/相册上传、提交记录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批改详情展示原图、OCR、逐题得分和反馈</a:t>
            </a:r>
          </a:p>
        </p:txBody>
      </p:sp>
      <p:sp>
        <p:nvSpPr>
          <p:cNvPr id="57" name="work-card">
            <a:extLst xmlns:a="http://schemas.openxmlformats.org/drawingml/2006/main">
              <a:ext uri="{FF2B5EF4-FFF2-40B4-BE49-F238E27FC236}">
                <a16:creationId xmlns:a16="http://schemas.microsoft.com/office/drawing/2014/main" id="{1B94989E-45AF-4C6B-A6DB-0968E8E3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8" name="work-card-header">
            <a:extLst xmlns:a="http://schemas.openxmlformats.org/drawingml/2006/main">
              <a:ext uri="{FF2B5EF4-FFF2-40B4-BE49-F238E27FC236}">
                <a16:creationId xmlns:a16="http://schemas.microsoft.com/office/drawing/2014/main" id="{5687DDB5-338E-4D0B-BA5F-F115FFB0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9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C7E50E10-84AD-4D06-ACF4-EF8F3EAC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OCR 与部署已完成</a:t>
            </a:r>
          </a:p>
        </p:txBody>
      </p:sp>
      <p:sp>
        <p:nvSpPr>
          <p:cNvPr id="60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CA014345-EACF-4EA0-8A71-E80E7881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470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Flask OCR 微服务与健康检查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OpenCV 预处理：去噪、二值化、倾斜校正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PaddleOCR 识别与演示兜底机制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Docker Compose 编排 MySQL、Redis、后端、OCR</a:t>
            </a:r>
          </a:p>
        </p:txBody>
      </p:sp>
      <p:sp>
        <p:nvSpPr>
          <p:cNvPr id="61" name="work-card">
            <a:extLst xmlns:a="http://schemas.openxmlformats.org/drawingml/2006/main">
              <a:ext uri="{FF2B5EF4-FFF2-40B4-BE49-F238E27FC236}">
                <a16:creationId xmlns:a16="http://schemas.microsoft.com/office/drawing/2014/main" id="{30FB36D0-DA00-430E-B432-45E209B5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62" name="work-card-header">
            <a:extLst xmlns:a="http://schemas.openxmlformats.org/drawingml/2006/main">
              <a:ext uri="{FF2B5EF4-FFF2-40B4-BE49-F238E27FC236}">
                <a16:creationId xmlns:a16="http://schemas.microsoft.com/office/drawing/2014/main" id="{89180E8D-88DC-408A-87B4-0C892FBD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63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D2AF636D-825B-46B2-8C52-B1E9BF9D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861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测试与文档已完成</a:t>
            </a:r>
          </a:p>
        </p:txBody>
      </p:sp>
      <p:sp>
        <p:nvSpPr>
          <p:cNvPr id="64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2C5FE77B-9FE5-4D79-9DC6-7BA32D7A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43375"/>
            <a:ext cx="470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单元测试 28/28、集成测试 18/18、确认测试 28/28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7 份项目文档和用户/配置/测试报告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数据库初始化脚本与 8 张 OCR 测试图片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结题报告与答辩 PPT</a:t>
            </a:r>
          </a:p>
        </p:txBody>
      </p:sp>
    </p:spTree>
    <p:extLst>
      <p:ext uri="{BB962C8B-B14F-4D97-AF65-F5344CB8AC3E}">
        <p14:creationId xmlns:p14="http://schemas.microsoft.com/office/powerpoint/2010/main" val="329759655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AF21307-BAB7-4F15-A85F-C153179B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357020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E5C83"/>
                </a:solidFill>
                <a:latin typeface="+mj-ea"/>
                <a:ea typeface="+mj-ea"/>
                <a:cs typeface="+mj-ea"/>
              </a:rPr>
              <a:t>测试验证与验收结论</a:t>
            </a:r>
          </a:p>
        </p:txBody>
      </p:sp>
      <p:pic>
        <p:nvPicPr>
          <p:cNvPr id="61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fcde7cb104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90389BB2-61F1-99F9-87F6-93AEA42C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1" y="996553"/>
            <a:ext cx="6307930" cy="3693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333333"/>
                </a:solidFill>
              </a:rPr>
              <a:t>测试验证结果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单元测试：28/28 通过，覆盖批改、提交、认证、OCR、作业模块。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集成测试：18/18 通过，验证 Mapper、服务层、API、OCR 调用和 Docker 编排。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确认测试：28/28 通过，覆盖教师端、学生端、OCR 识别与非功能需求。</a:t>
            </a:r>
          </a:p>
          <a:p xmlns:a="http://schemas.openxmlformats.org/drawingml/2006/main">
            <a:r>
              <a:rPr sz="1350">
                <a:solidFill>
                  <a:srgbClr val="333333"/>
                </a:solidFill>
              </a:rPr>
              <a:t>性能表现：OCR 首次模型加载约 15-25s，后续识别约 2-5s。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9786A20-1C6A-5627-51EF-1A16C049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668" y="3536076"/>
            <a:ext cx="630793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333333"/>
                </a:solidFill>
              </a:rPr>
              <a:t>当前可演示能力</a:t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教师：创建作业、查看提交、查看批改详情、添加批注。</a:t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学生：登录后查看作业，拍照/相册上传，查看 OCR 与逐题得分。</a:t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系统：图片预处理、PaddleOCR 识别、答案对齐、自动批改、结果持久化。</a:t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部署：Docker Compose 可启动后端、MySQL、Redis 与 OCR 微服务。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75">
                <a:solidFill>
                  <a:srgbClr val="333333"/>
                </a:solidFill>
              </a:rPr>
              <a:t>已知限制：潦草手写识别准确率受图片质量影响；简答题当前以关键词匹配为主，语义评分仍需增强。</a:t>
            </a:r>
          </a:p>
        </p:txBody>
      </p:sp>
      <p:sp>
        <p:nvSpPr>
          <p:cNvPr id="16" name="cover-slide20-body">
            <a:extLst xmlns:a="http://schemas.openxmlformats.org/drawingml/2006/main">
              <a:ext uri="{FF2B5EF4-FFF2-40B4-BE49-F238E27FC236}">
                <a16:creationId xmlns:a16="http://schemas.microsoft.com/office/drawing/2014/main" id="{1AA78708-8AF0-48C8-984A-7FEAC4A6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1430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pi-card">
            <a:extLst xmlns:a="http://schemas.openxmlformats.org/drawingml/2006/main">
              <a:ext uri="{FF2B5EF4-FFF2-40B4-BE49-F238E27FC236}">
                <a16:creationId xmlns:a16="http://schemas.microsoft.com/office/drawing/2014/main" id="{BDD7F22F-600C-498A-9CAE-28053BBE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0B47C"/>
            </a:solidFill>
            <a:prstDash val="solid"/>
          </a:ln>
        </p:spPr>
      </p:sp>
      <p:sp>
        <p:nvSpPr>
          <p:cNvPr id="18" name="polish-text">
            <a:extLst xmlns:a="http://schemas.openxmlformats.org/drawingml/2006/main">
              <a:ext uri="{FF2B5EF4-FFF2-40B4-BE49-F238E27FC236}">
                <a16:creationId xmlns:a16="http://schemas.microsoft.com/office/drawing/2014/main" id="{DD91AF67-20E6-4CE6-8810-AC0167A5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单元测试</a:t>
            </a:r>
          </a:p>
        </p:txBody>
      </p:sp>
      <p:sp>
        <p:nvSpPr>
          <p:cNvPr id="19" name="polish-text">
            <a:extLst xmlns:a="http://schemas.openxmlformats.org/drawingml/2006/main">
              <a:ext uri="{FF2B5EF4-FFF2-40B4-BE49-F238E27FC236}">
                <a16:creationId xmlns:a16="http://schemas.microsoft.com/office/drawing/2014/main" id="{EEFF5FB0-F15F-4B8C-A2B6-10B86C1A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28/28</a:t>
            </a:r>
          </a:p>
        </p:txBody>
      </p:sp>
      <p:sp>
        <p:nvSpPr>
          <p:cNvPr id="20" name="polish-text">
            <a:extLst xmlns:a="http://schemas.openxmlformats.org/drawingml/2006/main">
              <a:ext uri="{FF2B5EF4-FFF2-40B4-BE49-F238E27FC236}">
                <a16:creationId xmlns:a16="http://schemas.microsoft.com/office/drawing/2014/main" id="{2A85C48F-623C-4E3A-A87D-50DF0870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rPr>
              <a:t>5 个核心业务模块，100% 通过</a:t>
            </a:r>
          </a:p>
        </p:txBody>
      </p:sp>
      <p:sp>
        <p:nvSpPr>
          <p:cNvPr id="21" name="kpi-card">
            <a:extLst xmlns:a="http://schemas.openxmlformats.org/drawingml/2006/main">
              <a:ext uri="{FF2B5EF4-FFF2-40B4-BE49-F238E27FC236}">
                <a16:creationId xmlns:a16="http://schemas.microsoft.com/office/drawing/2014/main" id="{F4AC4183-F94E-4233-A547-381186BC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00965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0B47C"/>
            </a:solidFill>
            <a:prstDash val="solid"/>
          </a:ln>
        </p:spPr>
      </p:sp>
      <p:sp>
        <p:nvSpPr>
          <p:cNvPr id="22" name="polish-text">
            <a:extLst xmlns:a="http://schemas.openxmlformats.org/drawingml/2006/main">
              <a:ext uri="{FF2B5EF4-FFF2-40B4-BE49-F238E27FC236}">
                <a16:creationId xmlns:a16="http://schemas.microsoft.com/office/drawing/2014/main" id="{6A5AB596-AFE7-4BAB-9BF5-1A0F45CA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104900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集成测试</a:t>
            </a:r>
          </a:p>
        </p:txBody>
      </p:sp>
      <p:sp>
        <p:nvSpPr>
          <p:cNvPr id="23" name="polish-text">
            <a:extLst xmlns:a="http://schemas.openxmlformats.org/drawingml/2006/main">
              <a:ext uri="{FF2B5EF4-FFF2-40B4-BE49-F238E27FC236}">
                <a16:creationId xmlns:a16="http://schemas.microsoft.com/office/drawing/2014/main" id="{BF7AAB8F-A56A-4E4F-AF40-AFE108E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36207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18/18</a:t>
            </a:r>
          </a:p>
        </p:txBody>
      </p:sp>
      <p:sp>
        <p:nvSpPr>
          <p:cNvPr id="24" name="polish-text">
            <a:extLst xmlns:a="http://schemas.openxmlformats.org/drawingml/2006/main">
              <a:ext uri="{FF2B5EF4-FFF2-40B4-BE49-F238E27FC236}">
                <a16:creationId xmlns:a16="http://schemas.microsoft.com/office/drawing/2014/main" id="{42BB7147-0CD0-43BC-B75F-6D2D4343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71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rPr>
              <a:t>数据、服务、API、OCR、Docker</a:t>
            </a:r>
          </a:p>
        </p:txBody>
      </p:sp>
      <p:sp>
        <p:nvSpPr>
          <p:cNvPr id="25" name="kpi-card">
            <a:extLst xmlns:a="http://schemas.openxmlformats.org/drawingml/2006/main">
              <a:ext uri="{FF2B5EF4-FFF2-40B4-BE49-F238E27FC236}">
                <a16:creationId xmlns:a16="http://schemas.microsoft.com/office/drawing/2014/main" id="{6BE7E8EB-683C-4C4A-AFF0-80269EA5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0965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0B47C"/>
            </a:solidFill>
            <a:prstDash val="solid"/>
          </a:ln>
        </p:spPr>
      </p:sp>
      <p:sp>
        <p:nvSpPr>
          <p:cNvPr id="26" name="polish-text">
            <a:extLst xmlns:a="http://schemas.openxmlformats.org/drawingml/2006/main">
              <a:ext uri="{FF2B5EF4-FFF2-40B4-BE49-F238E27FC236}">
                <a16:creationId xmlns:a16="http://schemas.microsoft.com/office/drawing/2014/main" id="{6CFABAC6-55A6-4885-8A72-9749D7C0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04900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确认测试</a:t>
            </a:r>
          </a:p>
        </p:txBody>
      </p:sp>
      <p:sp>
        <p:nvSpPr>
          <p:cNvPr id="27" name="polish-text">
            <a:extLst xmlns:a="http://schemas.openxmlformats.org/drawingml/2006/main">
              <a:ext uri="{FF2B5EF4-FFF2-40B4-BE49-F238E27FC236}">
                <a16:creationId xmlns:a16="http://schemas.microsoft.com/office/drawing/2014/main" id="{51E75B51-C423-4794-A26C-19FB2A6E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6207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28/28</a:t>
            </a:r>
          </a:p>
        </p:txBody>
      </p:sp>
      <p:sp>
        <p:nvSpPr>
          <p:cNvPr id="28" name="polish-text">
            <a:extLst xmlns:a="http://schemas.openxmlformats.org/drawingml/2006/main">
              <a:ext uri="{FF2B5EF4-FFF2-40B4-BE49-F238E27FC236}">
                <a16:creationId xmlns:a16="http://schemas.microsoft.com/office/drawing/2014/main" id="{80F15647-5480-4CEE-8914-EB97AA9E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71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rPr>
              <a:t>功能与非功能需求全部通过</a:t>
            </a:r>
          </a:p>
        </p:txBody>
      </p:sp>
      <p:sp>
        <p:nvSpPr>
          <p:cNvPr id="29" name="summary-card">
            <a:extLst xmlns:a="http://schemas.openxmlformats.org/drawingml/2006/main">
              <a:ext uri="{FF2B5EF4-FFF2-40B4-BE49-F238E27FC236}">
                <a16:creationId xmlns:a16="http://schemas.microsoft.com/office/drawing/2014/main" id="{69CC1890-872B-4B7A-842A-470C3FF5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1911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30" name="summary-card-header">
            <a:extLst xmlns:a="http://schemas.openxmlformats.org/drawingml/2006/main">
              <a:ext uri="{FF2B5EF4-FFF2-40B4-BE49-F238E27FC236}">
                <a16:creationId xmlns:a16="http://schemas.microsoft.com/office/drawing/2014/main" id="{C1A1DD2F-4EA4-46BD-A13E-BF87F18B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19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31" name="polish-text">
            <a:extLst xmlns:a="http://schemas.openxmlformats.org/drawingml/2006/main">
              <a:ext uri="{FF2B5EF4-FFF2-40B4-BE49-F238E27FC236}">
                <a16:creationId xmlns:a16="http://schemas.microsoft.com/office/drawing/2014/main" id="{93574D90-C33B-49A8-862C-AFC6E98C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96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当前可演示能力</a:t>
            </a:r>
          </a:p>
        </p:txBody>
      </p:sp>
      <p:sp>
        <p:nvSpPr>
          <p:cNvPr id="32" name="polish-text">
            <a:extLst xmlns:a="http://schemas.openxmlformats.org/drawingml/2006/main">
              <a:ext uri="{FF2B5EF4-FFF2-40B4-BE49-F238E27FC236}">
                <a16:creationId xmlns:a16="http://schemas.microsoft.com/office/drawing/2014/main" id="{94FEF98E-1C02-49B2-BAE5-D423158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48482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教师：创建作业、查看提交、查看批改详情、添加批注。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学生：查看作业，拍照/相册上传，查看 OCR 与逐题得分。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系统：图片预处理、PaddleOCR 识别、答案对齐、自动批改、结果持久化。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部署：Docker Compose 可启动后端、MySQL、Redis 与 OCR 微服务。</a:t>
            </a:r>
          </a:p>
        </p:txBody>
      </p:sp>
      <p:sp>
        <p:nvSpPr>
          <p:cNvPr id="33" name="summary-card">
            <a:extLst xmlns:a="http://schemas.openxmlformats.org/drawingml/2006/main">
              <a:ext uri="{FF2B5EF4-FFF2-40B4-BE49-F238E27FC236}">
                <a16:creationId xmlns:a16="http://schemas.microsoft.com/office/drawing/2014/main" id="{A602B57E-9FFB-492A-BE85-8148166E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51911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34" name="summary-card-header">
            <a:extLst xmlns:a="http://schemas.openxmlformats.org/drawingml/2006/main">
              <a:ext uri="{FF2B5EF4-FFF2-40B4-BE49-F238E27FC236}">
                <a16:creationId xmlns:a16="http://schemas.microsoft.com/office/drawing/2014/main" id="{4ABD705D-FCC5-4BF8-A7EB-BF3B1422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519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35" name="polish-text">
            <a:extLst xmlns:a="http://schemas.openxmlformats.org/drawingml/2006/main">
              <a:ext uri="{FF2B5EF4-FFF2-40B4-BE49-F238E27FC236}">
                <a16:creationId xmlns:a16="http://schemas.microsoft.com/office/drawing/2014/main" id="{AB284B40-160D-4C97-88C2-ACF11C02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38425"/>
            <a:ext cx="496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性能与已知限制</a:t>
            </a:r>
          </a:p>
        </p:txBody>
      </p:sp>
      <p:sp>
        <p:nvSpPr>
          <p:cNvPr id="36" name="polish-text">
            <a:extLst xmlns:a="http://schemas.openxmlformats.org/drawingml/2006/main">
              <a:ext uri="{FF2B5EF4-FFF2-40B4-BE49-F238E27FC236}">
                <a16:creationId xmlns:a16="http://schemas.microsoft.com/office/drawing/2014/main" id="{8E70ACA0-5205-40CD-8140-64DA62E5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86100"/>
            <a:ext cx="48482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OCR 首次模型加载约 15-25s，后续识别约 2-5s。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潦草手写识别准确率受图片质量、书写规范程度影响较大。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简答题当前以关键词匹配为主，语义理解评分仍需增强。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管理员端与班级管理能力已有预留，后续继续补齐。</a:t>
            </a:r>
          </a:p>
        </p:txBody>
      </p:sp>
      <p:sp>
        <p:nvSpPr>
          <p:cNvPr id="38" name="cover-slide20">
            <a:extLst xmlns:a="http://schemas.openxmlformats.org/drawingml/2006/main">
              <a:ext uri="{FF2B5EF4-FFF2-40B4-BE49-F238E27FC236}">
                <a16:creationId xmlns:a16="http://schemas.microsoft.com/office/drawing/2014/main" id="{49E5C25E-69AF-42C7-8838-85D39187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1430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kpi-card">
            <a:extLst xmlns:a="http://schemas.openxmlformats.org/drawingml/2006/main">
              <a:ext uri="{FF2B5EF4-FFF2-40B4-BE49-F238E27FC236}">
                <a16:creationId xmlns:a16="http://schemas.microsoft.com/office/drawing/2014/main" id="{63F9AEAF-FE5F-48B4-A051-7B5CC513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0B47C"/>
            </a:solidFill>
            <a:prstDash val="solid"/>
          </a:ln>
        </p:spPr>
      </p:sp>
      <p:sp>
        <p:nvSpPr>
          <p:cNvPr id="40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F80A084B-C565-4CD0-BFA0-010C4C00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单元测试</a:t>
            </a:r>
          </a:p>
        </p:txBody>
      </p:sp>
      <p:sp>
        <p:nvSpPr>
          <p:cNvPr id="41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F541BA77-CAC8-4723-80CA-E22A5966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28/28</a:t>
            </a:r>
          </a:p>
        </p:txBody>
      </p:sp>
      <p:sp>
        <p:nvSpPr>
          <p:cNvPr id="42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FE3EF019-3068-4621-93D5-05C89FB4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rPr>
              <a:t>核心业务模块全部通过</a:t>
            </a:r>
          </a:p>
        </p:txBody>
      </p:sp>
      <p:sp>
        <p:nvSpPr>
          <p:cNvPr id="43" name="kpi-card">
            <a:extLst xmlns:a="http://schemas.openxmlformats.org/drawingml/2006/main">
              <a:ext uri="{FF2B5EF4-FFF2-40B4-BE49-F238E27FC236}">
                <a16:creationId xmlns:a16="http://schemas.microsoft.com/office/drawing/2014/main" id="{CFE7745C-C4B2-4D39-8B61-32363D2A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00965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0B47C"/>
            </a:solidFill>
            <a:prstDash val="solid"/>
          </a:ln>
        </p:spPr>
      </p:sp>
      <p:sp>
        <p:nvSpPr>
          <p:cNvPr id="44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8C63B093-9788-40F5-AF09-38D9B552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104900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集成测试</a:t>
            </a:r>
          </a:p>
        </p:txBody>
      </p:sp>
      <p:sp>
        <p:nvSpPr>
          <p:cNvPr id="45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5E4D7B4F-D1E4-4F71-8DF3-DA229C59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36207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18/18</a:t>
            </a:r>
          </a:p>
        </p:txBody>
      </p:sp>
      <p:sp>
        <p:nvSpPr>
          <p:cNvPr id="46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629234A3-6175-43E3-A61F-21094383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71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rPr>
              <a:t>数据、服务、API、OCR、Docker</a:t>
            </a:r>
          </a:p>
        </p:txBody>
      </p:sp>
      <p:sp>
        <p:nvSpPr>
          <p:cNvPr id="47" name="kpi-card">
            <a:extLst xmlns:a="http://schemas.openxmlformats.org/drawingml/2006/main">
              <a:ext uri="{FF2B5EF4-FFF2-40B4-BE49-F238E27FC236}">
                <a16:creationId xmlns:a16="http://schemas.microsoft.com/office/drawing/2014/main" id="{3D6A25A6-7C4B-49E8-932F-DB030360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0965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0B47C"/>
            </a:solidFill>
            <a:prstDash val="solid"/>
          </a:ln>
        </p:spPr>
      </p:sp>
      <p:sp>
        <p:nvSpPr>
          <p:cNvPr id="48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373997F7-7F05-42B5-947E-70908F98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04900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确认测试</a:t>
            </a:r>
          </a:p>
        </p:txBody>
      </p:sp>
      <p:sp>
        <p:nvSpPr>
          <p:cNvPr id="49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30862327-46C2-4A25-92C3-F8804515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6207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28/28</a:t>
            </a:r>
          </a:p>
        </p:txBody>
      </p:sp>
      <p:sp>
        <p:nvSpPr>
          <p:cNvPr id="50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B70A9F54-47CC-4A3B-8D0A-5C31EA80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71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rPr>
              <a:t>功能与非功能需求全部通过</a:t>
            </a:r>
          </a:p>
        </p:txBody>
      </p:sp>
      <p:sp>
        <p:nvSpPr>
          <p:cNvPr id="51" name="report-card">
            <a:extLst xmlns:a="http://schemas.openxmlformats.org/drawingml/2006/main">
              <a:ext uri="{FF2B5EF4-FFF2-40B4-BE49-F238E27FC236}">
                <a16:creationId xmlns:a16="http://schemas.microsoft.com/office/drawing/2014/main" id="{70D146BA-DA57-44C7-A0E1-E5F21A3C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1911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2" name="report-card-header">
            <a:extLst xmlns:a="http://schemas.openxmlformats.org/drawingml/2006/main">
              <a:ext uri="{FF2B5EF4-FFF2-40B4-BE49-F238E27FC236}">
                <a16:creationId xmlns:a16="http://schemas.microsoft.com/office/drawing/2014/main" id="{89755DD4-66CE-493C-9C68-E1C6F17E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19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3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6729D829-F5E6-42FE-A3EC-0C54E019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96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验收结论</a:t>
            </a:r>
          </a:p>
        </p:txBody>
      </p:sp>
      <p:sp>
        <p:nvSpPr>
          <p:cNvPr id="54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A48067BB-C227-45E9-BF2D-F0615636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48482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系统已达到项目交付标准：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教师端、学生端核心流程完整可用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OCR 识别、答案对齐、自动批改链路可运行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角色权限、密码加密、JWT 鉴权满足安全要求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Docker Compose 能复现后端、MySQL、Redis、OCR 服务运行环境</a:t>
            </a:r>
          </a:p>
        </p:txBody>
      </p:sp>
      <p:sp>
        <p:nvSpPr>
          <p:cNvPr id="55" name="report-card">
            <a:extLst xmlns:a="http://schemas.openxmlformats.org/drawingml/2006/main">
              <a:ext uri="{FF2B5EF4-FFF2-40B4-BE49-F238E27FC236}">
                <a16:creationId xmlns:a16="http://schemas.microsoft.com/office/drawing/2014/main" id="{8647CCD9-F8C5-447A-A96B-7040A9AC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51911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6" name="report-card-header">
            <a:extLst xmlns:a="http://schemas.openxmlformats.org/drawingml/2006/main">
              <a:ext uri="{FF2B5EF4-FFF2-40B4-BE49-F238E27FC236}">
                <a16:creationId xmlns:a16="http://schemas.microsoft.com/office/drawing/2014/main" id="{B90286B0-B8E2-408C-B077-1180662D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519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7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9999813C-3F42-4CF6-9558-0ACCF4A8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38425"/>
            <a:ext cx="496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性能与限制</a:t>
            </a:r>
          </a:p>
        </p:txBody>
      </p:sp>
      <p:sp>
        <p:nvSpPr>
          <p:cNvPr id="58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5C1578D2-0585-43CB-AA39-8DB358D2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95625"/>
            <a:ext cx="48482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OCR 首次模型加载约 15-25s，后续识别约 2-5s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登录/查询/批改详情等 API 响应约 150-300ms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潦草手写仍受图片质量与书写规范影响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• 简答题当前以关键词匹配为主，语义评分可继续增强</a:t>
            </a:r>
          </a:p>
        </p:txBody>
      </p:sp>
    </p:spTree>
    <p:extLst>
      <p:ext uri="{BB962C8B-B14F-4D97-AF65-F5344CB8AC3E}">
        <p14:creationId xmlns:p14="http://schemas.microsoft.com/office/powerpoint/2010/main" val="102418564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A42805BC-47F7-EF03-A33F-8478BEE5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83" y="143693"/>
            <a:ext cx="172354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E5C83"/>
                </a:solidFill>
                <a:latin typeface="+mj-ea"/>
                <a:ea typeface="+mj-ea"/>
                <a:cs typeface="+mj-ea"/>
              </a:rPr>
              <a:t>已完成工作与成员分工</a:t>
            </a:r>
          </a:p>
        </p:txBody>
      </p:sp>
      <p:pic>
        <p:nvPicPr>
          <p:cNvPr id="13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a4a2833bb45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sp>
        <p:nvSpPr>
          <p:cNvPr id="5" name="cover-old-plan">
            <a:extLst xmlns:a="http://schemas.openxmlformats.org/drawingml/2006/main">
              <a:ext uri="{FF2B5EF4-FFF2-40B4-BE49-F238E27FC236}">
                <a16:creationId xmlns:a16="http://schemas.microsoft.com/office/drawing/2014/main" id="{A790B1C4-4B23-481D-B492-5A3CA019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10858500" cy="5238750"/>
          </a:xfrm>
          <a:prstGeom xmlns:a="http://schemas.openxmlformats.org/drawingml/2006/main" prst="roundRect">
            <a:avLst>
              <a:gd name="adj" fmla="val 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lan-header">
            <a:extLst xmlns:a="http://schemas.openxmlformats.org/drawingml/2006/main">
              <a:ext uri="{FF2B5EF4-FFF2-40B4-BE49-F238E27FC236}">
                <a16:creationId xmlns:a16="http://schemas.microsoft.com/office/drawing/2014/main" id="{D145B097-7247-48BA-A663-A9214B2D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103632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97824"/>
          </a:solidFill>
          <a:ln xmlns:a="http://schemas.openxmlformats.org/drawingml/2006/main" w="9525">
            <a:solidFill>
              <a:srgbClr val="E9782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B21578-7C28-4A5F-9519-89C74C39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525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阶段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65706E6-2C71-4DA9-A386-50377641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1525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重点工作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1AA33A4-BE32-45E1-A7B0-4CD29ADF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525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预期产出</a:t>
            </a:r>
          </a:p>
        </p:txBody>
      </p:sp>
      <p:sp>
        <p:nvSpPr>
          <p:cNvPr id="10" name="phase-阶段一">
            <a:extLst xmlns:a="http://schemas.openxmlformats.org/drawingml/2006/main">
              <a:ext uri="{FF2B5EF4-FFF2-40B4-BE49-F238E27FC236}">
                <a16:creationId xmlns:a16="http://schemas.microsoft.com/office/drawing/2014/main" id="{D6FF06E9-0362-4993-B0AC-FBF94403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140970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11" name="work-阶段一">
            <a:extLst xmlns:a="http://schemas.openxmlformats.org/drawingml/2006/main">
              <a:ext uri="{FF2B5EF4-FFF2-40B4-BE49-F238E27FC236}">
                <a16:creationId xmlns:a16="http://schemas.microsoft.com/office/drawing/2014/main" id="{3838F57F-E8BC-47A7-936E-8DB3ED15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04950"/>
            <a:ext cx="46291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12" name="deliverable-阶段一">
            <a:extLst xmlns:a="http://schemas.openxmlformats.org/drawingml/2006/main">
              <a:ext uri="{FF2B5EF4-FFF2-40B4-BE49-F238E27FC236}">
                <a16:creationId xmlns:a16="http://schemas.microsoft.com/office/drawing/2014/main" id="{2AC5A362-99E9-49FA-A725-0598D573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04950"/>
            <a:ext cx="43243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3041480-234C-41DD-912D-D0862AE2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阶段一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3750CA1-4B9E-4D3A-A630-B1B76F18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8115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优化 OCR 效果：补充手写样本、调参预处理流程、完善题号定位与噪声过滤。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87AD73A-C828-4D94-97C7-C8AD5B6C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提升复杂图片下的识别稳定性，形成更完整的测试样本集。</a:t>
            </a:r>
          </a:p>
        </p:txBody>
      </p:sp>
      <p:sp>
        <p:nvSpPr>
          <p:cNvPr id="16" name="phase-阶段二">
            <a:extLst xmlns:a="http://schemas.openxmlformats.org/drawingml/2006/main">
              <a:ext uri="{FF2B5EF4-FFF2-40B4-BE49-F238E27FC236}">
                <a16:creationId xmlns:a16="http://schemas.microsoft.com/office/drawing/2014/main" id="{B58E034C-1961-4A31-8B14-30DD245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40970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17" name="work-阶段二">
            <a:extLst xmlns:a="http://schemas.openxmlformats.org/drawingml/2006/main">
              <a:ext uri="{FF2B5EF4-FFF2-40B4-BE49-F238E27FC236}">
                <a16:creationId xmlns:a16="http://schemas.microsoft.com/office/drawing/2014/main" id="{13132B7D-6BC0-4F3D-941B-D3135A10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7900"/>
            <a:ext cx="46291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18" name="deliverable-阶段二">
            <a:extLst xmlns:a="http://schemas.openxmlformats.org/drawingml/2006/main">
              <a:ext uri="{FF2B5EF4-FFF2-40B4-BE49-F238E27FC236}">
                <a16:creationId xmlns:a16="http://schemas.microsoft.com/office/drawing/2014/main" id="{A8D0A83B-958C-4005-BD61-64820397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43243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8884684-763F-4DC1-8E98-081D9CC5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阶段二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625969A-D0D4-48A8-A72F-09A45D60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241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增强批改策略：在关键词匹配基础上引入语义相似度评分，细化简答题部分得分规则。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2690416-B053-48AB-9DC6-9108FA14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减少简答题误判，提高反馈解释性。</a:t>
            </a:r>
          </a:p>
        </p:txBody>
      </p:sp>
      <p:sp>
        <p:nvSpPr>
          <p:cNvPr id="22" name="phase-阶段三">
            <a:extLst xmlns:a="http://schemas.openxmlformats.org/drawingml/2006/main">
              <a:ext uri="{FF2B5EF4-FFF2-40B4-BE49-F238E27FC236}">
                <a16:creationId xmlns:a16="http://schemas.microsoft.com/office/drawing/2014/main" id="{4E782911-9C71-4221-8A2A-80223E31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40970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23" name="work-阶段三">
            <a:extLst xmlns:a="http://schemas.openxmlformats.org/drawingml/2006/main">
              <a:ext uri="{FF2B5EF4-FFF2-40B4-BE49-F238E27FC236}">
                <a16:creationId xmlns:a16="http://schemas.microsoft.com/office/drawing/2014/main" id="{68AD7CDA-1069-43A7-B0EE-F8C8420A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90850"/>
            <a:ext cx="46291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24" name="deliverable-阶段三">
            <a:extLst xmlns:a="http://schemas.openxmlformats.org/drawingml/2006/main">
              <a:ext uri="{FF2B5EF4-FFF2-40B4-BE49-F238E27FC236}">
                <a16:creationId xmlns:a16="http://schemas.microsoft.com/office/drawing/2014/main" id="{20A7DC13-A788-4C2D-BEF5-6999A0C7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43243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7BDE0B4-A7AB-4D6C-A793-0DC16B65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阶段三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5CA7EAA-F377-462C-96ED-DE56607A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6705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完善班级与管理员能力：补齐班级创建、成员加入、用户管理与权限边界。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47BE962-22FE-4EC3-B9DB-8C6AABF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670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覆盖真实教学组织场景，降低教师使用门槛。</a:t>
            </a:r>
          </a:p>
        </p:txBody>
      </p:sp>
      <p:sp>
        <p:nvSpPr>
          <p:cNvPr id="28" name="phase-阶段四">
            <a:extLst xmlns:a="http://schemas.openxmlformats.org/drawingml/2006/main">
              <a:ext uri="{FF2B5EF4-FFF2-40B4-BE49-F238E27FC236}">
                <a16:creationId xmlns:a16="http://schemas.microsoft.com/office/drawing/2014/main" id="{8BDC44A9-71B3-4452-8498-1946B86B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40970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29" name="work-阶段四">
            <a:extLst xmlns:a="http://schemas.openxmlformats.org/drawingml/2006/main">
              <a:ext uri="{FF2B5EF4-FFF2-40B4-BE49-F238E27FC236}">
                <a16:creationId xmlns:a16="http://schemas.microsoft.com/office/drawing/2014/main" id="{F556CAB9-BE4E-41AB-A3FB-40754FE6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46291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30" name="deliverable-阶段四">
            <a:extLst xmlns:a="http://schemas.openxmlformats.org/drawingml/2006/main">
              <a:ext uri="{FF2B5EF4-FFF2-40B4-BE49-F238E27FC236}">
                <a16:creationId xmlns:a16="http://schemas.microsoft.com/office/drawing/2014/main" id="{DE29645A-AAF1-4740-855C-00A0769D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43243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B46D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E6CAAC3-E7A0-4E3A-8D4A-07D75FB5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阶段四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EB453AA-6A10-406D-BFF0-A2174420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100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强化移动端与部署体验：适配更多 Android 机型，整理演示脚本和生产部署配置。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FC9ABBB-0D3A-4381-9144-E8124A83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100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提升演示稳定性和交付可复现性。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310F0DC-59D7-4B14-BED7-DD374A33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4E7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F4E79"/>
                </a:solidFill>
                <a:latin typeface="Source Han Sans CN"/>
                <a:ea typeface="Source Han Sans CN"/>
                <a:cs typeface="Source Han Sans CN"/>
              </a:rPr>
              <a:t>阶段目标：在现有核心闭环可运行的基础上，优先解决 OCR 准确率和简答题语义评分两个质量瓶颈，再补齐教学管理与运维能力。</a:t>
            </a:r>
          </a:p>
        </p:txBody>
      </p:sp>
      <p:sp>
        <p:nvSpPr>
          <p:cNvPr id="37" name="cover-slide21">
            <a:extLst xmlns:a="http://schemas.openxmlformats.org/drawingml/2006/main">
              <a:ext uri="{FF2B5EF4-FFF2-40B4-BE49-F238E27FC236}">
                <a16:creationId xmlns:a16="http://schemas.microsoft.com/office/drawing/2014/main" id="{8698D3E3-E38E-4A4C-A8AD-00B8212A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1430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00CA7FAB-8532-4FAD-8B84-C83F825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演示图片来自 test-data/ocr-images，可验证工整、潦草、错误与关键词作答场景。</a:t>
            </a:r>
          </a:p>
        </p:txBody>
      </p:sp>
      <p:sp>
        <p:nvSpPr>
          <p:cNvPr id="40" name="image-border">
            <a:extLst xmlns:a="http://schemas.openxmlformats.org/drawingml/2006/main">
              <a:ext uri="{FF2B5EF4-FFF2-40B4-BE49-F238E27FC236}">
                <a16:creationId xmlns:a16="http://schemas.microsoft.com/office/drawing/2014/main" id="{AC38ED68-787E-483E-B97C-AE265164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E3EE"/>
            </a:solidFill>
            <a:prstDash val="solid"/>
          </a:ln>
        </p:spPr>
      </p:sp>
      <p:sp>
        <p:nvSpPr>
          <p:cNvPr id="42" name="image-border">
            <a:extLst xmlns:a="http://schemas.openxmlformats.org/drawingml/2006/main">
              <a:ext uri="{FF2B5EF4-FFF2-40B4-BE49-F238E27FC236}">
                <a16:creationId xmlns:a16="http://schemas.microsoft.com/office/drawing/2014/main" id="{C3B5BF01-B9A1-493E-B1BF-3B24B416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28750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E3EE"/>
            </a:solidFill>
            <a:prstDash val="solid"/>
          </a:ln>
        </p:spPr>
      </p:sp>
      <p:sp>
        <p:nvSpPr>
          <p:cNvPr id="44" name="image-border">
            <a:extLst xmlns:a="http://schemas.openxmlformats.org/drawingml/2006/main">
              <a:ext uri="{FF2B5EF4-FFF2-40B4-BE49-F238E27FC236}">
                <a16:creationId xmlns:a16="http://schemas.microsoft.com/office/drawing/2014/main" id="{758967C1-4114-4B85-9859-E4FC022C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E3EE"/>
            </a:solidFill>
            <a:prstDash val="solid"/>
          </a:ln>
        </p:spPr>
      </p:sp>
      <p:sp>
        <p:nvSpPr>
          <p:cNvPr id="46" name="image-border">
            <a:extLst xmlns:a="http://schemas.openxmlformats.org/drawingml/2006/main">
              <a:ext uri="{FF2B5EF4-FFF2-40B4-BE49-F238E27FC236}">
                <a16:creationId xmlns:a16="http://schemas.microsoft.com/office/drawing/2014/main" id="{C63B707D-3E75-47FB-AD4C-0E00C560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29000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E3EE"/>
            </a:solidFill>
            <a:prstDash val="solid"/>
          </a:ln>
        </p:spPr>
      </p:sp>
      <p:sp>
        <p:nvSpPr>
          <p:cNvPr id="47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DB18BB5F-54A1-40A9-B530-2CD10BAE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rPr>
              <a:t>工整手写：识别准确，批改正确</a:t>
            </a:r>
          </a:p>
        </p:txBody>
      </p:sp>
      <p:sp>
        <p:nvSpPr>
          <p:cNvPr id="48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8109D15A-2574-4FB3-9961-549E4492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670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rPr>
              <a:t>潦草/部分作答：验证鲁棒性</a:t>
            </a:r>
          </a:p>
        </p:txBody>
      </p:sp>
      <p:sp>
        <p:nvSpPr>
          <p:cNvPr id="49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D394BC71-C9E2-4E2B-BE5E-5E04F76F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rPr>
              <a:t>错误答案：验证错误判定</a:t>
            </a:r>
          </a:p>
        </p:txBody>
      </p:sp>
      <p:sp>
        <p:nvSpPr>
          <p:cNvPr id="50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4B16D391-9F8E-4AA6-9414-FC7EF314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673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555555"/>
                </a:solidFill>
                <a:latin typeface="Source Han Sans CN"/>
                <a:ea typeface="Source Han Sans CN"/>
                <a:cs typeface="Source Han Sans CN"/>
              </a:rPr>
              <a:t>关键词行：验证简答题评分</a:t>
            </a:r>
          </a:p>
        </p:txBody>
      </p:sp>
      <p:sp>
        <p:nvSpPr>
          <p:cNvPr id="51" name="report-card">
            <a:extLst xmlns:a="http://schemas.openxmlformats.org/drawingml/2006/main">
              <a:ext uri="{FF2B5EF4-FFF2-40B4-BE49-F238E27FC236}">
                <a16:creationId xmlns:a16="http://schemas.microsoft.com/office/drawing/2014/main" id="{7FCC02B3-3F09-4AFC-91CF-80EECD12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6680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2" name="report-card-header">
            <a:extLst xmlns:a="http://schemas.openxmlformats.org/drawingml/2006/main">
              <a:ext uri="{FF2B5EF4-FFF2-40B4-BE49-F238E27FC236}">
                <a16:creationId xmlns:a16="http://schemas.microsoft.com/office/drawing/2014/main" id="{C77101BC-B8B4-48FD-B827-7057AD16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668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3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085B65A5-4C2D-4C16-8112-4CF27E12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1334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答辩演示流程</a:t>
            </a:r>
          </a:p>
        </p:txBody>
      </p:sp>
      <p:sp>
        <p:nvSpPr>
          <p:cNvPr id="54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399F95D5-0E4F-485F-B909-71AD19F8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590675"/>
            <a:ext cx="46101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1. Docker Compose 启动后端、MySQL、Redis、OCR 服务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2. 教师登录并创建包含选择、填空、简答的作业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3. 学生登录，选择演示图片上传作业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4. 后端保存图片，调用 OCR 服务识别并完成答案对齐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5. 自动批改生成逐题得分、总分与反馈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6. 教师查看提交并添加批注，学生查看批改详情和错题</a:t>
            </a:r>
          </a:p>
        </p:txBody>
      </p:sp>
      <p:sp>
        <p:nvSpPr>
          <p:cNvPr id="55" name="final-report-text">
            <a:extLst xmlns:a="http://schemas.openxmlformats.org/drawingml/2006/main">
              <a:ext uri="{FF2B5EF4-FFF2-40B4-BE49-F238E27FC236}">
                <a16:creationId xmlns:a16="http://schemas.microsoft.com/office/drawing/2014/main" id="{87D15594-051D-43F8-8D7B-6C88EEF5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468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说明：项目包未包含现成视频文件；PPT 已解决演示图片展示。若要演示视频，需要运行系统后录屏或提供现成录屏素材。</a:t>
            </a:r>
          </a:p>
        </p:txBody>
      </p:sp>
      <p:sp>
        <p:nvSpPr>
          <p:cNvPr id="57" name="cover-slide21-no-screenshot">
            <a:extLst xmlns:a="http://schemas.openxmlformats.org/drawingml/2006/main">
              <a:ext uri="{FF2B5EF4-FFF2-40B4-BE49-F238E27FC236}">
                <a16:creationId xmlns:a16="http://schemas.microsoft.com/office/drawing/2014/main" id="{2A6FDF88-1FF9-4FCD-A365-5FDF4115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1430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info-card">
            <a:extLst xmlns:a="http://schemas.openxmlformats.org/drawingml/2006/main">
              <a:ext uri="{FF2B5EF4-FFF2-40B4-BE49-F238E27FC236}">
                <a16:creationId xmlns:a16="http://schemas.microsoft.com/office/drawing/2014/main" id="{800C98B7-AA64-4570-8C4B-DCA534F4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0458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59" name="info-card-header">
            <a:extLst xmlns:a="http://schemas.openxmlformats.org/drawingml/2006/main">
              <a:ext uri="{FF2B5EF4-FFF2-40B4-BE49-F238E27FC236}">
                <a16:creationId xmlns:a16="http://schemas.microsoft.com/office/drawing/2014/main" id="{9F25CC3C-23B2-444F-9C47-5AA10961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045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BBD8E8"/>
            </a:solidFill>
            <a:prstDash val="solid"/>
          </a:ln>
        </p:spPr>
      </p:sp>
      <p:sp>
        <p:nvSpPr>
          <p:cNvPr id="60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B877D0C1-6404-477E-A8A5-D461BC80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57275"/>
            <a:ext cx="1022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真实 App 运行截图说明</a:t>
            </a:r>
          </a:p>
        </p:txBody>
      </p:sp>
      <p:sp>
        <p:nvSpPr>
          <p:cNvPr id="61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3C3D4DA8-9FAD-400E-A89A-D79683AA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43050"/>
            <a:ext cx="1011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当前环境无法运行 Android 前端，项目包内也未提供真实 App 运行截图或录屏。按答辩真实性要求，本页不放 OCR 测试图片、生成图片或伪造 App 截图；如后续能在 Android Studio / 模拟器中运行，可再替换为真实截图。</a:t>
            </a:r>
          </a:p>
        </p:txBody>
      </p:sp>
      <p:sp>
        <p:nvSpPr>
          <p:cNvPr id="62" name="member-header">
            <a:extLst xmlns:a="http://schemas.openxmlformats.org/drawingml/2006/main">
              <a:ext uri="{FF2B5EF4-FFF2-40B4-BE49-F238E27FC236}">
                <a16:creationId xmlns:a16="http://schemas.microsoft.com/office/drawing/2014/main" id="{58010C90-C761-44E5-89B2-9F92E99D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045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9525">
            <a:solidFill>
              <a:srgbClr val="E97824"/>
            </a:solidFill>
            <a:prstDash val="solid"/>
          </a:ln>
        </p:spPr>
      </p:sp>
      <p:sp>
        <p:nvSpPr>
          <p:cNvPr id="63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C9057571-7DA5-481B-AFD7-ECD55252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成员</a:t>
            </a:r>
          </a:p>
        </p:txBody>
      </p:sp>
      <p:sp>
        <p:nvSpPr>
          <p:cNvPr id="64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FCA29768-7FFC-4984-BC4A-9A59DBEE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670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贡献占比</a:t>
            </a:r>
          </a:p>
        </p:txBody>
      </p:sp>
      <p:sp>
        <p:nvSpPr>
          <p:cNvPr id="65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A697901B-3805-48D0-9119-1A876C60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报告记录 / 说明</a:t>
            </a:r>
          </a:p>
        </p:txBody>
      </p:sp>
      <p:sp>
        <p:nvSpPr>
          <p:cNvPr id="66" name="member-name">
            <a:extLst xmlns:a="http://schemas.openxmlformats.org/drawingml/2006/main">
              <a:ext uri="{FF2B5EF4-FFF2-40B4-BE49-F238E27FC236}">
                <a16:creationId xmlns:a16="http://schemas.microsoft.com/office/drawing/2014/main" id="{A8C43C82-CCB0-41F9-9E36-CE7EB099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67" name="member-ratio">
            <a:extLst xmlns:a="http://schemas.openxmlformats.org/drawingml/2006/main">
              <a:ext uri="{FF2B5EF4-FFF2-40B4-BE49-F238E27FC236}">
                <a16:creationId xmlns:a16="http://schemas.microsoft.com/office/drawing/2014/main" id="{C33C6D0A-B36D-4D82-9282-447D13A4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289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68" name="member-note">
            <a:extLst xmlns:a="http://schemas.openxmlformats.org/drawingml/2006/main">
              <a:ext uri="{FF2B5EF4-FFF2-40B4-BE49-F238E27FC236}">
                <a16:creationId xmlns:a16="http://schemas.microsoft.com/office/drawing/2014/main" id="{F0C40DD0-6E38-402E-86EA-599BCC77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7124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69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4FAF6FF3-122E-4DD5-939B-F9C481BE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908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申梓忻</a:t>
            </a:r>
          </a:p>
        </p:txBody>
      </p:sp>
      <p:sp>
        <p:nvSpPr>
          <p:cNvPr id="70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70B0D40A-6479-4CA6-836A-CE95432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908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25%</a:t>
            </a:r>
          </a:p>
        </p:txBody>
      </p:sp>
      <p:sp>
        <p:nvSpPr>
          <p:cNvPr id="71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D8390234-1155-4F03-BF64-1AC2CAB9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242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结题报告中记录：组长，负责系统架构设计、后端开发、OCR 服务集成、项目管理。</a:t>
            </a:r>
          </a:p>
        </p:txBody>
      </p:sp>
      <p:sp>
        <p:nvSpPr>
          <p:cNvPr id="72" name="member-name">
            <a:extLst xmlns:a="http://schemas.openxmlformats.org/drawingml/2006/main">
              <a:ext uri="{FF2B5EF4-FFF2-40B4-BE49-F238E27FC236}">
                <a16:creationId xmlns:a16="http://schemas.microsoft.com/office/drawing/2014/main" id="{54BC4F40-9F02-424F-8DEC-25797EA3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73" name="member-ratio">
            <a:extLst xmlns:a="http://schemas.openxmlformats.org/drawingml/2006/main">
              <a:ext uri="{FF2B5EF4-FFF2-40B4-BE49-F238E27FC236}">
                <a16:creationId xmlns:a16="http://schemas.microsoft.com/office/drawing/2014/main" id="{02BD2009-AA10-4A99-8191-20573BEF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576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74" name="member-note">
            <a:extLst xmlns:a="http://schemas.openxmlformats.org/drawingml/2006/main">
              <a:ext uri="{FF2B5EF4-FFF2-40B4-BE49-F238E27FC236}">
                <a16:creationId xmlns:a16="http://schemas.microsoft.com/office/drawing/2014/main" id="{E14244C3-15F2-432B-952D-C3EE854B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57600"/>
            <a:ext cx="7124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75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A16001ED-605E-4826-854E-9358D01C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95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潘亮</a:t>
            </a:r>
          </a:p>
        </p:txBody>
      </p:sp>
      <p:sp>
        <p:nvSpPr>
          <p:cNvPr id="76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2517CC5E-084C-4233-9CE9-148DA5BA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95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25%</a:t>
            </a:r>
          </a:p>
        </p:txBody>
      </p:sp>
      <p:sp>
        <p:nvSpPr>
          <p:cNvPr id="77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7A847A87-2E02-40DA-A66C-A786B468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528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小组成员贡献文件记录贡献占比为 25%。</a:t>
            </a:r>
          </a:p>
        </p:txBody>
      </p:sp>
      <p:sp>
        <p:nvSpPr>
          <p:cNvPr id="78" name="member-name">
            <a:extLst xmlns:a="http://schemas.openxmlformats.org/drawingml/2006/main">
              <a:ext uri="{FF2B5EF4-FFF2-40B4-BE49-F238E27FC236}">
                <a16:creationId xmlns:a16="http://schemas.microsoft.com/office/drawing/2014/main" id="{A1AD0912-61E7-4BD4-9EC3-E9EE6923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79" name="member-ratio">
            <a:extLst xmlns:a="http://schemas.openxmlformats.org/drawingml/2006/main">
              <a:ext uri="{FF2B5EF4-FFF2-40B4-BE49-F238E27FC236}">
                <a16:creationId xmlns:a16="http://schemas.microsoft.com/office/drawing/2014/main" id="{AF19FD29-E8A4-47BF-89D1-729AF165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862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80" name="member-note">
            <a:extLst xmlns:a="http://schemas.openxmlformats.org/drawingml/2006/main">
              <a:ext uri="{FF2B5EF4-FFF2-40B4-BE49-F238E27FC236}">
                <a16:creationId xmlns:a16="http://schemas.microsoft.com/office/drawing/2014/main" id="{08BE8157-95AE-472A-9E37-BC0BC8E2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86250"/>
            <a:ext cx="7124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81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DEABDF2F-EE60-4A88-9077-32BF3D61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申光耀</a:t>
            </a:r>
          </a:p>
        </p:txBody>
      </p:sp>
      <p:sp>
        <p:nvSpPr>
          <p:cNvPr id="82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8B004CE8-F549-461E-86D2-1DA579C6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481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25%</a:t>
            </a:r>
          </a:p>
        </p:txBody>
      </p:sp>
      <p:sp>
        <p:nvSpPr>
          <p:cNvPr id="83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5F510AF8-01E3-4C16-A238-FE0C23E2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815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小组成员贡献文件记录贡献占比为 25%。</a:t>
            </a:r>
          </a:p>
        </p:txBody>
      </p:sp>
      <p:sp>
        <p:nvSpPr>
          <p:cNvPr id="84" name="member-name">
            <a:extLst xmlns:a="http://schemas.openxmlformats.org/drawingml/2006/main">
              <a:ext uri="{FF2B5EF4-FFF2-40B4-BE49-F238E27FC236}">
                <a16:creationId xmlns:a16="http://schemas.microsoft.com/office/drawing/2014/main" id="{EA6A3304-3AD3-4514-8AFE-4A2CAA89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85" name="member-ratio">
            <a:extLst xmlns:a="http://schemas.openxmlformats.org/drawingml/2006/main">
              <a:ext uri="{FF2B5EF4-FFF2-40B4-BE49-F238E27FC236}">
                <a16:creationId xmlns:a16="http://schemas.microsoft.com/office/drawing/2014/main" id="{ABF755E2-516F-4989-96B0-EED3F2A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149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86" name="member-note">
            <a:extLst xmlns:a="http://schemas.openxmlformats.org/drawingml/2006/main">
              <a:ext uri="{FF2B5EF4-FFF2-40B4-BE49-F238E27FC236}">
                <a16:creationId xmlns:a16="http://schemas.microsoft.com/office/drawing/2014/main" id="{CA8AF40C-FA48-4E3A-89AE-2B0E14F3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7124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87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EC83F46F-B747-46C2-BF45-186FEEFB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768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冉潘</a:t>
            </a:r>
          </a:p>
        </p:txBody>
      </p:sp>
      <p:sp>
        <p:nvSpPr>
          <p:cNvPr id="88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9BE3FA67-DC62-4649-AEA5-B5C00C73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768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25%</a:t>
            </a:r>
          </a:p>
        </p:txBody>
      </p:sp>
      <p:sp>
        <p:nvSpPr>
          <p:cNvPr id="89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8A47D121-8282-45AB-911A-97327C89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小组成员贡献文件记录贡献占比为 25%；本结题汇报 PPT 汇报人。</a:t>
            </a:r>
          </a:p>
        </p:txBody>
      </p:sp>
      <p:sp>
        <p:nvSpPr>
          <p:cNvPr id="90" name="no-screenshot-text">
            <a:extLst xmlns:a="http://schemas.openxmlformats.org/drawingml/2006/main">
              <a:ext uri="{FF2B5EF4-FFF2-40B4-BE49-F238E27FC236}">
                <a16:creationId xmlns:a16="http://schemas.microsoft.com/office/drawing/2014/main" id="{9AEC06BC-4613-4633-A6D3-C49608EF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说明：当前可确认的四人分工材料主要是贡献比例；若需要更细的职责描述，可按实际开发记录继续补充。</a:t>
            </a:r>
          </a:p>
        </p:txBody>
      </p:sp>
      <p:sp>
        <p:nvSpPr>
          <p:cNvPr id="92" name="cover-slide21-module">
            <a:extLst xmlns:a="http://schemas.openxmlformats.org/drawingml/2006/main">
              <a:ext uri="{FF2B5EF4-FFF2-40B4-BE49-F238E27FC236}">
                <a16:creationId xmlns:a16="http://schemas.microsoft.com/office/drawing/2014/main" id="{0237A013-42AA-44CC-B301-95217627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1430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05329FCC-AEF3-4DE6-9DA6-DB2C0CEF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按照系统模块划分完成工作；贡献比例沿用小组成员贡献记录，四人各 25%。</a:t>
            </a:r>
          </a:p>
        </p:txBody>
      </p:sp>
      <p:sp>
        <p:nvSpPr>
          <p:cNvPr id="94" name="division-header">
            <a:extLst xmlns:a="http://schemas.openxmlformats.org/drawingml/2006/main">
              <a:ext uri="{FF2B5EF4-FFF2-40B4-BE49-F238E27FC236}">
                <a16:creationId xmlns:a16="http://schemas.microsoft.com/office/drawing/2014/main" id="{F91CC0FE-C172-47D4-BD9C-A6AF6703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9525">
            <a:solidFill>
              <a:srgbClr val="E97824"/>
            </a:solidFill>
            <a:prstDash val="solid"/>
          </a:ln>
        </p:spPr>
      </p:sp>
      <p:sp>
        <p:nvSpPr>
          <p:cNvPr id="95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CDBC1692-A706-4EB3-A36F-2698F55D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成员</a:t>
            </a:r>
          </a:p>
        </p:txBody>
      </p:sp>
      <p:sp>
        <p:nvSpPr>
          <p:cNvPr id="96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9D715D74-BFDE-4763-9CF5-E4818007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占比</a:t>
            </a:r>
          </a:p>
        </p:txBody>
      </p:sp>
      <p:sp>
        <p:nvSpPr>
          <p:cNvPr id="97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4D6718DD-4F1B-4F72-8897-231E3FB0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383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负责模块</a:t>
            </a:r>
          </a:p>
        </p:txBody>
      </p:sp>
      <p:sp>
        <p:nvSpPr>
          <p:cNvPr id="98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0DCF1526-B5C5-41BD-B691-1E914525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38300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已完成工作</a:t>
            </a:r>
          </a:p>
        </p:txBody>
      </p:sp>
      <p:sp>
        <p:nvSpPr>
          <p:cNvPr id="99" name="division-name">
            <a:extLst xmlns:a="http://schemas.openxmlformats.org/drawingml/2006/main">
              <a:ext uri="{FF2B5EF4-FFF2-40B4-BE49-F238E27FC236}">
                <a16:creationId xmlns:a16="http://schemas.microsoft.com/office/drawing/2014/main" id="{F8F301E6-7983-441F-9D17-C31E004A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00" name="division-pct">
            <a:extLst xmlns:a="http://schemas.openxmlformats.org/drawingml/2006/main">
              <a:ext uri="{FF2B5EF4-FFF2-40B4-BE49-F238E27FC236}">
                <a16:creationId xmlns:a16="http://schemas.microsoft.com/office/drawing/2014/main" id="{0FF92DFA-4233-4B5C-908A-CC160303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81200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01" name="division-module">
            <a:extLst xmlns:a="http://schemas.openxmlformats.org/drawingml/2006/main">
              <a:ext uri="{FF2B5EF4-FFF2-40B4-BE49-F238E27FC236}">
                <a16:creationId xmlns:a16="http://schemas.microsoft.com/office/drawing/2014/main" id="{8D33B30C-A19F-4A15-BAF0-5509614C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02" name="division-items">
            <a:extLst xmlns:a="http://schemas.openxmlformats.org/drawingml/2006/main">
              <a:ext uri="{FF2B5EF4-FFF2-40B4-BE49-F238E27FC236}">
                <a16:creationId xmlns:a16="http://schemas.microsoft.com/office/drawing/2014/main" id="{5B005E5C-BA67-430E-8D4F-52ED75D7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638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03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20F3059E-4D22-47A3-81C5-F2F6188E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申梓忻</a:t>
            </a:r>
          </a:p>
        </p:txBody>
      </p:sp>
      <p:sp>
        <p:nvSpPr>
          <p:cNvPr id="104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9C42534E-55DC-4D80-A2AB-6B4163B5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25%</a:t>
            </a:r>
          </a:p>
        </p:txBody>
      </p:sp>
      <p:sp>
        <p:nvSpPr>
          <p:cNvPr id="105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355C09F4-D1B3-4D30-8E64-EDE3743A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336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系统架构 / 后端 / OCR 集成</a:t>
            </a:r>
          </a:p>
        </p:txBody>
      </p:sp>
      <p:sp>
        <p:nvSpPr>
          <p:cNvPr id="106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F3040018-864E-40C6-BA1E-D37FD86D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57400"/>
            <a:ext cx="611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系统总体架构设计；Spring Boot 后端核心接口；OCR 服务调用与答案对齐；项目管理与技术整合。</a:t>
            </a:r>
          </a:p>
        </p:txBody>
      </p:sp>
      <p:sp>
        <p:nvSpPr>
          <p:cNvPr id="107" name="division-name">
            <a:extLst xmlns:a="http://schemas.openxmlformats.org/drawingml/2006/main">
              <a:ext uri="{FF2B5EF4-FFF2-40B4-BE49-F238E27FC236}">
                <a16:creationId xmlns:a16="http://schemas.microsoft.com/office/drawing/2014/main" id="{2E9DE74E-B996-4255-A263-98E7B656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08" name="division-pct">
            <a:extLst xmlns:a="http://schemas.openxmlformats.org/drawingml/2006/main">
              <a:ext uri="{FF2B5EF4-FFF2-40B4-BE49-F238E27FC236}">
                <a16:creationId xmlns:a16="http://schemas.microsoft.com/office/drawing/2014/main" id="{04A472A0-920E-4360-9ADE-885F1BB0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0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09" name="division-module">
            <a:extLst xmlns:a="http://schemas.openxmlformats.org/drawingml/2006/main">
              <a:ext uri="{FF2B5EF4-FFF2-40B4-BE49-F238E27FC236}">
                <a16:creationId xmlns:a16="http://schemas.microsoft.com/office/drawing/2014/main" id="{B45AFB3D-F296-4799-9893-8194D685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10" name="division-items">
            <a:extLst xmlns:a="http://schemas.openxmlformats.org/drawingml/2006/main">
              <a:ext uri="{FF2B5EF4-FFF2-40B4-BE49-F238E27FC236}">
                <a16:creationId xmlns:a16="http://schemas.microsoft.com/office/drawing/2014/main" id="{5DCACE1A-7E95-47C9-A7E6-7E10C251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638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11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FCF5CF4D-DC32-413D-962A-25222331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潘亮</a:t>
            </a:r>
          </a:p>
        </p:txBody>
      </p:sp>
      <p:sp>
        <p:nvSpPr>
          <p:cNvPr id="112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16380564-7FC8-4961-B4E7-84534EFE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718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25%</a:t>
            </a:r>
          </a:p>
        </p:txBody>
      </p:sp>
      <p:sp>
        <p:nvSpPr>
          <p:cNvPr id="113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14A15BC3-6FE9-4AE7-AA94-023739D3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146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Android 客户端</a:t>
            </a:r>
          </a:p>
        </p:txBody>
      </p:sp>
      <p:sp>
        <p:nvSpPr>
          <p:cNvPr id="114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DEF8619E-AACB-41C0-A3B8-1D9C6FB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38450"/>
            <a:ext cx="611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Android 项目框架；登录注册页面；教师端/学生端主界面；作业列表、图片上传、批改详情展示。</a:t>
            </a:r>
          </a:p>
        </p:txBody>
      </p:sp>
      <p:sp>
        <p:nvSpPr>
          <p:cNvPr id="115" name="division-name">
            <a:extLst xmlns:a="http://schemas.openxmlformats.org/drawingml/2006/main">
              <a:ext uri="{FF2B5EF4-FFF2-40B4-BE49-F238E27FC236}">
                <a16:creationId xmlns:a16="http://schemas.microsoft.com/office/drawing/2014/main" id="{AADB8A4F-2CD8-4F44-9900-40B13A84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16" name="division-pct">
            <a:extLst xmlns:a="http://schemas.openxmlformats.org/drawingml/2006/main">
              <a:ext uri="{FF2B5EF4-FFF2-40B4-BE49-F238E27FC236}">
                <a16:creationId xmlns:a16="http://schemas.microsoft.com/office/drawing/2014/main" id="{F7767E66-9AC6-486C-9E3A-CDEB1CCC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43300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17" name="division-module">
            <a:extLst xmlns:a="http://schemas.openxmlformats.org/drawingml/2006/main">
              <a:ext uri="{FF2B5EF4-FFF2-40B4-BE49-F238E27FC236}">
                <a16:creationId xmlns:a16="http://schemas.microsoft.com/office/drawing/2014/main" id="{54099C4B-9875-4502-ABA3-45A7FE10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433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18" name="division-items">
            <a:extLst xmlns:a="http://schemas.openxmlformats.org/drawingml/2006/main">
              <a:ext uri="{FF2B5EF4-FFF2-40B4-BE49-F238E27FC236}">
                <a16:creationId xmlns:a16="http://schemas.microsoft.com/office/drawing/2014/main" id="{7593FD33-F73B-4049-BEBD-67841945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43300"/>
            <a:ext cx="638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19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40F074F6-0F9A-4614-A1A6-93D0BF0A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申光耀</a:t>
            </a:r>
          </a:p>
        </p:txBody>
      </p:sp>
      <p:sp>
        <p:nvSpPr>
          <p:cNvPr id="120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A150B76D-6C27-4C63-96B5-9AF4AF73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25%</a:t>
            </a:r>
          </a:p>
        </p:txBody>
      </p:sp>
      <p:sp>
        <p:nvSpPr>
          <p:cNvPr id="121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9C258F41-FCA3-4BE3-B552-7CCC20E5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957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数据库 / 统计 / 测试</a:t>
            </a:r>
          </a:p>
        </p:txBody>
      </p:sp>
      <p:sp>
        <p:nvSpPr>
          <p:cNvPr id="122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59172E1C-D53B-44C2-84ED-2EC131A4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611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数据库表结构与初始化数据；统计分析接口支撑；单元、集成、确认测试用例与测试报告整理。</a:t>
            </a:r>
          </a:p>
        </p:txBody>
      </p:sp>
      <p:sp>
        <p:nvSpPr>
          <p:cNvPr id="123" name="division-name">
            <a:extLst xmlns:a="http://schemas.openxmlformats.org/drawingml/2006/main">
              <a:ext uri="{FF2B5EF4-FFF2-40B4-BE49-F238E27FC236}">
                <a16:creationId xmlns:a16="http://schemas.microsoft.com/office/drawing/2014/main" id="{6552E86A-9108-41D2-A825-D66A0CE7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24" name="division-pct">
            <a:extLst xmlns:a="http://schemas.openxmlformats.org/drawingml/2006/main">
              <a:ext uri="{FF2B5EF4-FFF2-40B4-BE49-F238E27FC236}">
                <a16:creationId xmlns:a16="http://schemas.microsoft.com/office/drawing/2014/main" id="{B8A2D6B5-E799-49C0-95D0-26889071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24350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25" name="division-module">
            <a:extLst xmlns:a="http://schemas.openxmlformats.org/drawingml/2006/main">
              <a:ext uri="{FF2B5EF4-FFF2-40B4-BE49-F238E27FC236}">
                <a16:creationId xmlns:a16="http://schemas.microsoft.com/office/drawing/2014/main" id="{B3AA2838-1187-40F4-A19F-8AE53798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243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26" name="division-items">
            <a:extLst xmlns:a="http://schemas.openxmlformats.org/drawingml/2006/main">
              <a:ext uri="{FF2B5EF4-FFF2-40B4-BE49-F238E27FC236}">
                <a16:creationId xmlns:a16="http://schemas.microsoft.com/office/drawing/2014/main" id="{F46F8BCB-1204-496D-98AB-D5FC7330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24350"/>
            <a:ext cx="638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EF"/>
            </a:solidFill>
            <a:prstDash val="solid"/>
          </a:ln>
        </p:spPr>
      </p:sp>
      <p:sp>
        <p:nvSpPr>
          <p:cNvPr id="127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A73D533E-D6B5-4776-B974-696CD324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冉潘</a:t>
            </a:r>
          </a:p>
        </p:txBody>
      </p:sp>
      <p:sp>
        <p:nvSpPr>
          <p:cNvPr id="128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51DCB197-8E45-447B-BD35-27DBBFB2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33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25%</a:t>
            </a:r>
          </a:p>
        </p:txBody>
      </p:sp>
      <p:sp>
        <p:nvSpPr>
          <p:cNvPr id="129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1798755E-7DB8-40E5-A061-A6542F11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767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1E5C83"/>
                </a:solidFill>
                <a:latin typeface="Source Han Sans CN"/>
                <a:ea typeface="Source Han Sans CN"/>
                <a:cs typeface="Source Han Sans CN"/>
              </a:rPr>
              <a:t>部署文档 / 联调 / 汇报</a:t>
            </a:r>
          </a:p>
        </p:txBody>
      </p:sp>
      <p:sp>
        <p:nvSpPr>
          <p:cNvPr id="130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F33916E8-FB3D-4E96-B384-5BB0466E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00550"/>
            <a:ext cx="611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333333"/>
                </a:solidFill>
                <a:latin typeface="Source Han Sans CN"/>
                <a:ea typeface="Source Han Sans CN"/>
                <a:cs typeface="Source Han Sans CN"/>
              </a:rPr>
              <a:t>Docker Compose 部署配置；用户手册、配置手册、结题材料整理；答辩 PPT 与汇报演示流程。</a:t>
            </a:r>
          </a:p>
        </p:txBody>
      </p:sp>
      <p:sp>
        <p:nvSpPr>
          <p:cNvPr id="131" name="module-division-text">
            <a:extLst xmlns:a="http://schemas.openxmlformats.org/drawingml/2006/main">
              <a:ext uri="{FF2B5EF4-FFF2-40B4-BE49-F238E27FC236}">
                <a16:creationId xmlns:a16="http://schemas.microsoft.com/office/drawing/2014/main" id="{FD9A5EE8-19B7-4C84-9647-16CCE0A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1">
                <a:solidFill>
                  <a:srgbClr val="B64B18"/>
                </a:solidFill>
                <a:latin typeface="Source Han Sans CN"/>
                <a:ea typeface="Source Han Sans CN"/>
                <a:cs typeface="Source Han Sans CN"/>
              </a:rPr>
              <a:t>说明：此页保留“已完成工作”并按模块分配到四名成员；未加入任何非真实 App 运行截图。</a:t>
            </a:r>
          </a:p>
        </p:txBody>
      </p:sp>
    </p:spTree>
    <p:extLst>
      <p:ext uri="{BB962C8B-B14F-4D97-AF65-F5344CB8AC3E}">
        <p14:creationId xmlns:p14="http://schemas.microsoft.com/office/powerpoint/2010/main" val="11784582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0b171b8ad48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598" y="6121399"/>
            <a:ext cx="570951" cy="570951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E6DAEDB1-FF22-472F-811A-FC772B71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930" y="2442210"/>
            <a:ext cx="8743315" cy="1861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457200">
              <a:buNone/>
            </a:pPr>
            <a:r>
              <a:rPr sz="11500">
                <a:solidFill>
                  <a:schemeClr val="accent1">
                    <a:lumMod val="75000"/>
                  </a:schemeClr>
                </a:solidFill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2099062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4B8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三角形 5">
            <a:extLst xmlns:a="http://schemas.openxmlformats.org/drawingml/2006/main">
              <a:ext uri="{FF2B5EF4-FFF2-40B4-BE49-F238E27FC236}">
                <a16:creationId xmlns:a16="http://schemas.microsoft.com/office/drawing/2014/main" id="{A1EB7B00-FDAA-4E41-8C64-DAB21A7B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914669" y="-1"/>
            <a:ext cx="6932418" cy="6211616"/>
          </a:xfrm>
          <a:prstGeom xmlns:a="http://schemas.openxmlformats.org/drawingml/2006/main" prst="triangle">
            <a:avLst/>
          </a:prstGeom>
          <a:gradFill xmlns:a="http://schemas.openxmlformats.org/drawingml/2006/main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31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平行四边形 16">
            <a:extLst xmlns:a="http://schemas.openxmlformats.org/drawingml/2006/main">
              <a:ext uri="{FF2B5EF4-FFF2-40B4-BE49-F238E27FC236}">
                <a16:creationId xmlns:a16="http://schemas.microsoft.com/office/drawing/2014/main" id="{1D995EAA-CCAF-4C38-939E-38C53026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20230" y="0"/>
            <a:ext cx="10229323" cy="6872456"/>
          </a:xfrm>
          <a:prstGeom xmlns:a="http://schemas.openxmlformats.org/drawingml/2006/main" prst="parallelogram">
            <a:avLst>
              <a:gd name="adj" fmla="val 56852"/>
            </a:avLst>
          </a:prstGeom>
          <a:blipFill xmlns:a="http://schemas.openxmlformats.org/drawingml/2006/main" rotWithShape="1">
            <a:blip xmlns:r="http://schemas.openxmlformats.org/officeDocument/2006/relationships" r:embed="Rf3b54c5d7f5a405e"/>
            <a:srcRect l="0" t="0" r="0" b="0"/>
            <a:stretch>
              <a:fillRect l="14352" t="222" r="-14352" b="-222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三角形 2">
            <a:extLst xmlns:a="http://schemas.openxmlformats.org/drawingml/2006/main">
              <a:ext uri="{FF2B5EF4-FFF2-40B4-BE49-F238E27FC236}">
                <a16:creationId xmlns:a16="http://schemas.microsoft.com/office/drawing/2014/main" id="{0A4F8719-75E1-4090-A3E4-BA8F0AB9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555083" y="2540"/>
            <a:ext cx="4762398" cy="4267225"/>
          </a:xfrm>
          <a:prstGeom xmlns:a="http://schemas.openxmlformats.org/drawingml/2006/main" prst="triangle">
            <a:avLst/>
          </a:prstGeom>
          <a:gradFill xmlns:a="http://schemas.openxmlformats.org/drawingml/2006/main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60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三角形 4">
            <a:extLst xmlns:a="http://schemas.openxmlformats.org/drawingml/2006/main">
              <a:ext uri="{FF2B5EF4-FFF2-40B4-BE49-F238E27FC236}">
                <a16:creationId xmlns:a16="http://schemas.microsoft.com/office/drawing/2014/main" id="{3325FD6D-903B-4441-951C-07F591F0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952824" y="-2"/>
            <a:ext cx="6306169" cy="5650482"/>
          </a:xfrm>
          <a:prstGeom xmlns:a="http://schemas.openxmlformats.org/drawingml/2006/main" prst="triangle">
            <a:avLst/>
          </a:prstGeom>
          <a:gradFill xmlns:a="http://schemas.openxmlformats.org/drawingml/2006/main" rotWithShape="1">
            <a:gsLst>
              <a:gs pos="0">
                <a:srgbClr val="00B0F0">
                  <a:alpha val="44000"/>
                </a:srgbClr>
              </a:gs>
              <a:gs pos="100000">
                <a:srgbClr val="0070C0">
                  <a:alpha val="0"/>
                </a:srgb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三角形 6">
            <a:extLst xmlns:a="http://schemas.openxmlformats.org/drawingml/2006/main">
              <a:ext uri="{FF2B5EF4-FFF2-40B4-BE49-F238E27FC236}">
                <a16:creationId xmlns:a16="http://schemas.microsoft.com/office/drawing/2014/main" id="{F024B50F-A54B-469D-B425-B8161E59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745" y="3638198"/>
            <a:ext cx="3590596" cy="3217262"/>
          </a:xfrm>
          <a:prstGeom xmlns:a="http://schemas.openxmlformats.org/drawingml/2006/main" prst="triangle">
            <a:avLst/>
          </a:prstGeom>
          <a:gradFill xmlns:a="http://schemas.openxmlformats.org/drawingml/2006/main" rotWithShape="1"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三角形 7">
            <a:extLst xmlns:a="http://schemas.openxmlformats.org/drawingml/2006/main">
              <a:ext uri="{FF2B5EF4-FFF2-40B4-BE49-F238E27FC236}">
                <a16:creationId xmlns:a16="http://schemas.microsoft.com/office/drawing/2014/main" id="{C81E772E-E694-4EB6-913B-2EC93DEF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745" y="4790273"/>
            <a:ext cx="2323801" cy="2082183"/>
          </a:xfrm>
          <a:prstGeom xmlns:a="http://schemas.openxmlformats.org/drawingml/2006/main" prst="triangle">
            <a:avLst/>
          </a:prstGeom>
          <a:gradFill xmlns:a="http://schemas.openxmlformats.org/drawingml/2006/main" rotWithShape="1">
            <a:gsLst>
              <a:gs pos="0">
                <a:srgbClr val="00B0F0">
                  <a:alpha val="36000"/>
                </a:srgbClr>
              </a:gs>
              <a:gs pos="100000">
                <a:srgbClr val="0070C0">
                  <a:alpha val="35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直角三角形 21">
            <a:extLst xmlns:a="http://schemas.openxmlformats.org/drawingml/2006/main">
              <a:ext uri="{FF2B5EF4-FFF2-40B4-BE49-F238E27FC236}">
                <a16:creationId xmlns:a16="http://schemas.microsoft.com/office/drawing/2014/main" id="{44DA69FC-77DC-48FF-9AEF-1DF055E6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820219" y="810102"/>
            <a:ext cx="3740727" cy="2120524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直角三角形 22">
            <a:extLst xmlns:a="http://schemas.openxmlformats.org/drawingml/2006/main">
              <a:ext uri="{FF2B5EF4-FFF2-40B4-BE49-F238E27FC236}">
                <a16:creationId xmlns:a16="http://schemas.microsoft.com/office/drawing/2014/main" id="{4B0AE936-A6EF-4E75-BECA-6C72DE6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608207" y="630081"/>
            <a:ext cx="2909457" cy="1649298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A90CC93-9ACB-420E-A2FB-3CE9E33C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011" y="2515346"/>
            <a:ext cx="5302717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中国科学技术大学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490B85A-23DD-4542-B7E0-2558D86B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476" y="3579053"/>
            <a:ext cx="505376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chemeClr val="bg1"/>
                </a:solidFill>
              </a:rPr>
              <a:t>University Of Science And Technology Of China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B48B8404-23C1-4769-8E5F-D9251742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838" y="4269765"/>
            <a:ext cx="1454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FFFFFF"/>
                </a:solidFill>
              </a:rPr>
              <a:t>汇报人：冉潘</a:t>
            </a:r>
          </a:p>
        </p:txBody>
      </p:sp>
      <p:pic>
        <p:nvPicPr>
          <p:cNvPr id="39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27bc488cf44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95508" y="5355443"/>
            <a:ext cx="1142994" cy="1142994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7E4FFC5-5404-43C7-982D-EEA0D2D3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0" y="4709160"/>
            <a:ext cx="266319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指导教师：</a:t>
            </a:r>
            <a:r>
              <a:rPr>
                <a:solidFill>
                  <a:schemeClr val="bg1"/>
                </a:solidFill>
              </a:rPr>
              <a:t>翟建芳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9396CDB-0C44-44A3-BCCE-ABABCAC7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330" y="5179695"/>
            <a:ext cx="390588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FFFFFF"/>
                </a:solidFill>
              </a:rPr>
              <a:t>组员：申光耀，潘亮，申梓忻，冉潘</a:t>
            </a:r>
          </a:p>
        </p:txBody>
      </p:sp>
    </p:spTree>
    <p:extLst>
      <p:ext uri="{BB962C8B-B14F-4D97-AF65-F5344CB8AC3E}">
        <p14:creationId xmlns:p14="http://schemas.microsoft.com/office/powerpoint/2010/main" val="652865838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88ku">
      <a:majorFont>
        <a:latin typeface="Arial Black"/>
        <a:ea typeface="思源黑体 CN Bold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2026-06-17T08:30:45.1320000Z</dcterms:created>
  <dcterms:modified xsi:type="dcterms:W3CDTF">2026-06-17T08:30:45.1320000Z</dcterms:modified>
</coreProperties>
</file>
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21"/>
  </p:handoutMasterIdLst>
  <p:sldIdLst>
    <p:sldId id="362" r:id="rId3"/>
    <p:sldId id="363" r:id="rId5"/>
    <p:sldId id="364" r:id="rId6"/>
    <p:sldId id="365" r:id="rId7"/>
    <p:sldId id="371" r:id="rId8"/>
    <p:sldId id="386" r:id="rId9"/>
    <p:sldId id="385" r:id="rId10"/>
    <p:sldId id="383" r:id="rId11"/>
    <p:sldId id="382" r:id="rId12"/>
    <p:sldId id="372" r:id="rId13"/>
    <p:sldId id="373" r:id="rId14"/>
    <p:sldId id="384" r:id="rId15"/>
    <p:sldId id="368" r:id="rId16"/>
    <p:sldId id="374" r:id="rId17"/>
    <p:sldId id="375" r:id="rId18"/>
    <p:sldId id="381" r:id="rId19"/>
    <p:sldId id="366" r:id="rId20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B85"/>
    <a:srgbClr val="DF2123"/>
    <a:srgbClr val="F49E00"/>
    <a:srgbClr val="4256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787"/>
    <p:restoredTop sz="96271"/>
  </p:normalViewPr>
  <p:slideViewPr>
    <p:cSldViewPr snapToGrid="0" snapToObjects="1">
      <p:cViewPr>
        <p:scale>
          <a:sx n="100" d="100"/>
          <a:sy n="100" d="100"/>
        </p:scale>
        <p:origin x="1264" y="14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 snapToObjects="1">
      <p:cViewPr varScale="1">
        <p:scale>
          <a:sx n="95" d="100"/>
          <a:sy n="95" d="100"/>
        </p:scale>
        <p:origin x="250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gs" Target="tags/tag39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4B3C7D-7ED1-A34F-BCFC-1C01389AE58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CED8CE-3D9F-CA47-A17E-9AD879C3B1C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ACF2CF-5EF1-D24F-8F8B-C67282AA038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F70782-008B-5B48-B01C-A994AC4AA04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平行四边形 4"/>
          <p:cNvSpPr/>
          <p:nvPr userDrawn="1"/>
        </p:nvSpPr>
        <p:spPr>
          <a:xfrm>
            <a:off x="-434863" y="182880"/>
            <a:ext cx="3491571" cy="418010"/>
          </a:xfrm>
          <a:prstGeom prst="parallelogram">
            <a:avLst>
              <a:gd name="adj" fmla="val 56250"/>
            </a:avLst>
          </a:prstGeom>
          <a:gradFill flip="none" rotWithShape="1">
            <a:gsLst>
              <a:gs pos="0">
                <a:srgbClr val="00B0F0">
                  <a:alpha val="26000"/>
                </a:srgbClr>
              </a:gs>
              <a:gs pos="100000">
                <a:srgbClr val="0070C0">
                  <a:alpha val="47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0" y="-1"/>
            <a:ext cx="874720" cy="783771"/>
            <a:chOff x="4054440" y="-2"/>
            <a:chExt cx="6306169" cy="5650482"/>
          </a:xfrm>
        </p:grpSpPr>
        <p:sp>
          <p:nvSpPr>
            <p:cNvPr id="3" name="三角形 2"/>
            <p:cNvSpPr/>
            <p:nvPr/>
          </p:nvSpPr>
          <p:spPr>
            <a:xfrm rot="10800000">
              <a:off x="5555083" y="2540"/>
              <a:ext cx="4762398" cy="4267225"/>
            </a:xfrm>
            <a:prstGeom prst="triangle">
              <a:avLst/>
            </a:prstGeom>
            <a:gradFill flip="none" rotWithShape="1">
              <a:gsLst>
                <a:gs pos="0">
                  <a:srgbClr val="00B0F0">
                    <a:alpha val="0"/>
                  </a:srgbClr>
                </a:gs>
                <a:gs pos="100000">
                  <a:srgbClr val="0070C0">
                    <a:alpha val="60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" name="三角形 3"/>
            <p:cNvSpPr/>
            <p:nvPr/>
          </p:nvSpPr>
          <p:spPr>
            <a:xfrm rot="10800000">
              <a:off x="4054440" y="-2"/>
              <a:ext cx="6306169" cy="5650482"/>
            </a:xfrm>
            <a:prstGeom prst="triangle">
              <a:avLst/>
            </a:prstGeom>
            <a:gradFill flip="none" rotWithShape="1">
              <a:gsLst>
                <a:gs pos="0">
                  <a:srgbClr val="00B0F0">
                    <a:alpha val="26000"/>
                  </a:srgbClr>
                </a:gs>
                <a:gs pos="100000">
                  <a:srgbClr val="0070C0">
                    <a:alpha val="47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3.png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image" Target="../media/image3.png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8" Type="http://schemas.openxmlformats.org/officeDocument/2006/relationships/notesSlide" Target="../notesSlides/notesSlide9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9.xml"/><Relationship Id="rId15" Type="http://schemas.openxmlformats.org/officeDocument/2006/relationships/tags" Target="../tags/tag18.xml"/><Relationship Id="rId14" Type="http://schemas.openxmlformats.org/officeDocument/2006/relationships/tags" Target="../tags/tag17.xml"/><Relationship Id="rId13" Type="http://schemas.openxmlformats.org/officeDocument/2006/relationships/tags" Target="../tags/tag16.xml"/><Relationship Id="rId12" Type="http://schemas.openxmlformats.org/officeDocument/2006/relationships/tags" Target="../tags/tag15.xml"/><Relationship Id="rId11" Type="http://schemas.openxmlformats.org/officeDocument/2006/relationships/tags" Target="../tags/tag14.xml"/><Relationship Id="rId10" Type="http://schemas.openxmlformats.org/officeDocument/2006/relationships/tags" Target="../tags/tag13.xml"/><Relationship Id="rId1" Type="http://schemas.openxmlformats.org/officeDocument/2006/relationships/tags" Target="../tags/tag5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2" Type="http://schemas.openxmlformats.org/officeDocument/2006/relationships/notesSlide" Target="../notesSlides/notesSlide10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38.xml"/><Relationship Id="rId2" Type="http://schemas.openxmlformats.org/officeDocument/2006/relationships/tags" Target="../tags/tag21.xml"/><Relationship Id="rId19" Type="http://schemas.openxmlformats.org/officeDocument/2006/relationships/tags" Target="../tags/tag37.xml"/><Relationship Id="rId18" Type="http://schemas.openxmlformats.org/officeDocument/2006/relationships/tags" Target="../tags/tag36.xml"/><Relationship Id="rId17" Type="http://schemas.openxmlformats.org/officeDocument/2006/relationships/tags" Target="../tags/tag35.xml"/><Relationship Id="rId16" Type="http://schemas.openxmlformats.org/officeDocument/2006/relationships/image" Target="../media/image3.png"/><Relationship Id="rId15" Type="http://schemas.openxmlformats.org/officeDocument/2006/relationships/tags" Target="../tags/tag34.xml"/><Relationship Id="rId14" Type="http://schemas.openxmlformats.org/officeDocument/2006/relationships/tags" Target="../tags/tag33.xml"/><Relationship Id="rId13" Type="http://schemas.openxmlformats.org/officeDocument/2006/relationships/tags" Target="../tags/tag32.xml"/><Relationship Id="rId12" Type="http://schemas.openxmlformats.org/officeDocument/2006/relationships/tags" Target="../tags/tag31.xml"/><Relationship Id="rId11" Type="http://schemas.openxmlformats.org/officeDocument/2006/relationships/tags" Target="../tags/tag30.xml"/><Relationship Id="rId10" Type="http://schemas.openxmlformats.org/officeDocument/2006/relationships/tags" Target="../tags/tag29.xml"/><Relationship Id="rId1" Type="http://schemas.openxmlformats.org/officeDocument/2006/relationships/tags" Target="../tags/tag20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3.png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B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三角形 5"/>
          <p:cNvSpPr/>
          <p:nvPr/>
        </p:nvSpPr>
        <p:spPr>
          <a:xfrm rot="10800000">
            <a:off x="3914669" y="-1"/>
            <a:ext cx="6932418" cy="6211616"/>
          </a:xfrm>
          <a:prstGeom prst="triangle">
            <a:avLst/>
          </a:prstGeom>
          <a:gradFill flip="none" rotWithShape="1">
            <a:gsLst>
              <a:gs pos="0">
                <a:srgbClr val="00B0F0">
                  <a:alpha val="0"/>
                </a:srgbClr>
              </a:gs>
              <a:gs pos="100000">
                <a:srgbClr val="0070C0">
                  <a:alpha val="31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平行四边形 10"/>
          <p:cNvSpPr/>
          <p:nvPr/>
        </p:nvSpPr>
        <p:spPr>
          <a:xfrm>
            <a:off x="-1920230" y="0"/>
            <a:ext cx="10229323" cy="6872456"/>
          </a:xfrm>
          <a:prstGeom prst="parallelogram">
            <a:avLst>
              <a:gd name="adj" fmla="val 56852"/>
            </a:avLst>
          </a:prstGeom>
          <a:blipFill dpi="0" rotWithShape="1"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rcRect/>
            <a:stretch>
              <a:fillRect l="14352" t="222" r="-14352" b="-22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三角形 2"/>
          <p:cNvSpPr/>
          <p:nvPr/>
        </p:nvSpPr>
        <p:spPr>
          <a:xfrm rot="10800000">
            <a:off x="5555083" y="2540"/>
            <a:ext cx="4762398" cy="4267225"/>
          </a:xfrm>
          <a:prstGeom prst="triangle">
            <a:avLst/>
          </a:prstGeom>
          <a:gradFill flip="none" rotWithShape="1">
            <a:gsLst>
              <a:gs pos="0">
                <a:srgbClr val="00B0F0">
                  <a:alpha val="0"/>
                </a:srgbClr>
              </a:gs>
              <a:gs pos="100000">
                <a:srgbClr val="0070C0">
                  <a:alpha val="6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三角形 4"/>
          <p:cNvSpPr/>
          <p:nvPr/>
        </p:nvSpPr>
        <p:spPr>
          <a:xfrm rot="10800000">
            <a:off x="4952824" y="-2"/>
            <a:ext cx="6306169" cy="5650482"/>
          </a:xfrm>
          <a:prstGeom prst="triangle">
            <a:avLst/>
          </a:prstGeom>
          <a:gradFill flip="none" rotWithShape="1">
            <a:gsLst>
              <a:gs pos="0">
                <a:srgbClr val="00B0F0">
                  <a:alpha val="44000"/>
                </a:srgbClr>
              </a:gs>
              <a:gs pos="100000">
                <a:srgbClr val="0070C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三角形 6"/>
          <p:cNvSpPr/>
          <p:nvPr/>
        </p:nvSpPr>
        <p:spPr>
          <a:xfrm>
            <a:off x="4400745" y="3638198"/>
            <a:ext cx="3590596" cy="3217262"/>
          </a:xfrm>
          <a:prstGeom prst="triangle">
            <a:avLst/>
          </a:prstGeom>
          <a:gradFill flip="none" rotWithShape="1">
            <a:gsLst>
              <a:gs pos="0">
                <a:srgbClr val="00B0F0">
                  <a:alpha val="60000"/>
                </a:srgbClr>
              </a:gs>
              <a:gs pos="100000">
                <a:srgbClr val="0070C0">
                  <a:alpha val="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三角形 7"/>
          <p:cNvSpPr/>
          <p:nvPr/>
        </p:nvSpPr>
        <p:spPr>
          <a:xfrm>
            <a:off x="4400745" y="4790273"/>
            <a:ext cx="2323801" cy="2082183"/>
          </a:xfrm>
          <a:prstGeom prst="triangle">
            <a:avLst/>
          </a:prstGeom>
          <a:gradFill flip="none" rotWithShape="1">
            <a:gsLst>
              <a:gs pos="0">
                <a:srgbClr val="00B0F0">
                  <a:alpha val="36000"/>
                </a:srgbClr>
              </a:gs>
              <a:gs pos="100000">
                <a:srgbClr val="0070C0">
                  <a:alpha val="3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直角三角形 8"/>
          <p:cNvSpPr/>
          <p:nvPr/>
        </p:nvSpPr>
        <p:spPr>
          <a:xfrm rot="5400000">
            <a:off x="-820219" y="810102"/>
            <a:ext cx="3740727" cy="2120524"/>
          </a:xfrm>
          <a:prstGeom prst="rtTriangle">
            <a:avLst/>
          </a:prstGeom>
          <a:gradFill>
            <a:gsLst>
              <a:gs pos="0">
                <a:srgbClr val="00B0F0">
                  <a:alpha val="60000"/>
                </a:srgbClr>
              </a:gs>
              <a:gs pos="100000">
                <a:srgbClr val="0070C0">
                  <a:alpha val="70000"/>
                </a:srgb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直角三角形 9"/>
          <p:cNvSpPr/>
          <p:nvPr/>
        </p:nvSpPr>
        <p:spPr>
          <a:xfrm rot="5400000">
            <a:off x="-608207" y="630081"/>
            <a:ext cx="2909457" cy="1649298"/>
          </a:xfrm>
          <a:prstGeom prst="rtTriangle">
            <a:avLst/>
          </a:prstGeom>
          <a:gradFill>
            <a:gsLst>
              <a:gs pos="0">
                <a:srgbClr val="00B0F0">
                  <a:alpha val="60000"/>
                </a:srgbClr>
              </a:gs>
              <a:gs pos="100000">
                <a:srgbClr val="0070C0">
                  <a:alpha val="70000"/>
                </a:srgb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6772011" y="2515346"/>
            <a:ext cx="5302717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5000" dirty="0">
                <a:solidFill>
                  <a:schemeClr val="bg1"/>
                </a:solidFill>
                <a:latin typeface="+mj-ea"/>
                <a:ea typeface="+mj-ea"/>
              </a:rPr>
              <a:t>开题答辩</a:t>
            </a:r>
            <a:endParaRPr kumimoji="1" lang="zh-CN" altLang="en-US" sz="5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71118" y="3925595"/>
            <a:ext cx="198945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chemeClr val="bg1"/>
                </a:solidFill>
              </a:rPr>
              <a:t>汇报人</a:t>
            </a:r>
            <a:r>
              <a:rPr kumimoji="1" lang="zh-CN" altLang="en-US" sz="1600" dirty="0" smtClean="0">
                <a:solidFill>
                  <a:schemeClr val="bg1"/>
                </a:solidFill>
              </a:rPr>
              <a:t>：</a:t>
            </a:r>
            <a:r>
              <a:rPr kumimoji="1" lang="en-US" altLang="zh-CN" sz="1600" dirty="0" smtClean="0">
                <a:solidFill>
                  <a:schemeClr val="bg1"/>
                </a:solidFill>
              </a:rPr>
              <a:t>4</a:t>
            </a:r>
            <a:r>
              <a:rPr kumimoji="1" lang="zh-CN" altLang="en-US" sz="1600" dirty="0" smtClean="0">
                <a:solidFill>
                  <a:schemeClr val="bg1"/>
                </a:solidFill>
              </a:rPr>
              <a:t>组</a:t>
            </a:r>
            <a:r>
              <a:rPr kumimoji="1" lang="en-US" altLang="zh-CN" sz="1600" dirty="0" smtClean="0">
                <a:solidFill>
                  <a:schemeClr val="bg1"/>
                </a:solidFill>
              </a:rPr>
              <a:t>-</a:t>
            </a:r>
            <a:r>
              <a:rPr kumimoji="1" lang="zh-CN" altLang="en-US" sz="1600" dirty="0" smtClean="0">
                <a:solidFill>
                  <a:schemeClr val="bg1"/>
                </a:solidFill>
              </a:rPr>
              <a:t>申梓</a:t>
            </a:r>
            <a:r>
              <a:rPr kumimoji="1" lang="zh-CN" altLang="en-US" sz="1600" dirty="0" smtClean="0">
                <a:solidFill>
                  <a:schemeClr val="bg1"/>
                </a:solidFill>
              </a:rPr>
              <a:t>忻</a:t>
            </a:r>
            <a:endParaRPr kumimoji="1" lang="zh-CN" altLang="en-US" sz="1600" dirty="0" smtClean="0">
              <a:solidFill>
                <a:schemeClr val="bg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5508" y="5355443"/>
            <a:ext cx="1142994" cy="1142994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871335" y="4405630"/>
            <a:ext cx="21329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1600" dirty="0" smtClean="0">
                <a:solidFill>
                  <a:schemeClr val="bg1"/>
                </a:solidFill>
              </a:rPr>
              <a:t>指导教师：翟建芳</a:t>
            </a:r>
            <a:endParaRPr kumimoji="1" lang="zh-CN" altLang="en-US" sz="1600" dirty="0" smtClean="0">
              <a:solidFill>
                <a:schemeClr val="bg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878320" y="4918710"/>
            <a:ext cx="39058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kumimoji="1" lang="zh-CN" altLang="en-US" sz="1600" dirty="0" smtClean="0">
                <a:solidFill>
                  <a:schemeClr val="bg1"/>
                </a:solidFill>
              </a:rPr>
              <a:t>组员：申光耀，冉潘，潘亮，申梓忻</a:t>
            </a:r>
            <a:endParaRPr kumimoji="1" lang="zh-CN" altLang="en-US" sz="1600" dirty="0" smtClean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391400" y="1423035"/>
            <a:ext cx="4064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kumimoji="1" lang="en-US" altLang="zh-CN" sz="2400" dirty="0" smtClean="0">
                <a:solidFill>
                  <a:schemeClr val="bg1"/>
                </a:solidFill>
              </a:rPr>
              <a:t>手写OCR识别与基础批改系统（安卓版）</a:t>
            </a:r>
            <a:endParaRPr kumimoji="1" lang="en-US" altLang="zh-CN" sz="2400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 rot="10800000">
            <a:off x="31990" y="3404615"/>
            <a:ext cx="3854118" cy="3453385"/>
            <a:chOff x="4054440" y="-2"/>
            <a:chExt cx="6306169" cy="5650482"/>
          </a:xfrm>
        </p:grpSpPr>
        <p:sp>
          <p:nvSpPr>
            <p:cNvPr id="5" name="三角形 4"/>
            <p:cNvSpPr/>
            <p:nvPr/>
          </p:nvSpPr>
          <p:spPr>
            <a:xfrm rot="10800000">
              <a:off x="5555083" y="2540"/>
              <a:ext cx="4762398" cy="4267225"/>
            </a:xfrm>
            <a:prstGeom prst="triangle">
              <a:avLst/>
            </a:prstGeom>
            <a:gradFill flip="none" rotWithShape="1">
              <a:gsLst>
                <a:gs pos="0">
                  <a:srgbClr val="00B0F0">
                    <a:alpha val="0"/>
                  </a:srgbClr>
                </a:gs>
                <a:gs pos="100000">
                  <a:srgbClr val="0070C0">
                    <a:alpha val="60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三角形 5"/>
            <p:cNvSpPr/>
            <p:nvPr/>
          </p:nvSpPr>
          <p:spPr>
            <a:xfrm rot="10800000">
              <a:off x="4054440" y="-2"/>
              <a:ext cx="6306169" cy="5650482"/>
            </a:xfrm>
            <a:prstGeom prst="triangle">
              <a:avLst/>
            </a:prstGeom>
            <a:gradFill flip="none" rotWithShape="1">
              <a:gsLst>
                <a:gs pos="0">
                  <a:srgbClr val="00B0F0">
                    <a:alpha val="44000"/>
                  </a:srgbClr>
                </a:gs>
                <a:gs pos="100000">
                  <a:srgbClr val="0070C0">
                    <a:alpha val="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9" name="三角形 8"/>
          <p:cNvSpPr/>
          <p:nvPr/>
        </p:nvSpPr>
        <p:spPr>
          <a:xfrm rot="10800000">
            <a:off x="240" y="51031"/>
            <a:ext cx="6306169" cy="5650482"/>
          </a:xfrm>
          <a:prstGeom prst="triangle">
            <a:avLst/>
          </a:prstGeom>
          <a:gradFill flip="none" rotWithShape="1">
            <a:gsLst>
              <a:gs pos="0">
                <a:srgbClr val="00B0F0">
                  <a:alpha val="44000"/>
                </a:srgbClr>
              </a:gs>
              <a:gs pos="100000">
                <a:srgbClr val="0070C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直角三角形 2"/>
          <p:cNvSpPr/>
          <p:nvPr/>
        </p:nvSpPr>
        <p:spPr>
          <a:xfrm rot="5400000">
            <a:off x="-1532048" y="1532048"/>
            <a:ext cx="7074394" cy="401029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直角三角形 3"/>
          <p:cNvSpPr/>
          <p:nvPr/>
        </p:nvSpPr>
        <p:spPr>
          <a:xfrm rot="5400000">
            <a:off x="-1159604" y="1191595"/>
            <a:ext cx="5502311" cy="3119122"/>
          </a:xfrm>
          <a:prstGeom prst="rtTriangle">
            <a:avLst/>
          </a:prstGeom>
          <a:gradFill>
            <a:gsLst>
              <a:gs pos="0">
                <a:srgbClr val="00B0F0">
                  <a:alpha val="60000"/>
                </a:srgbClr>
              </a:gs>
              <a:gs pos="100000">
                <a:srgbClr val="0070C0">
                  <a:alpha val="70000"/>
                </a:srgb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三角形 7"/>
          <p:cNvSpPr/>
          <p:nvPr/>
        </p:nvSpPr>
        <p:spPr>
          <a:xfrm rot="10800000">
            <a:off x="505175" y="618101"/>
            <a:ext cx="4762398" cy="4267225"/>
          </a:xfrm>
          <a:prstGeom prst="triangle">
            <a:avLst/>
          </a:prstGeom>
          <a:gradFill flip="none" rotWithShape="1">
            <a:gsLst>
              <a:gs pos="0">
                <a:srgbClr val="00B0F0">
                  <a:alpha val="0"/>
                </a:srgbClr>
              </a:gs>
              <a:gs pos="100000">
                <a:srgbClr val="0070C0">
                  <a:alpha val="6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764754" y="1959251"/>
            <a:ext cx="1828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5400" b="1" dirty="0">
                <a:gradFill>
                  <a:gsLst>
                    <a:gs pos="0">
                      <a:srgbClr val="00B0F0"/>
                    </a:gs>
                    <a:gs pos="100000">
                      <a:srgbClr val="0070C0"/>
                    </a:gs>
                  </a:gsLst>
                  <a:lin ang="2700000" scaled="1"/>
                </a:gradFill>
                <a:latin typeface="Source Han Sans CN" panose="020B0500000000000000" pitchFamily="34" charset="-128"/>
                <a:ea typeface="Source Han Sans CN" panose="020B0500000000000000" pitchFamily="34" charset="-128"/>
              </a:rPr>
              <a:t>目录</a:t>
            </a:r>
            <a:endParaRPr kumimoji="1" lang="zh-CN" altLang="en-US" sz="5400" b="1" dirty="0">
              <a:gradFill>
                <a:gsLst>
                  <a:gs pos="0">
                    <a:srgbClr val="00B0F0"/>
                  </a:gs>
                  <a:gs pos="100000">
                    <a:srgbClr val="0070C0"/>
                  </a:gs>
                </a:gsLst>
                <a:lin ang="2700000" scaled="1"/>
              </a:gradFill>
              <a:latin typeface="Source Han Sans CN" panose="020B0500000000000000" pitchFamily="34" charset="-128"/>
              <a:ea typeface="Source Han Sans CN" panose="020B0500000000000000" pitchFamily="34" charset="-128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595100" y="2359361"/>
            <a:ext cx="24016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>
                <a:gradFill>
                  <a:gsLst>
                    <a:gs pos="0">
                      <a:srgbClr val="00B0F0"/>
                    </a:gs>
                    <a:gs pos="100000">
                      <a:srgbClr val="0070C0"/>
                    </a:gs>
                  </a:gsLst>
                  <a:lin ang="2700000" scaled="1"/>
                </a:gradFill>
                <a:latin typeface="+mj-lt"/>
              </a:rPr>
              <a:t>CONTENTS</a:t>
            </a:r>
            <a:endParaRPr kumimoji="1" lang="zh-CN" altLang="en-US" sz="2800" dirty="0">
              <a:gradFill>
                <a:gsLst>
                  <a:gs pos="0">
                    <a:srgbClr val="00B0F0"/>
                  </a:gs>
                  <a:gs pos="100000">
                    <a:srgbClr val="0070C0"/>
                  </a:gs>
                </a:gsLst>
                <a:lin ang="2700000" scaled="1"/>
              </a:gradFill>
              <a:latin typeface="+mj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559939" y="3307402"/>
            <a:ext cx="1891030" cy="181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2800" dirty="0">
                <a:gradFill>
                  <a:gsLst>
                    <a:gs pos="0">
                      <a:srgbClr val="00B0F0"/>
                    </a:gs>
                    <a:gs pos="100000">
                      <a:srgbClr val="0070C0"/>
                    </a:gs>
                  </a:gsLst>
                  <a:lin ang="2700000" scaled="1"/>
                </a:gradFill>
                <a:latin typeface="+mj-ea"/>
                <a:ea typeface="+mj-ea"/>
              </a:rPr>
              <a:t>项目背景</a:t>
            </a:r>
            <a:endParaRPr kumimoji="1" lang="en-US" altLang="zh-CN" sz="2800" dirty="0">
              <a:gradFill>
                <a:gsLst>
                  <a:gs pos="0">
                    <a:srgbClr val="00B0F0"/>
                  </a:gs>
                  <a:gs pos="100000">
                    <a:srgbClr val="0070C0"/>
                  </a:gs>
                </a:gsLst>
                <a:lin ang="2700000" scaled="1"/>
              </a:gradFill>
              <a:latin typeface="+mj-ea"/>
              <a:ea typeface="+mj-ea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2800" dirty="0">
                <a:gradFill>
                  <a:gsLst>
                    <a:gs pos="0">
                      <a:srgbClr val="00B0F0"/>
                    </a:gs>
                    <a:gs pos="100000">
                      <a:srgbClr val="0070C0"/>
                    </a:gs>
                  </a:gsLst>
                  <a:lin ang="2700000" scaled="1"/>
                </a:gradFill>
                <a:latin typeface="+mj-ea"/>
                <a:ea typeface="+mj-ea"/>
              </a:rPr>
              <a:t>进度安排</a:t>
            </a:r>
            <a:endParaRPr kumimoji="1" lang="zh-CN" altLang="en-US" sz="2800" dirty="0">
              <a:gradFill>
                <a:gsLst>
                  <a:gs pos="0">
                    <a:srgbClr val="00B0F0"/>
                  </a:gs>
                  <a:gs pos="100000">
                    <a:srgbClr val="0070C0"/>
                  </a:gs>
                </a:gsLst>
                <a:lin ang="2700000" scaled="1"/>
              </a:gradFill>
              <a:latin typeface="+mj-ea"/>
              <a:ea typeface="+mj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206484" y="3307402"/>
            <a:ext cx="2602230" cy="181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2800" dirty="0">
                <a:gradFill>
                  <a:gsLst>
                    <a:gs pos="0">
                      <a:srgbClr val="00B0F0"/>
                    </a:gs>
                    <a:gs pos="100000">
                      <a:srgbClr val="0070C0"/>
                    </a:gs>
                  </a:gsLst>
                  <a:lin ang="2700000" scaled="1"/>
                </a:gradFill>
                <a:latin typeface="+mj-ea"/>
                <a:ea typeface="+mj-ea"/>
              </a:rPr>
              <a:t>项目核心功能</a:t>
            </a:r>
            <a:endParaRPr kumimoji="1" lang="en-US" altLang="zh-CN" sz="2800" dirty="0">
              <a:gradFill>
                <a:gsLst>
                  <a:gs pos="0">
                    <a:srgbClr val="00B0F0"/>
                  </a:gs>
                  <a:gs pos="100000">
                    <a:srgbClr val="0070C0"/>
                  </a:gs>
                </a:gsLst>
                <a:lin ang="2700000" scaled="1"/>
              </a:gradFill>
              <a:latin typeface="+mj-ea"/>
              <a:ea typeface="+mj-ea"/>
            </a:endParaRPr>
          </a:p>
          <a:p>
            <a:pPr indent="0">
              <a:lnSpc>
                <a:spcPct val="200000"/>
              </a:lnSpc>
              <a:buFont typeface="Wingdings" panose="05000000000000000000" pitchFamily="2" charset="2"/>
              <a:buNone/>
            </a:pPr>
            <a:endParaRPr kumimoji="1" lang="zh-CN" altLang="en-US" sz="2800" dirty="0">
              <a:gradFill>
                <a:gsLst>
                  <a:gs pos="0">
                    <a:srgbClr val="00B0F0"/>
                  </a:gs>
                  <a:gs pos="100000">
                    <a:srgbClr val="0070C0"/>
                  </a:gs>
                </a:gsLst>
                <a:lin ang="2700000" scaled="1"/>
              </a:gradFill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直角三角形 16"/>
          <p:cNvSpPr/>
          <p:nvPr/>
        </p:nvSpPr>
        <p:spPr>
          <a:xfrm rot="16200000">
            <a:off x="8326322" y="2992323"/>
            <a:ext cx="4934251" cy="2797103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直角三角形 17"/>
          <p:cNvSpPr/>
          <p:nvPr/>
        </p:nvSpPr>
        <p:spPr>
          <a:xfrm rot="16200000">
            <a:off x="9180414" y="3851361"/>
            <a:ext cx="3837752" cy="2175525"/>
          </a:xfrm>
          <a:prstGeom prst="rtTriangle">
            <a:avLst/>
          </a:prstGeom>
          <a:gradFill>
            <a:gsLst>
              <a:gs pos="0">
                <a:srgbClr val="00B0F0">
                  <a:alpha val="60000"/>
                </a:srgbClr>
              </a:gs>
              <a:gs pos="100000">
                <a:srgbClr val="0070C0">
                  <a:alpha val="70000"/>
                </a:srgb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" name="组合 1"/>
          <p:cNvGrpSpPr/>
          <p:nvPr/>
        </p:nvGrpSpPr>
        <p:grpSpPr>
          <a:xfrm rot="10800000">
            <a:off x="9386974" y="5098321"/>
            <a:ext cx="1992753" cy="1785556"/>
            <a:chOff x="4054440" y="-2"/>
            <a:chExt cx="6306169" cy="5650482"/>
          </a:xfrm>
        </p:grpSpPr>
        <p:sp>
          <p:nvSpPr>
            <p:cNvPr id="3" name="三角形 2"/>
            <p:cNvSpPr/>
            <p:nvPr/>
          </p:nvSpPr>
          <p:spPr>
            <a:xfrm rot="10800000">
              <a:off x="5555083" y="2540"/>
              <a:ext cx="4762398" cy="4267225"/>
            </a:xfrm>
            <a:prstGeom prst="triangle">
              <a:avLst/>
            </a:prstGeom>
            <a:gradFill flip="none" rotWithShape="1">
              <a:gsLst>
                <a:gs pos="0">
                  <a:srgbClr val="00B0F0">
                    <a:alpha val="0"/>
                  </a:srgbClr>
                </a:gs>
                <a:gs pos="100000">
                  <a:srgbClr val="0070C0">
                    <a:alpha val="60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" name="三角形 3"/>
            <p:cNvSpPr/>
            <p:nvPr/>
          </p:nvSpPr>
          <p:spPr>
            <a:xfrm rot="10800000">
              <a:off x="4054440" y="-2"/>
              <a:ext cx="6306169" cy="5650482"/>
            </a:xfrm>
            <a:prstGeom prst="triangle">
              <a:avLst/>
            </a:prstGeom>
            <a:gradFill flip="none" rotWithShape="1">
              <a:gsLst>
                <a:gs pos="0">
                  <a:srgbClr val="00B0F0">
                    <a:alpha val="44000"/>
                  </a:srgbClr>
                </a:gs>
                <a:gs pos="100000">
                  <a:srgbClr val="0070C0">
                    <a:alpha val="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5" name="三角形 4"/>
          <p:cNvSpPr/>
          <p:nvPr/>
        </p:nvSpPr>
        <p:spPr>
          <a:xfrm rot="10800000">
            <a:off x="101840" y="231"/>
            <a:ext cx="6306169" cy="5650482"/>
          </a:xfrm>
          <a:prstGeom prst="triangle">
            <a:avLst/>
          </a:prstGeom>
          <a:gradFill flip="none" rotWithShape="1">
            <a:gsLst>
              <a:gs pos="0">
                <a:srgbClr val="00B0F0">
                  <a:alpha val="44000"/>
                </a:srgbClr>
              </a:gs>
              <a:gs pos="100000">
                <a:srgbClr val="0070C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直角三角形 5"/>
          <p:cNvSpPr/>
          <p:nvPr/>
        </p:nvSpPr>
        <p:spPr>
          <a:xfrm rot="5400000">
            <a:off x="-1532048" y="1532048"/>
            <a:ext cx="7074394" cy="401029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直角三角形 6"/>
          <p:cNvSpPr/>
          <p:nvPr/>
        </p:nvSpPr>
        <p:spPr>
          <a:xfrm rot="5400000">
            <a:off x="-1159604" y="1191595"/>
            <a:ext cx="5502311" cy="3119122"/>
          </a:xfrm>
          <a:prstGeom prst="rtTriangle">
            <a:avLst/>
          </a:prstGeom>
          <a:gradFill>
            <a:gsLst>
              <a:gs pos="0">
                <a:srgbClr val="00B0F0">
                  <a:alpha val="60000"/>
                </a:srgbClr>
              </a:gs>
              <a:gs pos="100000">
                <a:srgbClr val="0070C0">
                  <a:alpha val="70000"/>
                </a:srgb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三角形 7"/>
          <p:cNvSpPr/>
          <p:nvPr/>
        </p:nvSpPr>
        <p:spPr>
          <a:xfrm rot="10800000">
            <a:off x="799815" y="831461"/>
            <a:ext cx="4762398" cy="4267225"/>
          </a:xfrm>
          <a:prstGeom prst="triangle">
            <a:avLst/>
          </a:prstGeom>
          <a:gradFill flip="none" rotWithShape="1">
            <a:gsLst>
              <a:gs pos="0">
                <a:srgbClr val="00B0F0">
                  <a:alpha val="0"/>
                </a:srgbClr>
              </a:gs>
              <a:gs pos="100000">
                <a:srgbClr val="0070C0">
                  <a:alpha val="6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4047321" y="2987598"/>
            <a:ext cx="3535680" cy="1106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6600" dirty="0">
                <a:gradFill>
                  <a:gsLst>
                    <a:gs pos="0">
                      <a:srgbClr val="00B0F0"/>
                    </a:gs>
                    <a:gs pos="100000">
                      <a:srgbClr val="0070C0"/>
                    </a:gs>
                  </a:gsLst>
                  <a:lin ang="2700000" scaled="1"/>
                </a:gradFill>
                <a:latin typeface="+mj-ea"/>
                <a:ea typeface="+mj-ea"/>
              </a:rPr>
              <a:t>项目背景</a:t>
            </a:r>
            <a:endParaRPr kumimoji="1" lang="zh-CN" altLang="en-US" sz="6600" dirty="0">
              <a:gradFill>
                <a:gsLst>
                  <a:gs pos="0">
                    <a:srgbClr val="00B0F0"/>
                  </a:gs>
                  <a:gs pos="100000">
                    <a:srgbClr val="0070C0"/>
                  </a:gs>
                </a:gsLst>
                <a:lin ang="2700000" scaled="1"/>
              </a:gradFill>
              <a:latin typeface="+mj-ea"/>
              <a:ea typeface="+mj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004732" y="231305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gradFill>
                  <a:gsLst>
                    <a:gs pos="0">
                      <a:srgbClr val="00B0F0">
                        <a:alpha val="60000"/>
                      </a:srgbClr>
                    </a:gs>
                    <a:gs pos="100000">
                      <a:srgbClr val="0070C0">
                        <a:alpha val="70000"/>
                      </a:srgbClr>
                    </a:gs>
                  </a:gsLst>
                  <a:lin ang="2700000" scaled="1"/>
                </a:gradFill>
              </a:rPr>
              <a:t>第一部分</a:t>
            </a:r>
            <a:endParaRPr kumimoji="1" lang="zh-CN" altLang="en-US" sz="2800" dirty="0">
              <a:gradFill>
                <a:gsLst>
                  <a:gs pos="0">
                    <a:srgbClr val="00B0F0">
                      <a:alpha val="60000"/>
                    </a:srgbClr>
                  </a:gs>
                  <a:gs pos="100000">
                    <a:srgbClr val="0070C0">
                      <a:alpha val="70000"/>
                    </a:srgbClr>
                  </a:gs>
                </a:gsLst>
                <a:lin ang="2700000" scaled="1"/>
              </a:gra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44583" y="143693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solidFill>
                  <a:schemeClr val="accent1">
                    <a:lumMod val="75000"/>
                  </a:schemeClr>
                </a:solidFill>
                <a:latin typeface="+mj-ea"/>
              </a:rPr>
              <a:t>项目背景</a:t>
            </a:r>
            <a:endParaRPr kumimoji="1" lang="zh-CN" altLang="en-US" sz="2400" dirty="0">
              <a:solidFill>
                <a:schemeClr val="accent1">
                  <a:lumMod val="75000"/>
                </a:schemeClr>
              </a:solidFill>
              <a:latin typeface="+mj-ea"/>
            </a:endParaRPr>
          </a:p>
        </p:txBody>
      </p:sp>
      <p:sp>
        <p:nvSpPr>
          <p:cNvPr id="10" name="PA-文本框 42"/>
          <p:cNvSpPr txBox="1"/>
          <p:nvPr>
            <p:custDataLst>
              <p:tags r:id="rId1"/>
            </p:custDataLst>
          </p:nvPr>
        </p:nvSpPr>
        <p:spPr>
          <a:xfrm>
            <a:off x="6938754" y="1369899"/>
            <a:ext cx="3902314" cy="65087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200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id-ID" sz="2800" dirty="0">
                <a:solidFill>
                  <a:srgbClr val="FF0000"/>
                </a:solidFill>
                <a:latin typeface="Arial" panose="020B0604020202020204" pitchFamily="34" charset="0"/>
                <a:ea typeface="思源黑体 CN Regular" panose="020B0500000000000000" pitchFamily="34" charset="-122"/>
                <a:cs typeface="+mn-ea"/>
                <a:sym typeface="Arial" panose="020B0604020202020204" pitchFamily="34" charset="0"/>
              </a:rPr>
              <a:t>批改效率低下</a:t>
            </a:r>
            <a:endParaRPr lang="zh-CN" altLang="id-ID" sz="2800" dirty="0">
              <a:solidFill>
                <a:srgbClr val="FF0000"/>
              </a:solidFill>
              <a:latin typeface="Arial" panose="020B0604020202020204" pitchFamily="34" charset="0"/>
              <a:ea typeface="思源黑体 CN Regular" panose="020B0500000000000000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PA-文本框 42"/>
          <p:cNvSpPr txBox="1"/>
          <p:nvPr>
            <p:custDataLst>
              <p:tags r:id="rId2"/>
            </p:custDataLst>
          </p:nvPr>
        </p:nvSpPr>
        <p:spPr>
          <a:xfrm>
            <a:off x="6938754" y="2877417"/>
            <a:ext cx="3902314" cy="65087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200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l">
              <a:buClrTx/>
              <a:buSzTx/>
              <a:buFontTx/>
            </a:pPr>
            <a:r>
              <a:rPr lang="zh-CN" altLang="id-ID" sz="2800" dirty="0">
                <a:solidFill>
                  <a:srgbClr val="FF0000"/>
                </a:solidFill>
                <a:latin typeface="Arial" panose="020B0604020202020204" pitchFamily="34" charset="0"/>
                <a:ea typeface="思源黑体 CN Regular" panose="020B0500000000000000" pitchFamily="34" charset="-122"/>
                <a:cs typeface="+mn-ea"/>
                <a:sym typeface="Arial" panose="020B0604020202020204" pitchFamily="34" charset="0"/>
              </a:rPr>
              <a:t>评分标准不统一</a:t>
            </a:r>
            <a:endParaRPr lang="zh-CN" altLang="id-ID" sz="2800" dirty="0">
              <a:solidFill>
                <a:srgbClr val="FF0000"/>
              </a:solidFill>
              <a:latin typeface="Arial" panose="020B0604020202020204" pitchFamily="34" charset="0"/>
              <a:ea typeface="思源黑体 CN Regular" panose="020B0500000000000000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2" name="PA-文本框 42"/>
          <p:cNvSpPr txBox="1"/>
          <p:nvPr>
            <p:custDataLst>
              <p:tags r:id="rId3"/>
            </p:custDataLst>
          </p:nvPr>
        </p:nvSpPr>
        <p:spPr>
          <a:xfrm>
            <a:off x="6938754" y="4392886"/>
            <a:ext cx="3902314" cy="65087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200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l">
              <a:buClrTx/>
              <a:buSzTx/>
              <a:buFontTx/>
            </a:pPr>
            <a:r>
              <a:rPr lang="zh-CN" altLang="id-ID" sz="2800" dirty="0">
                <a:solidFill>
                  <a:srgbClr val="FF0000"/>
                </a:solidFill>
                <a:latin typeface="Arial" panose="020B0604020202020204" pitchFamily="34" charset="0"/>
                <a:ea typeface="思源黑体 CN Regular" panose="020B0500000000000000" pitchFamily="34" charset="-122"/>
                <a:cs typeface="+mn-ea"/>
                <a:sym typeface="Arial" panose="020B0604020202020204" pitchFamily="34" charset="0"/>
              </a:rPr>
              <a:t>手写数据不可数字化</a:t>
            </a:r>
            <a:endParaRPr lang="zh-CN" altLang="id-ID" sz="2800" dirty="0">
              <a:solidFill>
                <a:srgbClr val="FF0000"/>
              </a:solidFill>
              <a:latin typeface="Arial" panose="020B0604020202020204" pitchFamily="34" charset="0"/>
              <a:ea typeface="思源黑体 CN Regular" panose="020B0500000000000000" pitchFamily="3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9598" y="6121399"/>
            <a:ext cx="570951" cy="570951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100" y="816610"/>
            <a:ext cx="5443855" cy="251206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537845" y="3707765"/>
            <a:ext cx="5563235" cy="1811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solidFill>
                  <a:srgbClr val="00B0F0"/>
                </a:solidFill>
              </a:rPr>
              <a:t>中小学及高校教师普遍面临手写作业批改工作量大、耗时长的问题。据调查，教师平均每天花费</a:t>
            </a:r>
            <a:r>
              <a:rPr lang="en-US" altLang="zh-CN" sz="2400">
                <a:solidFill>
                  <a:srgbClr val="00B0F0"/>
                </a:solidFill>
              </a:rPr>
              <a:t>2-3</a:t>
            </a:r>
            <a:r>
              <a:rPr lang="zh-CN" altLang="en-US" sz="2400">
                <a:solidFill>
                  <a:srgbClr val="00B0F0"/>
                </a:solidFill>
              </a:rPr>
              <a:t>小时批改作业，且人工批改容易受到主观因素影响，导致评分标准不统一。同时，手写作业数据难以进行有效的统计分析和学习轨迹追踪，限制了精准教学的实现</a:t>
            </a:r>
            <a:endParaRPr lang="zh-CN" altLang="en-US" sz="2400">
              <a:solidFill>
                <a:srgbClr val="00B0F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085965" y="1967865"/>
            <a:ext cx="37547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批改效率低下</a:t>
            </a:r>
            <a:r>
              <a:rPr lang="en-US" altLang="zh-CN">
                <a:solidFill>
                  <a:schemeClr val="bg1">
                    <a:lumMod val="50000"/>
                  </a:schemeClr>
                </a:solidFill>
              </a:rPr>
              <a:t>  </a:t>
            </a:r>
            <a:endParaRPr lang="en-US" altLang="zh-CN">
              <a:solidFill>
                <a:schemeClr val="bg1">
                  <a:lumMod val="50000"/>
                </a:schemeClr>
              </a:solidFill>
            </a:endParaRPr>
          </a:p>
          <a:p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教师平均每天耗时</a:t>
            </a:r>
            <a:r>
              <a:rPr lang="en-US" altLang="zh-CN">
                <a:solidFill>
                  <a:schemeClr val="bg1">
                    <a:lumMod val="50000"/>
                  </a:schemeClr>
                </a:solidFill>
              </a:rPr>
              <a:t>2-3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小时批改作业</a:t>
            </a:r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204710" y="3419475"/>
            <a:ext cx="36360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人工批改易受主观情绪影响，同题不同分</a:t>
            </a:r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219315" y="5035550"/>
            <a:ext cx="3621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错题无法统计，学情难以追踪</a:t>
            </a:r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17583" y="155123"/>
            <a:ext cx="23164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Tx/>
              <a:buSzTx/>
              <a:buFontTx/>
              <a:buNone/>
            </a:pPr>
            <a:r>
              <a:rPr kumimoji="1" lang="zh-CN" altLang="en-US" sz="2400" dirty="0">
                <a:solidFill>
                  <a:schemeClr val="accent1">
                    <a:lumMod val="75000"/>
                  </a:schemeClr>
                </a:solidFill>
                <a:latin typeface="+mj-ea"/>
              </a:rPr>
              <a:t>国内外研究现状</a:t>
            </a:r>
            <a:endParaRPr kumimoji="1" lang="zh-CN" altLang="en-US" sz="2400" dirty="0">
              <a:solidFill>
                <a:schemeClr val="accent1">
                  <a:lumMod val="75000"/>
                </a:schemeClr>
              </a:solidFill>
              <a:latin typeface="+mj-ea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9598" y="6121399"/>
            <a:ext cx="570951" cy="570951"/>
          </a:xfrm>
          <a:prstGeom prst="rect">
            <a:avLst/>
          </a:prstGeom>
        </p:spPr>
      </p:pic>
      <p:graphicFrame>
        <p:nvGraphicFramePr>
          <p:cNvPr id="24" name="表格 23"/>
          <p:cNvGraphicFramePr/>
          <p:nvPr>
            <p:custDataLst>
              <p:tags r:id="rId2"/>
            </p:custDataLst>
          </p:nvPr>
        </p:nvGraphicFramePr>
        <p:xfrm>
          <a:off x="744220" y="1169035"/>
          <a:ext cx="10674985" cy="4952365"/>
        </p:xfrm>
        <a:graphic>
          <a:graphicData uri="http://schemas.openxmlformats.org/drawingml/2006/table">
            <a:tbl>
              <a:tblPr/>
              <a:tblGrid>
                <a:gridCol w="3115310"/>
                <a:gridCol w="1363345"/>
                <a:gridCol w="1807210"/>
                <a:gridCol w="1796415"/>
                <a:gridCol w="2592705"/>
              </a:tblGrid>
              <a:tr h="762635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功能指标</a:t>
                      </a:r>
                      <a:r>
                        <a:rPr lang="en-US" altLang="zh-CN" sz="1600" b="1">
                          <a:latin typeface="Segoe UI" panose="020B0502040204020203"/>
                          <a:ea typeface="Segoe UI" panose="020B0502040204020203"/>
                        </a:rPr>
                        <a:t>\</a:t>
                      </a:r>
                      <a:r>
                        <a:rPr lang="zh-CN" sz="1600" b="1">
                          <a:latin typeface="Segoe UI" panose="020B0502040204020203"/>
                          <a:ea typeface="宋体" panose="02010600030101010101" pitchFamily="2" charset="-122"/>
                        </a:rPr>
                        <a:t>当前技术</a:t>
                      </a:r>
                      <a:endParaRPr lang="zh-CN" sz="1600" b="1">
                        <a:latin typeface="Segoe UI" panose="020B0502040204020203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latin typeface="Segoe UI" panose="020B0502040204020203"/>
                          <a:ea typeface="宋体" panose="02010600030101010101" pitchFamily="2" charset="-122"/>
                        </a:rPr>
                        <a:t>Gradescope</a:t>
                      </a:r>
                      <a:endParaRPr lang="en-US" altLang="zh-CN" sz="1600" b="1">
                        <a:latin typeface="Segoe UI" panose="020B0502040204020203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latin typeface="Segoe UI" panose="020B0502040204020203"/>
                          <a:ea typeface="宋体" panose="02010600030101010101" pitchFamily="2" charset="-122"/>
                        </a:rPr>
                        <a:t>Mathpix</a:t>
                      </a:r>
                      <a:endParaRPr lang="en-US" altLang="zh-CN" sz="1600" b="1">
                        <a:latin typeface="Segoe UI" panose="020B0502040204020203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百度</a:t>
                      </a:r>
                      <a:r>
                        <a:rPr lang="en-US" altLang="zh-CN" sz="1600" b="1">
                          <a:latin typeface="Segoe UI" panose="020B0502040204020203"/>
                          <a:ea typeface="宋体" panose="02010600030101010101" pitchFamily="2" charset="-122"/>
                        </a:rPr>
                        <a:t>OCR</a:t>
                      </a:r>
                      <a:endParaRPr lang="en-US" altLang="zh-CN" sz="1600" b="1">
                        <a:latin typeface="Segoe UI" panose="020B0502040204020203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本项目</a:t>
                      </a:r>
                      <a:endParaRPr 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9850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手写中文识别</a:t>
                      </a:r>
                      <a:endParaRPr 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不支持</a:t>
                      </a:r>
                      <a:endParaRPr lang="zh-CN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不支持</a:t>
                      </a:r>
                      <a:endParaRPr lang="zh-CN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支持</a:t>
                      </a:r>
                      <a:endParaRPr lang="zh-CN" sz="160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支持</a:t>
                      </a:r>
                      <a:endParaRPr lang="zh-CN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48665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数学公式识别</a:t>
                      </a:r>
                      <a:endParaRPr 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支持</a:t>
                      </a:r>
                      <a:endParaRPr lang="zh-CN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优秀</a:t>
                      </a:r>
                      <a:endParaRPr lang="zh-CN" sz="160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有限</a:t>
                      </a:r>
                      <a:endParaRPr lang="zh-CN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支持</a:t>
                      </a:r>
                      <a:endParaRPr lang="zh-CN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5785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批改功能</a:t>
                      </a:r>
                      <a:endParaRPr 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支持</a:t>
                      </a:r>
                      <a:endParaRPr lang="zh-CN" sz="160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有限</a:t>
                      </a:r>
                      <a:endParaRPr lang="zh-CN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不支持</a:t>
                      </a:r>
                      <a:endParaRPr lang="zh-CN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支持</a:t>
                      </a:r>
                      <a:endParaRPr lang="zh-CN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62635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移动端适配</a:t>
                      </a:r>
                      <a:endParaRPr 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有限</a:t>
                      </a:r>
                      <a:endParaRPr lang="zh-CN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支持</a:t>
                      </a:r>
                      <a:endParaRPr lang="zh-CN" sz="160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支持</a:t>
                      </a:r>
                      <a:endParaRPr lang="zh-CN" sz="160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专为移动端设计</a:t>
                      </a:r>
                      <a:endParaRPr lang="zh-CN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06755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定制化程度</a:t>
                      </a:r>
                      <a:endParaRPr 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低</a:t>
                      </a:r>
                      <a:endParaRPr lang="zh-CN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低</a:t>
                      </a:r>
                      <a:endParaRPr lang="zh-CN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</a:t>
                      </a:r>
                      <a:endParaRPr lang="zh-CN" sz="160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高</a:t>
                      </a:r>
                      <a:endParaRPr lang="zh-CN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0739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成本</a:t>
                      </a:r>
                      <a:endParaRPr 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高</a:t>
                      </a:r>
                      <a:endParaRPr lang="zh-CN" sz="160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</a:t>
                      </a:r>
                      <a:endParaRPr lang="zh-CN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按次收费</a:t>
                      </a:r>
                      <a:endParaRPr lang="zh-CN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一次性开发</a:t>
                      </a:r>
                      <a:endParaRPr lang="zh-CN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7E7E7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38868" y="143693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Tx/>
              <a:buSzTx/>
              <a:buFontTx/>
            </a:pPr>
            <a:r>
              <a:rPr kumimoji="1" lang="zh-CN" altLang="en-US" sz="2400" dirty="0">
                <a:solidFill>
                  <a:schemeClr val="accent1">
                    <a:lumMod val="75000"/>
                  </a:schemeClr>
                </a:solidFill>
                <a:latin typeface="+mj-ea"/>
              </a:rPr>
              <a:t>技术</a:t>
            </a:r>
            <a:r>
              <a:rPr kumimoji="1" lang="zh-CN" altLang="en-US" sz="2400" dirty="0">
                <a:solidFill>
                  <a:schemeClr val="accent1">
                    <a:lumMod val="75000"/>
                  </a:schemeClr>
                </a:solidFill>
                <a:latin typeface="+mj-ea"/>
              </a:rPr>
              <a:t>调研</a:t>
            </a:r>
            <a:endParaRPr kumimoji="1" lang="zh-CN" altLang="en-US" sz="2400" dirty="0">
              <a:solidFill>
                <a:schemeClr val="accent1">
                  <a:lumMod val="75000"/>
                </a:schemeClr>
              </a:solidFill>
              <a:latin typeface="+mj-ea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9598" y="6121399"/>
            <a:ext cx="570951" cy="57095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50" y="942975"/>
            <a:ext cx="5908675" cy="52489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537960" y="920115"/>
            <a:ext cx="5482590" cy="48310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ym typeface="+mn-ea"/>
              </a:rPr>
              <a:t>最终选择</a:t>
            </a: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PaddleOCR</a:t>
            </a:r>
            <a:r>
              <a:rPr lang="zh-CN" altLang="en-US" sz="2000">
                <a:sym typeface="+mn-ea"/>
              </a:rPr>
              <a:t>作为核心</a:t>
            </a:r>
            <a:r>
              <a:rPr lang="en-US" altLang="zh-CN" sz="2000">
                <a:sym typeface="+mn-ea"/>
              </a:rPr>
              <a:t>OCR</a:t>
            </a:r>
            <a:r>
              <a:rPr lang="zh-CN" altLang="en-US" sz="2000">
                <a:sym typeface="+mn-ea"/>
              </a:rPr>
              <a:t>框架。</a:t>
            </a:r>
            <a:endParaRPr lang="zh-CN" altLang="en-US" sz="2000"/>
          </a:p>
          <a:p>
            <a:r>
              <a:rPr lang="zh-CN" altLang="en-US" sz="2000">
                <a:sym typeface="+mn-ea"/>
              </a:rPr>
              <a:t>理由如下：</a:t>
            </a:r>
            <a:endParaRPr lang="zh-CN" altLang="en-US" sz="2000"/>
          </a:p>
          <a:p>
            <a:r>
              <a:rPr lang="en-US" altLang="zh-CN" sz="2400" b="1">
                <a:sym typeface="+mn-ea"/>
              </a:rPr>
              <a:t>·</a:t>
            </a:r>
            <a:r>
              <a:rPr lang="zh-CN" altLang="en-US" sz="2000">
                <a:solidFill>
                  <a:srgbClr val="00B0F0"/>
                </a:solidFill>
                <a:sym typeface="+mn-ea"/>
              </a:rPr>
              <a:t>精准匹配需求</a:t>
            </a:r>
            <a:r>
              <a:rPr lang="zh-CN" altLang="en-US" sz="2000">
                <a:sym typeface="+mn-ea"/>
              </a:rPr>
              <a:t>：</a:t>
            </a:r>
            <a:r>
              <a:rPr lang="en-US" altLang="zh-CN" sz="2000">
                <a:sym typeface="+mn-ea"/>
              </a:rPr>
              <a:t>PaddleOCR</a:t>
            </a:r>
            <a:r>
              <a:rPr lang="zh-CN" altLang="en-US" sz="2000">
                <a:sym typeface="+mn-ea"/>
              </a:rPr>
              <a:t>对手写体，尤其是中文手写体进行了专项优化，与项目核心需求高度吻合。</a:t>
            </a:r>
            <a:endParaRPr lang="zh-CN" altLang="en-US" sz="2000"/>
          </a:p>
          <a:p>
            <a:r>
              <a:rPr lang="en-US" altLang="zh-CN" sz="2000" b="1">
                <a:sym typeface="+mn-ea"/>
              </a:rPr>
              <a:t>·</a:t>
            </a:r>
            <a:r>
              <a:rPr lang="zh-CN" altLang="en-US" sz="2000">
                <a:solidFill>
                  <a:srgbClr val="00B0F0"/>
                </a:solidFill>
                <a:sym typeface="+mn-ea"/>
              </a:rPr>
              <a:t>部署灵活性</a:t>
            </a:r>
            <a:r>
              <a:rPr lang="zh-CN" altLang="en-US" sz="2000">
                <a:sym typeface="+mn-ea"/>
              </a:rPr>
              <a:t>：提供从服务器端到移动端（</a:t>
            </a:r>
            <a:r>
              <a:rPr lang="en-US" altLang="zh-CN" sz="2000">
                <a:sym typeface="+mn-ea"/>
              </a:rPr>
              <a:t>Paddle Lite</a:t>
            </a:r>
            <a:r>
              <a:rPr lang="zh-CN" altLang="en-US" sz="2000">
                <a:sym typeface="+mn-ea"/>
              </a:rPr>
              <a:t>）的多种部署方案，完美支持我们</a:t>
            </a:r>
            <a:r>
              <a:rPr lang="en-US" altLang="zh-CN" sz="2000">
                <a:sym typeface="+mn-ea"/>
              </a:rPr>
              <a:t>“</a:t>
            </a:r>
            <a:r>
              <a:rPr lang="zh-CN" altLang="en-US" sz="2000">
                <a:sym typeface="+mn-ea"/>
              </a:rPr>
              <a:t>安卓</a:t>
            </a:r>
            <a:r>
              <a:rPr lang="en-US" altLang="zh-CN" sz="2000">
                <a:sym typeface="+mn-ea"/>
              </a:rPr>
              <a:t>APP+</a:t>
            </a:r>
            <a:r>
              <a:rPr lang="zh-CN" altLang="en-US" sz="2000">
                <a:sym typeface="+mn-ea"/>
              </a:rPr>
              <a:t>云端协同</a:t>
            </a:r>
            <a:r>
              <a:rPr lang="en-US" altLang="zh-CN" sz="2000">
                <a:sym typeface="+mn-ea"/>
              </a:rPr>
              <a:t>”</a:t>
            </a:r>
            <a:r>
              <a:rPr lang="zh-CN" altLang="en-US" sz="2000">
                <a:sym typeface="+mn-ea"/>
              </a:rPr>
              <a:t>的架构。</a:t>
            </a:r>
            <a:endParaRPr lang="zh-CN" altLang="en-US" sz="2000"/>
          </a:p>
          <a:p>
            <a:r>
              <a:rPr lang="en-US" altLang="zh-CN" sz="2000" b="1">
                <a:sym typeface="+mn-ea"/>
              </a:rPr>
              <a:t>·</a:t>
            </a:r>
            <a:r>
              <a:rPr lang="zh-CN" altLang="en-US" sz="2000">
                <a:solidFill>
                  <a:srgbClr val="00B0F0"/>
                </a:solidFill>
                <a:sym typeface="+mn-ea"/>
              </a:rPr>
              <a:t>成本与可控性</a:t>
            </a:r>
            <a:r>
              <a:rPr lang="zh-CN" altLang="en-US" sz="2000">
                <a:sym typeface="+mn-ea"/>
              </a:rPr>
              <a:t>：完全开源，无调用费用，符合学生项目预算。同时支持模型微调，允许我们针对教育手写数据做进一步优化。</a:t>
            </a:r>
            <a:endParaRPr lang="zh-CN" altLang="en-US" sz="2000"/>
          </a:p>
          <a:p>
            <a:r>
              <a:rPr lang="en-US" altLang="zh-CN" sz="2000" b="1">
                <a:sym typeface="+mn-ea"/>
              </a:rPr>
              <a:t>·</a:t>
            </a:r>
            <a:r>
              <a:rPr lang="zh-CN" altLang="en-US" sz="2000">
                <a:solidFill>
                  <a:srgbClr val="00B0F0"/>
                </a:solidFill>
                <a:sym typeface="+mn-ea"/>
              </a:rPr>
              <a:t>技术生态</a:t>
            </a:r>
            <a:r>
              <a:rPr lang="zh-CN" altLang="en-US" sz="2000">
                <a:sym typeface="+mn-ea"/>
              </a:rPr>
              <a:t>：提供了从图像预处理（如方向检测、去噪）到文本识别后处理的全流程工具链，能显著降低开发复杂度。</a:t>
            </a:r>
            <a:endParaRPr lang="zh-CN" altLang="en-US" sz="2000"/>
          </a:p>
          <a:p>
            <a:endParaRPr lang="zh-CN" alt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44583" y="143693"/>
            <a:ext cx="2011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Tx/>
              <a:buSzTx/>
              <a:buFontTx/>
            </a:pPr>
            <a:r>
              <a:rPr kumimoji="1" lang="zh-CN" altLang="en-US" sz="2400" dirty="0">
                <a:solidFill>
                  <a:schemeClr val="accent1">
                    <a:lumMod val="75000"/>
                  </a:schemeClr>
                </a:solidFill>
                <a:latin typeface="+mj-ea"/>
              </a:rPr>
              <a:t>技术架构</a:t>
            </a:r>
            <a:r>
              <a:rPr kumimoji="1" lang="zh-CN" altLang="en-US" sz="2400" dirty="0">
                <a:solidFill>
                  <a:schemeClr val="accent1">
                    <a:lumMod val="75000"/>
                  </a:schemeClr>
                </a:solidFill>
                <a:latin typeface="+mj-ea"/>
              </a:rPr>
              <a:t>明细</a:t>
            </a:r>
            <a:endParaRPr kumimoji="1" lang="zh-CN" altLang="en-US" sz="2400" dirty="0">
              <a:solidFill>
                <a:schemeClr val="accent1">
                  <a:lumMod val="75000"/>
                </a:schemeClr>
              </a:solidFill>
              <a:latin typeface="+mj-ea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9598" y="6121399"/>
            <a:ext cx="570951" cy="570951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70205" y="936625"/>
            <a:ext cx="4034155" cy="5175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kumimoji="1" lang="zh-CN" altLang="en-US" sz="2400" dirty="0">
                <a:solidFill>
                  <a:schemeClr val="accent1">
                    <a:lumMod val="75000"/>
                  </a:schemeClr>
                </a:solidFill>
                <a:latin typeface="+mj-ea"/>
              </a:rPr>
              <a:t>前端技术栈</a:t>
            </a:r>
            <a:endParaRPr kumimoji="1" lang="zh-CN" altLang="en-US" sz="2400" dirty="0">
              <a:solidFill>
                <a:schemeClr val="accent1">
                  <a:lumMod val="75000"/>
                </a:schemeClr>
              </a:solidFill>
              <a:latin typeface="+mj-ea"/>
            </a:endParaRPr>
          </a:p>
          <a:p>
            <a:r>
              <a:rPr lang="en-US" altLang="en-US"/>
              <a:t></a:t>
            </a:r>
            <a:r>
              <a:rPr lang="zh-CN" altLang="en-US"/>
              <a:t>开发语言</a:t>
            </a:r>
            <a:r>
              <a:rPr lang="en-US" altLang="zh-CN"/>
              <a:t>: Kotlin 1.8+</a:t>
            </a:r>
            <a:endParaRPr lang="en-US" altLang="zh-CN"/>
          </a:p>
          <a:p>
            <a:r>
              <a:rPr lang="en-US" altLang="en-US"/>
              <a:t></a:t>
            </a:r>
            <a:r>
              <a:rPr lang="zh-CN" altLang="en-US"/>
              <a:t>架构模式</a:t>
            </a:r>
            <a:r>
              <a:rPr lang="en-US" altLang="zh-CN"/>
              <a:t>: MVVM + LiveData</a:t>
            </a:r>
            <a:endParaRPr lang="en-US" altLang="zh-CN"/>
          </a:p>
          <a:p>
            <a:r>
              <a:rPr lang="en-US" altLang="en-US"/>
              <a:t></a:t>
            </a:r>
            <a:r>
              <a:rPr lang="zh-CN" altLang="en-US"/>
              <a:t>异步处理</a:t>
            </a:r>
            <a:r>
              <a:rPr lang="en-US" altLang="zh-CN"/>
              <a:t>: Coroutine + Flow</a:t>
            </a:r>
            <a:endParaRPr lang="en-US" altLang="zh-CN"/>
          </a:p>
          <a:p>
            <a:r>
              <a:rPr lang="en-US" altLang="en-US"/>
              <a:t></a:t>
            </a:r>
            <a:r>
              <a:rPr lang="zh-CN" altLang="en-US"/>
              <a:t>依赖注入</a:t>
            </a:r>
            <a:r>
              <a:rPr lang="en-US" altLang="zh-CN"/>
              <a:t>: Hilt</a:t>
            </a:r>
            <a:endParaRPr lang="en-US" altLang="zh-CN"/>
          </a:p>
          <a:p>
            <a:r>
              <a:rPr lang="en-US" altLang="en-US"/>
              <a:t></a:t>
            </a:r>
            <a:r>
              <a:rPr lang="zh-CN" altLang="en-US"/>
              <a:t>网络请求</a:t>
            </a:r>
            <a:r>
              <a:rPr lang="en-US" altLang="zh-CN"/>
              <a:t>: Retrofit + OkHttp</a:t>
            </a:r>
            <a:endParaRPr lang="en-US" altLang="zh-CN"/>
          </a:p>
          <a:p>
            <a:r>
              <a:rPr lang="en-US" altLang="en-US"/>
              <a:t></a:t>
            </a:r>
            <a:r>
              <a:rPr lang="zh-CN" altLang="en-US"/>
              <a:t>图片处理</a:t>
            </a:r>
            <a:r>
              <a:rPr lang="en-US" altLang="zh-CN"/>
              <a:t>: Glide + OpenCV</a:t>
            </a:r>
            <a:endParaRPr lang="en-US" altLang="zh-CN"/>
          </a:p>
          <a:p>
            <a:endParaRPr lang="en-US" altLang="zh-CN"/>
          </a:p>
          <a:p>
            <a:endParaRPr lang="zh-CN" altLang="en-US"/>
          </a:p>
          <a:p>
            <a:pPr algn="l">
              <a:buClrTx/>
              <a:buSzTx/>
              <a:buFontTx/>
            </a:pPr>
            <a:r>
              <a:rPr kumimoji="1" lang="zh-CN" altLang="en-US" sz="2400" dirty="0">
                <a:solidFill>
                  <a:schemeClr val="accent1">
                    <a:lumMod val="75000"/>
                  </a:schemeClr>
                </a:solidFill>
                <a:latin typeface="+mj-ea"/>
              </a:rPr>
              <a:t>后端技术栈</a:t>
            </a:r>
            <a:endParaRPr kumimoji="1" lang="zh-CN" altLang="en-US" sz="2400" dirty="0">
              <a:solidFill>
                <a:schemeClr val="accent1">
                  <a:lumMod val="75000"/>
                </a:schemeClr>
              </a:solidFill>
              <a:latin typeface="+mj-ea"/>
            </a:endParaRPr>
          </a:p>
          <a:p>
            <a:r>
              <a:rPr lang="en-US" altLang="en-US"/>
              <a:t></a:t>
            </a:r>
            <a:r>
              <a:rPr lang="zh-CN" altLang="en-US"/>
              <a:t>基础框架</a:t>
            </a:r>
            <a:r>
              <a:rPr lang="en-US" altLang="zh-CN"/>
              <a:t>: Spring Boot 3.0</a:t>
            </a:r>
            <a:endParaRPr lang="en-US" altLang="zh-CN"/>
          </a:p>
          <a:p>
            <a:r>
              <a:rPr lang="en-US" altLang="en-US"/>
              <a:t></a:t>
            </a:r>
            <a:r>
              <a:rPr lang="zh-CN" altLang="en-US"/>
              <a:t>安全框架</a:t>
            </a:r>
            <a:r>
              <a:rPr lang="en-US" altLang="zh-CN"/>
              <a:t>: Spring Security + JWT</a:t>
            </a:r>
            <a:endParaRPr lang="en-US" altLang="zh-CN"/>
          </a:p>
          <a:p>
            <a:r>
              <a:rPr lang="en-US" altLang="en-US"/>
              <a:t></a:t>
            </a:r>
            <a:r>
              <a:rPr lang="en-US" altLang="zh-CN"/>
              <a:t>API</a:t>
            </a:r>
            <a:r>
              <a:rPr lang="zh-CN" altLang="en-US"/>
              <a:t>文档</a:t>
            </a:r>
            <a:r>
              <a:rPr lang="en-US" altLang="zh-CN"/>
              <a:t>: Swagger 3.0</a:t>
            </a:r>
            <a:endParaRPr lang="en-US" altLang="zh-CN"/>
          </a:p>
          <a:p>
            <a:r>
              <a:rPr lang="en-US" altLang="en-US"/>
              <a:t></a:t>
            </a:r>
            <a:r>
              <a:rPr lang="zh-CN" altLang="en-US"/>
              <a:t>任务调度</a:t>
            </a:r>
            <a:r>
              <a:rPr lang="en-US" altLang="zh-CN"/>
              <a:t>: Quartz</a:t>
            </a:r>
            <a:endParaRPr lang="en-US" altLang="zh-CN"/>
          </a:p>
          <a:p>
            <a:r>
              <a:rPr lang="en-US" altLang="en-US"/>
              <a:t></a:t>
            </a:r>
            <a:r>
              <a:rPr lang="zh-CN" altLang="en-US"/>
              <a:t>消息队列</a:t>
            </a:r>
            <a:r>
              <a:rPr lang="en-US" altLang="zh-CN"/>
              <a:t>: RabbitMQ</a:t>
            </a:r>
            <a:endParaRPr lang="en-US" altLang="zh-CN"/>
          </a:p>
          <a:p>
            <a:r>
              <a:rPr lang="en-US" altLang="en-US"/>
              <a:t></a:t>
            </a:r>
            <a:r>
              <a:rPr lang="zh-CN" altLang="en-US"/>
              <a:t>缓存</a:t>
            </a:r>
            <a:r>
              <a:rPr lang="en-US" altLang="zh-CN"/>
              <a:t>: Redis Cluster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5997575" y="1029335"/>
            <a:ext cx="5622290" cy="1845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kumimoji="1" lang="zh-CN" altLang="en-US" sz="2400" dirty="0">
                <a:solidFill>
                  <a:schemeClr val="accent1">
                    <a:lumMod val="75000"/>
                  </a:schemeClr>
                </a:solidFill>
                <a:latin typeface="+mj-ea"/>
              </a:rPr>
              <a:t>算法技术栈</a:t>
            </a:r>
            <a:endParaRPr kumimoji="1" lang="zh-CN" altLang="en-US" sz="2400" dirty="0">
              <a:solidFill>
                <a:schemeClr val="accent1">
                  <a:lumMod val="75000"/>
                </a:schemeClr>
              </a:solidFill>
              <a:latin typeface="+mj-ea"/>
            </a:endParaRPr>
          </a:p>
          <a:p>
            <a:r>
              <a:rPr lang="en-US" altLang="en-US"/>
              <a:t></a:t>
            </a:r>
            <a:r>
              <a:rPr lang="en-US" altLang="zh-CN"/>
              <a:t>OCR</a:t>
            </a:r>
            <a:r>
              <a:rPr lang="zh-CN" altLang="en-US"/>
              <a:t>框架</a:t>
            </a:r>
            <a:r>
              <a:rPr lang="en-US" altLang="zh-CN"/>
              <a:t>: PaddleOCR 2.6</a:t>
            </a:r>
            <a:endParaRPr lang="en-US" altLang="zh-CN"/>
          </a:p>
          <a:p>
            <a:r>
              <a:rPr lang="en-US" altLang="en-US"/>
              <a:t></a:t>
            </a:r>
            <a:r>
              <a:rPr lang="zh-CN" altLang="en-US"/>
              <a:t>文本检测</a:t>
            </a:r>
            <a:r>
              <a:rPr lang="en-US" altLang="zh-CN"/>
              <a:t>: DBNet</a:t>
            </a:r>
            <a:endParaRPr lang="en-US" altLang="zh-CN"/>
          </a:p>
          <a:p>
            <a:r>
              <a:rPr lang="en-US" altLang="en-US"/>
              <a:t></a:t>
            </a:r>
            <a:r>
              <a:rPr lang="zh-CN" altLang="en-US"/>
              <a:t>文本识别</a:t>
            </a:r>
            <a:r>
              <a:rPr lang="en-US" altLang="zh-CN"/>
              <a:t>: CRNN + Attention</a:t>
            </a:r>
            <a:endParaRPr lang="en-US" altLang="zh-CN"/>
          </a:p>
          <a:p>
            <a:r>
              <a:rPr lang="en-US" altLang="en-US"/>
              <a:t></a:t>
            </a:r>
            <a:r>
              <a:rPr lang="zh-CN" altLang="en-US"/>
              <a:t>模型优化</a:t>
            </a:r>
            <a:r>
              <a:rPr lang="en-US" altLang="zh-CN"/>
              <a:t>: </a:t>
            </a:r>
            <a:r>
              <a:rPr lang="zh-CN" altLang="en-US"/>
              <a:t>知识蒸馏</a:t>
            </a:r>
            <a:r>
              <a:rPr lang="en-US" altLang="zh-CN"/>
              <a:t> + </a:t>
            </a:r>
            <a:r>
              <a:rPr lang="zh-CN" altLang="en-US"/>
              <a:t>量化压缩</a:t>
            </a:r>
            <a:endParaRPr lang="zh-CN" altLang="en-US"/>
          </a:p>
          <a:p>
            <a:r>
              <a:rPr lang="zh-CN" altLang="en-US"/>
              <a:t>训练数据</a:t>
            </a:r>
            <a:r>
              <a:rPr lang="en-US" altLang="zh-CN"/>
              <a:t>: IAM + CASIA-HWDB + EMNIST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直角三角形 16"/>
          <p:cNvSpPr/>
          <p:nvPr/>
        </p:nvSpPr>
        <p:spPr>
          <a:xfrm rot="16200000">
            <a:off x="8326322" y="2992323"/>
            <a:ext cx="4934251" cy="2797103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直角三角形 17"/>
          <p:cNvSpPr/>
          <p:nvPr/>
        </p:nvSpPr>
        <p:spPr>
          <a:xfrm rot="16200000">
            <a:off x="9180414" y="3851361"/>
            <a:ext cx="3837752" cy="2175525"/>
          </a:xfrm>
          <a:prstGeom prst="rtTriangle">
            <a:avLst/>
          </a:prstGeom>
          <a:gradFill>
            <a:gsLst>
              <a:gs pos="0">
                <a:srgbClr val="00B0F0">
                  <a:alpha val="60000"/>
                </a:srgbClr>
              </a:gs>
              <a:gs pos="100000">
                <a:srgbClr val="0070C0">
                  <a:alpha val="70000"/>
                </a:srgb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" name="组合 1"/>
          <p:cNvGrpSpPr/>
          <p:nvPr/>
        </p:nvGrpSpPr>
        <p:grpSpPr>
          <a:xfrm rot="10800000">
            <a:off x="9386974" y="5098321"/>
            <a:ext cx="1992753" cy="1785556"/>
            <a:chOff x="4054440" y="-2"/>
            <a:chExt cx="6306169" cy="5650482"/>
          </a:xfrm>
        </p:grpSpPr>
        <p:sp>
          <p:nvSpPr>
            <p:cNvPr id="3" name="三角形 2"/>
            <p:cNvSpPr/>
            <p:nvPr/>
          </p:nvSpPr>
          <p:spPr>
            <a:xfrm rot="10800000">
              <a:off x="5555083" y="2540"/>
              <a:ext cx="4762398" cy="4267225"/>
            </a:xfrm>
            <a:prstGeom prst="triangle">
              <a:avLst/>
            </a:prstGeom>
            <a:gradFill flip="none" rotWithShape="1">
              <a:gsLst>
                <a:gs pos="0">
                  <a:srgbClr val="00B0F0">
                    <a:alpha val="0"/>
                  </a:srgbClr>
                </a:gs>
                <a:gs pos="100000">
                  <a:srgbClr val="0070C0">
                    <a:alpha val="60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" name="三角形 3"/>
            <p:cNvSpPr/>
            <p:nvPr/>
          </p:nvSpPr>
          <p:spPr>
            <a:xfrm rot="10800000">
              <a:off x="4054440" y="-2"/>
              <a:ext cx="6306169" cy="5650482"/>
            </a:xfrm>
            <a:prstGeom prst="triangle">
              <a:avLst/>
            </a:prstGeom>
            <a:gradFill flip="none" rotWithShape="1">
              <a:gsLst>
                <a:gs pos="0">
                  <a:srgbClr val="00B0F0">
                    <a:alpha val="44000"/>
                  </a:srgbClr>
                </a:gs>
                <a:gs pos="100000">
                  <a:srgbClr val="0070C0">
                    <a:alpha val="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5" name="三角形 4"/>
          <p:cNvSpPr/>
          <p:nvPr/>
        </p:nvSpPr>
        <p:spPr>
          <a:xfrm rot="10800000">
            <a:off x="240" y="144376"/>
            <a:ext cx="6306169" cy="5650482"/>
          </a:xfrm>
          <a:prstGeom prst="triangle">
            <a:avLst/>
          </a:prstGeom>
          <a:gradFill flip="none" rotWithShape="1">
            <a:gsLst>
              <a:gs pos="0">
                <a:srgbClr val="00B0F0">
                  <a:alpha val="44000"/>
                </a:srgbClr>
              </a:gs>
              <a:gs pos="100000">
                <a:srgbClr val="0070C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直角三角形 5"/>
          <p:cNvSpPr/>
          <p:nvPr/>
        </p:nvSpPr>
        <p:spPr>
          <a:xfrm rot="5400000">
            <a:off x="-1532048" y="1532048"/>
            <a:ext cx="7074394" cy="401029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直角三角形 6"/>
          <p:cNvSpPr/>
          <p:nvPr/>
        </p:nvSpPr>
        <p:spPr>
          <a:xfrm rot="5400000">
            <a:off x="-1159604" y="1191595"/>
            <a:ext cx="5502311" cy="3119122"/>
          </a:xfrm>
          <a:prstGeom prst="rtTriangle">
            <a:avLst/>
          </a:prstGeom>
          <a:gradFill>
            <a:gsLst>
              <a:gs pos="0">
                <a:srgbClr val="00B0F0">
                  <a:alpha val="60000"/>
                </a:srgbClr>
              </a:gs>
              <a:gs pos="100000">
                <a:srgbClr val="0070C0">
                  <a:alpha val="70000"/>
                </a:srgb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三角形 7"/>
          <p:cNvSpPr/>
          <p:nvPr/>
        </p:nvSpPr>
        <p:spPr>
          <a:xfrm rot="10800000">
            <a:off x="411830" y="327271"/>
            <a:ext cx="4762398" cy="4267225"/>
          </a:xfrm>
          <a:prstGeom prst="triangle">
            <a:avLst/>
          </a:prstGeom>
          <a:gradFill flip="none" rotWithShape="1">
            <a:gsLst>
              <a:gs pos="0">
                <a:srgbClr val="00B0F0">
                  <a:alpha val="0"/>
                </a:srgbClr>
              </a:gs>
              <a:gs pos="100000">
                <a:srgbClr val="0070C0">
                  <a:alpha val="6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4047321" y="2987598"/>
            <a:ext cx="5212080" cy="1106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6600" dirty="0">
                <a:gradFill>
                  <a:gsLst>
                    <a:gs pos="0">
                      <a:srgbClr val="00B0F0"/>
                    </a:gs>
                    <a:gs pos="100000">
                      <a:srgbClr val="0070C0"/>
                    </a:gs>
                  </a:gsLst>
                  <a:lin ang="2700000" scaled="1"/>
                </a:gradFill>
                <a:latin typeface="+mj-ea"/>
                <a:ea typeface="+mj-ea"/>
              </a:rPr>
              <a:t>项目核心</a:t>
            </a:r>
            <a:r>
              <a:rPr kumimoji="1" lang="zh-CN" altLang="en-US" sz="6600" dirty="0">
                <a:gradFill>
                  <a:gsLst>
                    <a:gs pos="0">
                      <a:srgbClr val="00B0F0"/>
                    </a:gs>
                    <a:gs pos="100000">
                      <a:srgbClr val="0070C0"/>
                    </a:gs>
                  </a:gsLst>
                  <a:lin ang="2700000" scaled="1"/>
                </a:gradFill>
                <a:latin typeface="+mj-ea"/>
                <a:ea typeface="+mj-ea"/>
              </a:rPr>
              <a:t>功能</a:t>
            </a:r>
            <a:endParaRPr kumimoji="1" lang="zh-CN" altLang="en-US" sz="6600" dirty="0">
              <a:gradFill>
                <a:gsLst>
                  <a:gs pos="0">
                    <a:srgbClr val="00B0F0"/>
                  </a:gs>
                  <a:gs pos="100000">
                    <a:srgbClr val="0070C0"/>
                  </a:gs>
                </a:gsLst>
                <a:lin ang="2700000" scaled="1"/>
              </a:gradFill>
              <a:latin typeface="+mj-ea"/>
              <a:ea typeface="+mj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470822" y="2313057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gradFill>
                  <a:gsLst>
                    <a:gs pos="0">
                      <a:srgbClr val="00B0F0">
                        <a:alpha val="60000"/>
                      </a:srgbClr>
                    </a:gs>
                    <a:gs pos="100000">
                      <a:srgbClr val="0070C0">
                        <a:alpha val="70000"/>
                      </a:srgbClr>
                    </a:gs>
                  </a:gsLst>
                  <a:lin ang="2700000" scaled="1"/>
                </a:gradFill>
              </a:rPr>
              <a:t>第</a:t>
            </a:r>
            <a:r>
              <a:rPr kumimoji="1" lang="zh-CN" altLang="en-US" sz="2800" dirty="0">
                <a:gradFill>
                  <a:gsLst>
                    <a:gs pos="0">
                      <a:srgbClr val="00B0F0">
                        <a:alpha val="60000"/>
                      </a:srgbClr>
                    </a:gs>
                    <a:gs pos="100000">
                      <a:srgbClr val="0070C0">
                        <a:alpha val="70000"/>
                      </a:srgbClr>
                    </a:gs>
                  </a:gsLst>
                  <a:lin ang="2700000" scaled="1"/>
                </a:gradFill>
              </a:rPr>
              <a:t>二部分</a:t>
            </a:r>
            <a:endParaRPr kumimoji="1" lang="zh-CN" altLang="en-US" sz="2800" dirty="0">
              <a:gradFill>
                <a:gsLst>
                  <a:gs pos="0">
                    <a:srgbClr val="00B0F0">
                      <a:alpha val="60000"/>
                    </a:srgbClr>
                  </a:gs>
                  <a:gs pos="100000">
                    <a:srgbClr val="0070C0">
                      <a:alpha val="70000"/>
                    </a:srgbClr>
                  </a:gs>
                </a:gsLst>
                <a:lin ang="2700000" scaled="1"/>
              </a:gra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44583" y="143693"/>
            <a:ext cx="17068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Tx/>
              <a:buSzTx/>
              <a:buFontTx/>
            </a:pPr>
            <a:r>
              <a:rPr kumimoji="1" lang="zh-CN" altLang="en-US" sz="2400" dirty="0">
                <a:solidFill>
                  <a:schemeClr val="accent1">
                    <a:lumMod val="75000"/>
                  </a:schemeClr>
                </a:solidFill>
                <a:latin typeface="+mj-ea"/>
              </a:rPr>
              <a:t>功能性需求</a:t>
            </a:r>
            <a:endParaRPr kumimoji="1" lang="zh-CN" altLang="en-US" sz="2400" dirty="0">
              <a:solidFill>
                <a:schemeClr val="accent1">
                  <a:lumMod val="75000"/>
                </a:schemeClr>
              </a:solidFill>
              <a:latin typeface="+mj-ea"/>
            </a:endParaRPr>
          </a:p>
        </p:txBody>
      </p:sp>
      <p:sp>
        <p:nvSpPr>
          <p:cNvPr id="3" name="Freeform 1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rot="10800000">
            <a:off x="279083" y="931165"/>
            <a:ext cx="2014689" cy="900861"/>
          </a:xfrm>
          <a:custGeom>
            <a:avLst/>
            <a:gdLst>
              <a:gd name="T0" fmla="*/ 260531822 w 7875"/>
              <a:gd name="T1" fmla="*/ 76882102 h 3594"/>
              <a:gd name="T2" fmla="*/ 349238401 w 7875"/>
              <a:gd name="T3" fmla="*/ 0 h 3594"/>
              <a:gd name="T4" fmla="*/ 87331766 w 7875"/>
              <a:gd name="T5" fmla="*/ 0 h 3594"/>
              <a:gd name="T6" fmla="*/ 0 w 7875"/>
              <a:gd name="T7" fmla="*/ 76882102 h 3594"/>
              <a:gd name="T8" fmla="*/ 87331766 w 7875"/>
              <a:gd name="T9" fmla="*/ 152533110 h 3594"/>
              <a:gd name="T10" fmla="*/ 349238401 w 7875"/>
              <a:gd name="T11" fmla="*/ 152533110 h 3594"/>
              <a:gd name="T12" fmla="*/ 260531822 w 7875"/>
              <a:gd name="T13" fmla="*/ 76882102 h 359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875" h="3594">
                <a:moveTo>
                  <a:pt x="5874" y="1811"/>
                </a:moveTo>
                <a:lnTo>
                  <a:pt x="7874" y="0"/>
                </a:lnTo>
                <a:lnTo>
                  <a:pt x="1969" y="0"/>
                </a:lnTo>
                <a:lnTo>
                  <a:pt x="0" y="1811"/>
                </a:lnTo>
                <a:lnTo>
                  <a:pt x="1969" y="3593"/>
                </a:lnTo>
                <a:lnTo>
                  <a:pt x="7874" y="3593"/>
                </a:lnTo>
                <a:lnTo>
                  <a:pt x="5874" y="1811"/>
                </a:lnTo>
              </a:path>
            </a:pathLst>
          </a:custGeom>
          <a:gradFill>
            <a:gsLst>
              <a:gs pos="0">
                <a:srgbClr val="00B0F0"/>
              </a:gs>
              <a:gs pos="100000">
                <a:srgbClr val="0070C0"/>
              </a:gs>
            </a:gsLst>
            <a:lin ang="2700000" scaled="1"/>
          </a:gra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Freeform 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0800000">
            <a:off x="5011103" y="889148"/>
            <a:ext cx="2014689" cy="943454"/>
          </a:xfrm>
          <a:custGeom>
            <a:avLst/>
            <a:gdLst>
              <a:gd name="T0" fmla="*/ 260531822 w 7875"/>
              <a:gd name="T1" fmla="*/ 76882102 h 3594"/>
              <a:gd name="T2" fmla="*/ 349238401 w 7875"/>
              <a:gd name="T3" fmla="*/ 0 h 3594"/>
              <a:gd name="T4" fmla="*/ 87331766 w 7875"/>
              <a:gd name="T5" fmla="*/ 0 h 3594"/>
              <a:gd name="T6" fmla="*/ 0 w 7875"/>
              <a:gd name="T7" fmla="*/ 76882102 h 3594"/>
              <a:gd name="T8" fmla="*/ 87331766 w 7875"/>
              <a:gd name="T9" fmla="*/ 152533110 h 3594"/>
              <a:gd name="T10" fmla="*/ 349238401 w 7875"/>
              <a:gd name="T11" fmla="*/ 152533110 h 3594"/>
              <a:gd name="T12" fmla="*/ 260531822 w 7875"/>
              <a:gd name="T13" fmla="*/ 76882102 h 359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875" h="3594">
                <a:moveTo>
                  <a:pt x="5874" y="1811"/>
                </a:moveTo>
                <a:lnTo>
                  <a:pt x="7874" y="0"/>
                </a:lnTo>
                <a:lnTo>
                  <a:pt x="1969" y="0"/>
                </a:lnTo>
                <a:lnTo>
                  <a:pt x="0" y="1811"/>
                </a:lnTo>
                <a:lnTo>
                  <a:pt x="1969" y="3593"/>
                </a:lnTo>
                <a:lnTo>
                  <a:pt x="7874" y="3593"/>
                </a:lnTo>
                <a:lnTo>
                  <a:pt x="5874" y="1811"/>
                </a:lnTo>
              </a:path>
            </a:pathLst>
          </a:custGeom>
          <a:gradFill>
            <a:gsLst>
              <a:gs pos="0">
                <a:srgbClr val="00B0F0"/>
              </a:gs>
              <a:gs pos="100000">
                <a:srgbClr val="0070C0"/>
              </a:gs>
            </a:gsLst>
            <a:lin ang="2700000" scaled="1"/>
          </a:gra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Freeform 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rot="10800000">
            <a:off x="2645093" y="888699"/>
            <a:ext cx="2014689" cy="943453"/>
          </a:xfrm>
          <a:custGeom>
            <a:avLst/>
            <a:gdLst>
              <a:gd name="T0" fmla="*/ 2147483647 w 7875"/>
              <a:gd name="T1" fmla="*/ 1102871697 h 3594"/>
              <a:gd name="T2" fmla="*/ 2147483647 w 7875"/>
              <a:gd name="T3" fmla="*/ 0 h 3594"/>
              <a:gd name="T4" fmla="*/ 1199687158 w 7875"/>
              <a:gd name="T5" fmla="*/ 0 h 3594"/>
              <a:gd name="T6" fmla="*/ 0 w 7875"/>
              <a:gd name="T7" fmla="*/ 1102871697 h 3594"/>
              <a:gd name="T8" fmla="*/ 1199687158 w 7875"/>
              <a:gd name="T9" fmla="*/ 2147483647 h 3594"/>
              <a:gd name="T10" fmla="*/ 2147483647 w 7875"/>
              <a:gd name="T11" fmla="*/ 2147483647 h 3594"/>
              <a:gd name="T12" fmla="*/ 2147483647 w 7875"/>
              <a:gd name="T13" fmla="*/ 1102871697 h 359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875" h="3594">
                <a:moveTo>
                  <a:pt x="5874" y="1811"/>
                </a:moveTo>
                <a:lnTo>
                  <a:pt x="7874" y="0"/>
                </a:lnTo>
                <a:lnTo>
                  <a:pt x="1969" y="0"/>
                </a:lnTo>
                <a:lnTo>
                  <a:pt x="0" y="1811"/>
                </a:lnTo>
                <a:lnTo>
                  <a:pt x="1969" y="3593"/>
                </a:lnTo>
                <a:lnTo>
                  <a:pt x="7874" y="3593"/>
                </a:lnTo>
                <a:lnTo>
                  <a:pt x="5874" y="1811"/>
                </a:lnTo>
              </a:path>
            </a:pathLst>
          </a:custGeom>
          <a:gradFill>
            <a:gsLst>
              <a:gs pos="0">
                <a:srgbClr val="00B0F0"/>
              </a:gs>
              <a:gs pos="100000">
                <a:srgbClr val="0070C0"/>
              </a:gs>
            </a:gsLst>
            <a:lin ang="2700000" scaled="1"/>
          </a:gra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9598" y="6121399"/>
            <a:ext cx="570951" cy="570951"/>
          </a:xfrm>
          <a:prstGeom prst="rect">
            <a:avLst/>
          </a:prstGeom>
        </p:spPr>
      </p:pic>
      <p:sp>
        <p:nvSpPr>
          <p:cNvPr id="22" name="Freeform 1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 rot="10800000">
            <a:off x="7325043" y="889148"/>
            <a:ext cx="2014689" cy="943454"/>
          </a:xfrm>
          <a:custGeom>
            <a:avLst/>
            <a:gdLst>
              <a:gd name="T0" fmla="*/ 260531822 w 7875"/>
              <a:gd name="T1" fmla="*/ 76882102 h 3594"/>
              <a:gd name="T2" fmla="*/ 349238401 w 7875"/>
              <a:gd name="T3" fmla="*/ 0 h 3594"/>
              <a:gd name="T4" fmla="*/ 87331766 w 7875"/>
              <a:gd name="T5" fmla="*/ 0 h 3594"/>
              <a:gd name="T6" fmla="*/ 0 w 7875"/>
              <a:gd name="T7" fmla="*/ 76882102 h 3594"/>
              <a:gd name="T8" fmla="*/ 87331766 w 7875"/>
              <a:gd name="T9" fmla="*/ 152533110 h 3594"/>
              <a:gd name="T10" fmla="*/ 349238401 w 7875"/>
              <a:gd name="T11" fmla="*/ 152533110 h 3594"/>
              <a:gd name="T12" fmla="*/ 260531822 w 7875"/>
              <a:gd name="T13" fmla="*/ 76882102 h 359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875" h="3594">
                <a:moveTo>
                  <a:pt x="5874" y="1811"/>
                </a:moveTo>
                <a:lnTo>
                  <a:pt x="7874" y="0"/>
                </a:lnTo>
                <a:lnTo>
                  <a:pt x="1969" y="0"/>
                </a:lnTo>
                <a:lnTo>
                  <a:pt x="0" y="1811"/>
                </a:lnTo>
                <a:lnTo>
                  <a:pt x="1969" y="3593"/>
                </a:lnTo>
                <a:lnTo>
                  <a:pt x="7874" y="3593"/>
                </a:lnTo>
                <a:lnTo>
                  <a:pt x="5874" y="1811"/>
                </a:lnTo>
              </a:path>
            </a:pathLst>
          </a:custGeom>
          <a:gradFill>
            <a:gsLst>
              <a:gs pos="0">
                <a:srgbClr val="00B0F0"/>
              </a:gs>
              <a:gs pos="100000">
                <a:srgbClr val="0070C0"/>
              </a:gs>
            </a:gsLst>
            <a:lin ang="2700000" scaled="1"/>
          </a:gra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txBody>
          <a:bodyPr wrap="none" anchor="ctr"/>
          <a:p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6"/>
            </p:custDataLst>
          </p:nvPr>
        </p:nvSpPr>
        <p:spPr>
          <a:xfrm>
            <a:off x="822960" y="1028065"/>
            <a:ext cx="12192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用户管理</a:t>
            </a:r>
            <a:r>
              <a:rPr lang="zh-CN" altLang="en-US"/>
              <a:t>功能</a:t>
            </a:r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7"/>
            </p:custDataLst>
          </p:nvPr>
        </p:nvSpPr>
        <p:spPr>
          <a:xfrm>
            <a:off x="3028950" y="1028065"/>
            <a:ext cx="12039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作业管理</a:t>
            </a:r>
            <a:r>
              <a:rPr lang="zh-CN" altLang="en-US"/>
              <a:t>功能</a:t>
            </a:r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8"/>
            </p:custDataLst>
          </p:nvPr>
        </p:nvSpPr>
        <p:spPr>
          <a:xfrm>
            <a:off x="5540375" y="1028065"/>
            <a:ext cx="12192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OCR</a:t>
            </a:r>
            <a:r>
              <a:rPr lang="zh-CN" altLang="en-US"/>
              <a:t>识别</a:t>
            </a:r>
            <a:r>
              <a:rPr lang="zh-CN" altLang="en-US"/>
              <a:t>功能</a:t>
            </a:r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9"/>
            </p:custDataLst>
          </p:nvPr>
        </p:nvSpPr>
        <p:spPr>
          <a:xfrm>
            <a:off x="7804150" y="1166495"/>
            <a:ext cx="11645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批改</a:t>
            </a:r>
            <a:r>
              <a:rPr lang="zh-CN" altLang="en-US"/>
              <a:t>功能</a:t>
            </a:r>
            <a:endParaRPr lang="zh-CN" altLang="en-US"/>
          </a:p>
        </p:txBody>
      </p:sp>
      <p:sp>
        <p:nvSpPr>
          <p:cNvPr id="28" name="Freeform 1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 rot="10800000">
            <a:off x="9638983" y="888513"/>
            <a:ext cx="2014689" cy="943454"/>
          </a:xfrm>
          <a:custGeom>
            <a:avLst/>
            <a:gdLst>
              <a:gd name="T0" fmla="*/ 260531822 w 7875"/>
              <a:gd name="T1" fmla="*/ 76882102 h 3594"/>
              <a:gd name="T2" fmla="*/ 349238401 w 7875"/>
              <a:gd name="T3" fmla="*/ 0 h 3594"/>
              <a:gd name="T4" fmla="*/ 87331766 w 7875"/>
              <a:gd name="T5" fmla="*/ 0 h 3594"/>
              <a:gd name="T6" fmla="*/ 0 w 7875"/>
              <a:gd name="T7" fmla="*/ 76882102 h 3594"/>
              <a:gd name="T8" fmla="*/ 87331766 w 7875"/>
              <a:gd name="T9" fmla="*/ 152533110 h 3594"/>
              <a:gd name="T10" fmla="*/ 349238401 w 7875"/>
              <a:gd name="T11" fmla="*/ 152533110 h 3594"/>
              <a:gd name="T12" fmla="*/ 260531822 w 7875"/>
              <a:gd name="T13" fmla="*/ 76882102 h 359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875" h="3594">
                <a:moveTo>
                  <a:pt x="5874" y="1811"/>
                </a:moveTo>
                <a:lnTo>
                  <a:pt x="7874" y="0"/>
                </a:lnTo>
                <a:lnTo>
                  <a:pt x="1969" y="0"/>
                </a:lnTo>
                <a:lnTo>
                  <a:pt x="0" y="1811"/>
                </a:lnTo>
                <a:lnTo>
                  <a:pt x="1969" y="3593"/>
                </a:lnTo>
                <a:lnTo>
                  <a:pt x="7874" y="3593"/>
                </a:lnTo>
                <a:lnTo>
                  <a:pt x="5874" y="1811"/>
                </a:lnTo>
              </a:path>
            </a:pathLst>
          </a:custGeom>
          <a:gradFill>
            <a:gsLst>
              <a:gs pos="0">
                <a:srgbClr val="00B0F0"/>
              </a:gs>
              <a:gs pos="100000">
                <a:srgbClr val="0070C0"/>
              </a:gs>
            </a:gsLst>
            <a:lin ang="2700000" scaled="1"/>
          </a:gra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txBody>
          <a:bodyPr wrap="none" anchor="ctr"/>
          <a:p>
            <a:endParaRPr lang="zh-CN" altLang="en-US"/>
          </a:p>
        </p:txBody>
      </p:sp>
      <p:sp>
        <p:nvSpPr>
          <p:cNvPr id="29" name="文本框 28"/>
          <p:cNvSpPr txBox="1"/>
          <p:nvPr>
            <p:custDataLst>
              <p:tags r:id="rId11"/>
            </p:custDataLst>
          </p:nvPr>
        </p:nvSpPr>
        <p:spPr>
          <a:xfrm>
            <a:off x="10187940" y="1059180"/>
            <a:ext cx="11925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统计分析</a:t>
            </a:r>
            <a:r>
              <a:rPr lang="zh-CN" altLang="en-US"/>
              <a:t>功能</a:t>
            </a:r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12"/>
            </p:custDataLst>
          </p:nvPr>
        </p:nvSpPr>
        <p:spPr>
          <a:xfrm>
            <a:off x="279400" y="2370455"/>
            <a:ext cx="2014855" cy="24828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/>
              <a:t>支持教师、学生双角色账号体系</a:t>
            </a:r>
            <a:endParaRPr lang="zh-CN" altLang="en-US" sz="2000"/>
          </a:p>
          <a:p>
            <a:r>
              <a:rPr lang="zh-CN" altLang="en-US" sz="2000"/>
              <a:t>实现权限分级管理</a:t>
            </a:r>
            <a:endParaRPr lang="zh-CN" altLang="en-US" sz="2000"/>
          </a:p>
          <a:p>
            <a:r>
              <a:rPr lang="zh-CN" altLang="en-US" sz="2000"/>
              <a:t>提供个人信息维护功能</a:t>
            </a:r>
            <a:endParaRPr lang="zh-CN" altLang="en-US" sz="2000"/>
          </a:p>
        </p:txBody>
      </p:sp>
      <p:sp>
        <p:nvSpPr>
          <p:cNvPr id="38" name="文本框 37"/>
          <p:cNvSpPr txBox="1"/>
          <p:nvPr>
            <p:custDataLst>
              <p:tags r:id="rId13"/>
            </p:custDataLst>
          </p:nvPr>
        </p:nvSpPr>
        <p:spPr>
          <a:xfrm>
            <a:off x="2623820" y="2447290"/>
            <a:ext cx="203644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lang="zh-CN" altLang="en-US" sz="2000"/>
              <a:t>支持作业拍照上传和相册导入</a:t>
            </a:r>
            <a:endParaRPr lang="zh-CN" altLang="en-US" sz="2000"/>
          </a:p>
          <a:p>
            <a:pPr algn="l">
              <a:buClrTx/>
              <a:buSzTx/>
              <a:buNone/>
            </a:pPr>
            <a:r>
              <a:rPr lang="zh-CN" altLang="en-US" sz="2000"/>
              <a:t>提供作业列表管理和状态跟踪</a:t>
            </a:r>
            <a:endParaRPr lang="zh-CN" altLang="en-US" sz="2000"/>
          </a:p>
          <a:p>
            <a:pPr algn="l">
              <a:buClrTx/>
              <a:buSzTx/>
              <a:buNone/>
            </a:pPr>
            <a:r>
              <a:rPr lang="zh-CN" altLang="en-US" sz="2000"/>
              <a:t>实现作业批改进度监控</a:t>
            </a:r>
            <a:endParaRPr lang="zh-CN" altLang="en-US" sz="2000"/>
          </a:p>
        </p:txBody>
      </p:sp>
      <p:sp>
        <p:nvSpPr>
          <p:cNvPr id="39" name="文本框 38"/>
          <p:cNvSpPr txBox="1"/>
          <p:nvPr>
            <p:custDataLst>
              <p:tags r:id="rId14"/>
            </p:custDataLst>
          </p:nvPr>
        </p:nvSpPr>
        <p:spPr>
          <a:xfrm>
            <a:off x="5038725" y="2400935"/>
            <a:ext cx="198755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lang="zh-CN" altLang="en-US" sz="2000"/>
              <a:t>实现图像预处理（去噪、纠偏、增强）</a:t>
            </a:r>
            <a:endParaRPr lang="zh-CN" altLang="en-US" sz="2000"/>
          </a:p>
          <a:p>
            <a:pPr algn="l">
              <a:buClrTx/>
              <a:buSzTx/>
              <a:buNone/>
            </a:pPr>
            <a:r>
              <a:rPr lang="zh-CN" altLang="en-US" sz="2000"/>
              <a:t>支持多语言手写文本识别</a:t>
            </a:r>
            <a:endParaRPr lang="zh-CN" altLang="en-US" sz="2000"/>
          </a:p>
          <a:p>
            <a:pPr algn="l">
              <a:buClrTx/>
              <a:buSzTx/>
              <a:buNone/>
            </a:pPr>
            <a:r>
              <a:rPr lang="zh-CN" altLang="en-US" sz="2000"/>
              <a:t>提供数学公式识别和LaTeX输出</a:t>
            </a:r>
            <a:endParaRPr lang="zh-CN" altLang="en-US" sz="2000"/>
          </a:p>
        </p:txBody>
      </p:sp>
      <p:sp>
        <p:nvSpPr>
          <p:cNvPr id="40" name="文本框 39"/>
          <p:cNvSpPr txBox="1"/>
          <p:nvPr>
            <p:custDataLst>
              <p:tags r:id="rId15"/>
            </p:custDataLst>
          </p:nvPr>
        </p:nvSpPr>
        <p:spPr>
          <a:xfrm>
            <a:off x="7438390" y="2338705"/>
            <a:ext cx="190182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lang="zh-CN" altLang="en-US" sz="2000"/>
              <a:t>支持客观题自动批改</a:t>
            </a:r>
            <a:endParaRPr lang="zh-CN" altLang="en-US" sz="2000"/>
          </a:p>
          <a:p>
            <a:pPr algn="l">
              <a:buClrTx/>
              <a:buSzTx/>
              <a:buNone/>
            </a:pPr>
            <a:r>
              <a:rPr lang="zh-CN" altLang="en-US" sz="2000"/>
              <a:t>实现主观题关键词匹配批改</a:t>
            </a:r>
            <a:endParaRPr lang="zh-CN" altLang="en-US" sz="2000"/>
          </a:p>
          <a:p>
            <a:pPr algn="l">
              <a:buClrTx/>
              <a:buSzTx/>
              <a:buNone/>
            </a:pPr>
            <a:r>
              <a:rPr lang="zh-CN" altLang="en-US" sz="2000"/>
              <a:t>提供错误定位和批注功能</a:t>
            </a:r>
            <a:endParaRPr lang="zh-CN" altLang="en-US" sz="2000"/>
          </a:p>
        </p:txBody>
      </p:sp>
      <p:sp>
        <p:nvSpPr>
          <p:cNvPr id="41" name="文本框 40"/>
          <p:cNvSpPr txBox="1"/>
          <p:nvPr>
            <p:custDataLst>
              <p:tags r:id="rId16"/>
            </p:custDataLst>
          </p:nvPr>
        </p:nvSpPr>
        <p:spPr>
          <a:xfrm>
            <a:off x="9737090" y="2407285"/>
            <a:ext cx="191706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lang="zh-CN" altLang="en-US" sz="2000"/>
              <a:t>生成个人成绩趋势分析</a:t>
            </a:r>
            <a:endParaRPr lang="zh-CN" altLang="en-US" sz="2000"/>
          </a:p>
          <a:p>
            <a:pPr algn="l">
              <a:buClrTx/>
              <a:buSzTx/>
              <a:buNone/>
            </a:pPr>
            <a:r>
              <a:rPr lang="zh-CN" altLang="en-US" sz="2000"/>
              <a:t>提供班级整体表现统计</a:t>
            </a:r>
            <a:endParaRPr lang="zh-CN" altLang="en-US" sz="2000"/>
          </a:p>
          <a:p>
            <a:pPr algn="l">
              <a:buClrTx/>
              <a:buSzTx/>
              <a:buNone/>
            </a:pPr>
            <a:r>
              <a:rPr lang="zh-CN" altLang="en-US" sz="2000"/>
              <a:t>支持错题集自动生成</a:t>
            </a:r>
            <a:endParaRPr lang="zh-CN" altLang="en-US" sz="2000"/>
          </a:p>
        </p:txBody>
      </p:sp>
      <p:sp>
        <p:nvSpPr>
          <p:cNvPr id="42" name="文本框 41"/>
          <p:cNvSpPr txBox="1"/>
          <p:nvPr/>
        </p:nvSpPr>
        <p:spPr>
          <a:xfrm>
            <a:off x="496570" y="5048885"/>
            <a:ext cx="1095311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solidFill>
                  <a:schemeClr val="accent1">
                    <a:lumMod val="60000"/>
                    <a:lumOff val="40000"/>
                  </a:schemeClr>
                </a:solidFill>
              </a:rPr>
              <a:t>五大功能环环相扣，构建</a:t>
            </a:r>
            <a:r>
              <a:rPr lang="en-US" altLang="zh-CN" sz="3200">
                <a:solidFill>
                  <a:schemeClr val="accent1">
                    <a:lumMod val="60000"/>
                    <a:lumOff val="40000"/>
                  </a:schemeClr>
                </a:solidFill>
              </a:rPr>
              <a:t>‘</a:t>
            </a:r>
            <a:r>
              <a:rPr lang="zh-CN" altLang="en-US" sz="3200">
                <a:solidFill>
                  <a:schemeClr val="accent1">
                    <a:lumMod val="60000"/>
                    <a:lumOff val="40000"/>
                  </a:schemeClr>
                </a:solidFill>
              </a:rPr>
              <a:t>上传</a:t>
            </a:r>
            <a:r>
              <a:rPr lang="en-US" altLang="zh-CN" sz="320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en-US" sz="3200">
                <a:solidFill>
                  <a:schemeClr val="accent1">
                    <a:lumMod val="60000"/>
                    <a:lumOff val="40000"/>
                  </a:schemeClr>
                </a:solidFill>
              </a:rPr>
              <a:t>→</a:t>
            </a:r>
            <a:r>
              <a:rPr lang="en-US" altLang="zh-CN" sz="320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zh-CN" altLang="en-US" sz="3200">
                <a:solidFill>
                  <a:schemeClr val="accent1">
                    <a:lumMod val="60000"/>
                    <a:lumOff val="40000"/>
                  </a:schemeClr>
                </a:solidFill>
              </a:rPr>
              <a:t>识别</a:t>
            </a:r>
            <a:r>
              <a:rPr lang="en-US" altLang="zh-CN" sz="320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en-US" sz="3200">
                <a:solidFill>
                  <a:schemeClr val="accent1">
                    <a:lumMod val="60000"/>
                    <a:lumOff val="40000"/>
                  </a:schemeClr>
                </a:solidFill>
              </a:rPr>
              <a:t>→</a:t>
            </a:r>
            <a:r>
              <a:rPr lang="en-US" altLang="zh-CN" sz="320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zh-CN" altLang="en-US" sz="3200">
                <a:solidFill>
                  <a:schemeClr val="accent1">
                    <a:lumMod val="60000"/>
                    <a:lumOff val="40000"/>
                  </a:schemeClr>
                </a:solidFill>
              </a:rPr>
              <a:t>批改</a:t>
            </a:r>
            <a:r>
              <a:rPr lang="en-US" altLang="zh-CN" sz="320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en-US" sz="3200">
                <a:solidFill>
                  <a:schemeClr val="accent1">
                    <a:lumMod val="60000"/>
                    <a:lumOff val="40000"/>
                  </a:schemeClr>
                </a:solidFill>
              </a:rPr>
              <a:t>→</a:t>
            </a:r>
            <a:r>
              <a:rPr lang="en-US" altLang="zh-CN" sz="320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zh-CN" altLang="en-US" sz="3200">
                <a:solidFill>
                  <a:schemeClr val="accent1">
                    <a:lumMod val="60000"/>
                    <a:lumOff val="40000"/>
                  </a:schemeClr>
                </a:solidFill>
              </a:rPr>
              <a:t>分析</a:t>
            </a:r>
            <a:r>
              <a:rPr lang="en-US" altLang="zh-CN" sz="3200">
                <a:solidFill>
                  <a:schemeClr val="accent1">
                    <a:lumMod val="60000"/>
                    <a:lumOff val="40000"/>
                  </a:schemeClr>
                </a:solidFill>
              </a:rPr>
              <a:t>’</a:t>
            </a:r>
            <a:r>
              <a:rPr lang="zh-CN" altLang="en-US" sz="3200">
                <a:solidFill>
                  <a:schemeClr val="accent1">
                    <a:lumMod val="60000"/>
                    <a:lumOff val="40000"/>
                  </a:schemeClr>
                </a:solidFill>
              </a:rPr>
              <a:t>的智能作业处理闭环</a:t>
            </a:r>
            <a:endParaRPr lang="zh-CN" altLang="en-US" sz="32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7" grpId="0" bldLvl="0" animBg="1"/>
      <p:bldP spid="13" grpId="0" bldLvl="0" animBg="1"/>
      <p:bldP spid="22" grpId="0" bldLvl="0" animBg="1"/>
      <p:bldP spid="28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44583" y="143693"/>
            <a:ext cx="2011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Tx/>
              <a:buSzTx/>
              <a:buFontTx/>
            </a:pPr>
            <a:r>
              <a:rPr kumimoji="1" lang="zh-CN" altLang="en-US" sz="2400" dirty="0">
                <a:solidFill>
                  <a:schemeClr val="accent1">
                    <a:lumMod val="75000"/>
                  </a:schemeClr>
                </a:solidFill>
                <a:latin typeface="+mj-ea"/>
              </a:rPr>
              <a:t>非功能性需求</a:t>
            </a:r>
            <a:endParaRPr kumimoji="1" lang="zh-CN" altLang="en-US" sz="2400" dirty="0">
              <a:solidFill>
                <a:schemeClr val="accent1">
                  <a:lumMod val="75000"/>
                </a:schemeClr>
              </a:solidFill>
              <a:latin typeface="+mj-ea"/>
            </a:endParaRPr>
          </a:p>
        </p:txBody>
      </p:sp>
      <p:sp>
        <p:nvSpPr>
          <p:cNvPr id="4" name="Oval 17"/>
          <p:cNvSpPr/>
          <p:nvPr>
            <p:custDataLst>
              <p:tags r:id="rId1"/>
            </p:custDataLst>
          </p:nvPr>
        </p:nvSpPr>
        <p:spPr>
          <a:xfrm>
            <a:off x="9077643" y="3902844"/>
            <a:ext cx="1492884" cy="1492878"/>
          </a:xfrm>
          <a:prstGeom prst="ellipse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/>
          </a:p>
        </p:txBody>
      </p:sp>
      <p:sp>
        <p:nvSpPr>
          <p:cNvPr id="5" name="Oval 18"/>
          <p:cNvSpPr/>
          <p:nvPr>
            <p:custDataLst>
              <p:tags r:id="rId2"/>
            </p:custDataLst>
          </p:nvPr>
        </p:nvSpPr>
        <p:spPr>
          <a:xfrm>
            <a:off x="513081" y="3784734"/>
            <a:ext cx="1492884" cy="1492878"/>
          </a:xfrm>
          <a:prstGeom prst="ellipse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/>
          </a:p>
        </p:txBody>
      </p:sp>
      <p:sp>
        <p:nvSpPr>
          <p:cNvPr id="6" name="Oval 19"/>
          <p:cNvSpPr/>
          <p:nvPr>
            <p:custDataLst>
              <p:tags r:id="rId3"/>
            </p:custDataLst>
          </p:nvPr>
        </p:nvSpPr>
        <p:spPr>
          <a:xfrm>
            <a:off x="9077292" y="1027335"/>
            <a:ext cx="1493336" cy="1493336"/>
          </a:xfrm>
          <a:prstGeom prst="ellipse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/>
          </a:p>
        </p:txBody>
      </p:sp>
      <p:sp>
        <p:nvSpPr>
          <p:cNvPr id="7" name="Arc 20"/>
          <p:cNvSpPr/>
          <p:nvPr>
            <p:custDataLst>
              <p:tags r:id="rId4"/>
            </p:custDataLst>
          </p:nvPr>
        </p:nvSpPr>
        <p:spPr>
          <a:xfrm>
            <a:off x="541256" y="792098"/>
            <a:ext cx="1728865" cy="1728861"/>
          </a:xfrm>
          <a:prstGeom prst="arc">
            <a:avLst>
              <a:gd name="adj1" fmla="val 20172577"/>
              <a:gd name="adj2" fmla="val 16297434"/>
            </a:avLst>
          </a:prstGeom>
          <a:ln w="76200">
            <a:gradFill>
              <a:gsLst>
                <a:gs pos="0">
                  <a:srgbClr val="00B0F0"/>
                </a:gs>
                <a:gs pos="100000">
                  <a:srgbClr val="0070C0"/>
                </a:gs>
              </a:gsLst>
              <a:lin ang="5400000" scaled="1"/>
            </a:gradFill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700"/>
          </a:p>
        </p:txBody>
      </p:sp>
      <p:sp>
        <p:nvSpPr>
          <p:cNvPr id="8" name="Arc 21"/>
          <p:cNvSpPr/>
          <p:nvPr>
            <p:custDataLst>
              <p:tags r:id="rId5"/>
            </p:custDataLst>
          </p:nvPr>
        </p:nvSpPr>
        <p:spPr>
          <a:xfrm>
            <a:off x="8959651" y="3784853"/>
            <a:ext cx="1728865" cy="1728861"/>
          </a:xfrm>
          <a:prstGeom prst="arc">
            <a:avLst>
              <a:gd name="adj1" fmla="val 17379292"/>
              <a:gd name="adj2" fmla="val 8825709"/>
            </a:avLst>
          </a:prstGeom>
          <a:ln w="76200">
            <a:gradFill>
              <a:gsLst>
                <a:gs pos="0">
                  <a:srgbClr val="00B0F0"/>
                </a:gs>
                <a:gs pos="100000">
                  <a:srgbClr val="0070C0"/>
                </a:gs>
              </a:gsLst>
              <a:lin ang="5400000" scaled="1"/>
            </a:gradFill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700"/>
          </a:p>
        </p:txBody>
      </p:sp>
      <p:sp>
        <p:nvSpPr>
          <p:cNvPr id="9" name="Arc 22"/>
          <p:cNvSpPr/>
          <p:nvPr>
            <p:custDataLst>
              <p:tags r:id="rId6"/>
            </p:custDataLst>
          </p:nvPr>
        </p:nvSpPr>
        <p:spPr>
          <a:xfrm>
            <a:off x="395091" y="3666743"/>
            <a:ext cx="1728865" cy="1728861"/>
          </a:xfrm>
          <a:prstGeom prst="arc">
            <a:avLst>
              <a:gd name="adj1" fmla="val 14283035"/>
              <a:gd name="adj2" fmla="val 8268073"/>
            </a:avLst>
          </a:prstGeom>
          <a:ln w="76200">
            <a:gradFill>
              <a:gsLst>
                <a:gs pos="0">
                  <a:srgbClr val="00B0F0"/>
                </a:gs>
                <a:gs pos="100000">
                  <a:srgbClr val="0070C0"/>
                </a:gs>
              </a:gsLst>
              <a:lin ang="5400000" scaled="1"/>
            </a:gradFill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700"/>
          </a:p>
        </p:txBody>
      </p:sp>
      <p:sp>
        <p:nvSpPr>
          <p:cNvPr id="10" name="Arc 23"/>
          <p:cNvSpPr/>
          <p:nvPr>
            <p:custDataLst>
              <p:tags r:id="rId7"/>
            </p:custDataLst>
          </p:nvPr>
        </p:nvSpPr>
        <p:spPr>
          <a:xfrm>
            <a:off x="8959536" y="909573"/>
            <a:ext cx="1728865" cy="1728861"/>
          </a:xfrm>
          <a:prstGeom prst="arc">
            <a:avLst>
              <a:gd name="adj1" fmla="val 17026676"/>
              <a:gd name="adj2" fmla="val 13044588"/>
            </a:avLst>
          </a:prstGeom>
          <a:ln w="76200">
            <a:gradFill>
              <a:gsLst>
                <a:gs pos="0">
                  <a:srgbClr val="00B0F0"/>
                </a:gs>
                <a:gs pos="100000">
                  <a:srgbClr val="0070C0"/>
                </a:gs>
              </a:gsLst>
              <a:lin ang="5400000" scaled="1"/>
            </a:gradFill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700"/>
          </a:p>
        </p:txBody>
      </p:sp>
      <p:sp>
        <p:nvSpPr>
          <p:cNvPr id="11" name="TextBox 24"/>
          <p:cNvSpPr txBox="1"/>
          <p:nvPr>
            <p:custDataLst>
              <p:tags r:id="rId8"/>
            </p:custDataLst>
          </p:nvPr>
        </p:nvSpPr>
        <p:spPr>
          <a:xfrm>
            <a:off x="1000019" y="1390720"/>
            <a:ext cx="91165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gradFill>
                  <a:gsLst>
                    <a:gs pos="0">
                      <a:srgbClr val="00B0F0"/>
                    </a:gs>
                    <a:gs pos="100000">
                      <a:srgbClr val="0070C0"/>
                    </a:gs>
                  </a:gsLst>
                  <a:lin ang="5400000" scaled="1"/>
                </a:gradFill>
                <a:latin typeface="+mj-lt"/>
              </a:rPr>
              <a:t>25</a:t>
            </a:r>
            <a:r>
              <a:rPr lang="en-US" dirty="0">
                <a:gradFill>
                  <a:gsLst>
                    <a:gs pos="0">
                      <a:srgbClr val="00B0F0"/>
                    </a:gs>
                    <a:gs pos="100000">
                      <a:srgbClr val="0070C0"/>
                    </a:gs>
                  </a:gsLst>
                  <a:lin ang="5400000" scaled="1"/>
                </a:gradFill>
                <a:latin typeface="+mj-lt"/>
              </a:rPr>
              <a:t>%</a:t>
            </a:r>
            <a:endParaRPr lang="en-US" sz="2800" dirty="0">
              <a:gradFill>
                <a:gsLst>
                  <a:gs pos="0">
                    <a:srgbClr val="00B0F0"/>
                  </a:gs>
                  <a:gs pos="100000">
                    <a:srgbClr val="0070C0"/>
                  </a:gs>
                </a:gsLst>
                <a:lin ang="5400000" scaled="1"/>
              </a:gradFill>
              <a:latin typeface="+mj-lt"/>
            </a:endParaRPr>
          </a:p>
        </p:txBody>
      </p:sp>
      <p:sp>
        <p:nvSpPr>
          <p:cNvPr id="12" name="TextBox 27"/>
          <p:cNvSpPr txBox="1"/>
          <p:nvPr>
            <p:custDataLst>
              <p:tags r:id="rId9"/>
            </p:custDataLst>
          </p:nvPr>
        </p:nvSpPr>
        <p:spPr>
          <a:xfrm>
            <a:off x="9331823" y="4357440"/>
            <a:ext cx="92929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gradFill>
                  <a:gsLst>
                    <a:gs pos="0">
                      <a:srgbClr val="00B0F0"/>
                    </a:gs>
                    <a:gs pos="100000">
                      <a:srgbClr val="0070C0"/>
                    </a:gs>
                  </a:gsLst>
                  <a:lin ang="5400000" scaled="1"/>
                </a:gradFill>
                <a:latin typeface="+mj-lt"/>
              </a:rPr>
              <a:t>30</a:t>
            </a:r>
            <a:r>
              <a:rPr lang="en-US" dirty="0">
                <a:gradFill>
                  <a:gsLst>
                    <a:gs pos="0">
                      <a:srgbClr val="00B0F0"/>
                    </a:gs>
                    <a:gs pos="100000">
                      <a:srgbClr val="0070C0"/>
                    </a:gs>
                  </a:gsLst>
                  <a:lin ang="5400000" scaled="1"/>
                </a:gradFill>
                <a:latin typeface="+mj-lt"/>
              </a:rPr>
              <a:t>%</a:t>
            </a:r>
            <a:endParaRPr lang="en-US" sz="2800" dirty="0">
              <a:gradFill>
                <a:gsLst>
                  <a:gs pos="0">
                    <a:srgbClr val="00B0F0"/>
                  </a:gs>
                  <a:gs pos="100000">
                    <a:srgbClr val="0070C0"/>
                  </a:gs>
                </a:gsLst>
                <a:lin ang="5400000" scaled="1"/>
              </a:gradFill>
              <a:latin typeface="+mj-lt"/>
            </a:endParaRPr>
          </a:p>
        </p:txBody>
      </p:sp>
      <p:sp>
        <p:nvSpPr>
          <p:cNvPr id="13" name="TextBox 28"/>
          <p:cNvSpPr txBox="1"/>
          <p:nvPr>
            <p:custDataLst>
              <p:tags r:id="rId10"/>
            </p:custDataLst>
          </p:nvPr>
        </p:nvSpPr>
        <p:spPr>
          <a:xfrm>
            <a:off x="767267" y="4239330"/>
            <a:ext cx="9292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gradFill>
                  <a:gsLst>
                    <a:gs pos="0">
                      <a:srgbClr val="00B0F0"/>
                    </a:gs>
                    <a:gs pos="100000">
                      <a:srgbClr val="0070C0"/>
                    </a:gs>
                  </a:gsLst>
                  <a:lin ang="5400000" scaled="1"/>
                </a:gradFill>
                <a:latin typeface="+mj-lt"/>
              </a:rPr>
              <a:t>25</a:t>
            </a:r>
            <a:r>
              <a:rPr lang="en-US">
                <a:gradFill>
                  <a:gsLst>
                    <a:gs pos="0">
                      <a:srgbClr val="00B0F0"/>
                    </a:gs>
                    <a:gs pos="100000">
                      <a:srgbClr val="0070C0"/>
                    </a:gs>
                  </a:gsLst>
                  <a:lin ang="5400000" scaled="1"/>
                </a:gradFill>
                <a:latin typeface="+mj-lt"/>
              </a:rPr>
              <a:t>%</a:t>
            </a:r>
            <a:endParaRPr lang="en-US" sz="2800">
              <a:gradFill>
                <a:gsLst>
                  <a:gs pos="0">
                    <a:srgbClr val="00B0F0"/>
                  </a:gs>
                  <a:gs pos="100000">
                    <a:srgbClr val="0070C0"/>
                  </a:gs>
                </a:gsLst>
                <a:lin ang="5400000" scaled="1"/>
              </a:gradFill>
              <a:latin typeface="+mj-lt"/>
            </a:endParaRPr>
          </a:p>
        </p:txBody>
      </p:sp>
      <p:sp>
        <p:nvSpPr>
          <p:cNvPr id="14" name="TextBox 29"/>
          <p:cNvSpPr txBox="1"/>
          <p:nvPr>
            <p:custDataLst>
              <p:tags r:id="rId11"/>
            </p:custDataLst>
          </p:nvPr>
        </p:nvSpPr>
        <p:spPr>
          <a:xfrm>
            <a:off x="9368134" y="1482160"/>
            <a:ext cx="91165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gradFill>
                  <a:gsLst>
                    <a:gs pos="0">
                      <a:srgbClr val="00B0F0"/>
                    </a:gs>
                    <a:gs pos="100000">
                      <a:srgbClr val="0070C0"/>
                    </a:gs>
                  </a:gsLst>
                  <a:lin ang="5400000" scaled="1"/>
                </a:gradFill>
                <a:latin typeface="+mj-lt"/>
              </a:rPr>
              <a:t>20</a:t>
            </a:r>
            <a:r>
              <a:rPr lang="en-US" dirty="0">
                <a:gradFill>
                  <a:gsLst>
                    <a:gs pos="0">
                      <a:srgbClr val="00B0F0"/>
                    </a:gs>
                    <a:gs pos="100000">
                      <a:srgbClr val="0070C0"/>
                    </a:gs>
                  </a:gsLst>
                  <a:lin ang="5400000" scaled="1"/>
                </a:gradFill>
                <a:latin typeface="+mj-lt"/>
              </a:rPr>
              <a:t>%</a:t>
            </a:r>
            <a:endParaRPr lang="en-US" sz="2800" dirty="0">
              <a:gradFill>
                <a:gsLst>
                  <a:gs pos="0">
                    <a:srgbClr val="00B0F0"/>
                  </a:gs>
                  <a:gs pos="100000">
                    <a:srgbClr val="0070C0"/>
                  </a:gs>
                </a:gsLst>
                <a:lin ang="5400000" scaled="1"/>
              </a:gradFill>
              <a:latin typeface="+mj-lt"/>
            </a:endParaRPr>
          </a:p>
        </p:txBody>
      </p:sp>
      <p:sp>
        <p:nvSpPr>
          <p:cNvPr id="15" name="TextBox 30"/>
          <p:cNvSpPr txBox="1"/>
          <p:nvPr>
            <p:custDataLst>
              <p:tags r:id="rId12"/>
            </p:custDataLst>
          </p:nvPr>
        </p:nvSpPr>
        <p:spPr>
          <a:xfrm>
            <a:off x="1911971" y="1517280"/>
            <a:ext cx="986566" cy="278496"/>
          </a:xfrm>
          <a:prstGeom prst="roundRect">
            <a:avLst/>
          </a:prstGeom>
          <a:solidFill>
            <a:srgbClr val="0070C0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Source Han Sans CN ExtraLight" panose="020B0200000000000000" pitchFamily="34" charset="-128"/>
                <a:ea typeface="Source Han Sans CN ExtraLight" panose="020B0200000000000000" pitchFamily="34" charset="-128"/>
                <a:cs typeface="Open Sans" panose="020B0606030504020204" pitchFamily="34" charset="0"/>
              </a:rPr>
              <a:t>性能需求</a:t>
            </a:r>
            <a:endParaRPr lang="zh-CN" altLang="en-US" sz="1400" dirty="0">
              <a:solidFill>
                <a:schemeClr val="bg1"/>
              </a:solidFill>
              <a:latin typeface="Source Han Sans CN ExtraLight" panose="020B0200000000000000" pitchFamily="34" charset="-128"/>
              <a:ea typeface="Source Han Sans CN ExtraLight" panose="020B0200000000000000" pitchFamily="34" charset="-128"/>
              <a:cs typeface="Open Sans" panose="020B0606030504020204" pitchFamily="34" charset="0"/>
            </a:endParaRPr>
          </a:p>
        </p:txBody>
      </p:sp>
      <p:sp>
        <p:nvSpPr>
          <p:cNvPr id="16" name="TextBox 31"/>
          <p:cNvSpPr txBox="1"/>
          <p:nvPr>
            <p:custDataLst>
              <p:tags r:id="rId13"/>
            </p:custDataLst>
          </p:nvPr>
        </p:nvSpPr>
        <p:spPr>
          <a:xfrm>
            <a:off x="10313219" y="4510035"/>
            <a:ext cx="986566" cy="278496"/>
          </a:xfrm>
          <a:prstGeom prst="roundRect">
            <a:avLst/>
          </a:prstGeom>
          <a:solidFill>
            <a:srgbClr val="0070C0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Source Han Sans CN ExtraLight" panose="020B0200000000000000" pitchFamily="34" charset="-128"/>
                <a:ea typeface="Source Han Sans CN ExtraLight" panose="020B0200000000000000" pitchFamily="34" charset="-128"/>
                <a:cs typeface="Open Sans" panose="020B0606030504020204" pitchFamily="34" charset="0"/>
              </a:rPr>
              <a:t>可用性</a:t>
            </a:r>
            <a:r>
              <a:rPr lang="zh-CN" altLang="en-US" sz="1400" dirty="0">
                <a:solidFill>
                  <a:schemeClr val="bg1"/>
                </a:solidFill>
                <a:latin typeface="Source Han Sans CN ExtraLight" panose="020B0200000000000000" pitchFamily="34" charset="-128"/>
                <a:ea typeface="Source Han Sans CN ExtraLight" panose="020B0200000000000000" pitchFamily="34" charset="-128"/>
                <a:cs typeface="Open Sans" panose="020B0606030504020204" pitchFamily="34" charset="0"/>
              </a:rPr>
              <a:t>需求</a:t>
            </a:r>
            <a:endParaRPr lang="zh-CN" altLang="en-US" sz="1400" dirty="0">
              <a:solidFill>
                <a:schemeClr val="bg1"/>
              </a:solidFill>
              <a:latin typeface="Source Han Sans CN ExtraLight" panose="020B0200000000000000" pitchFamily="34" charset="-128"/>
              <a:ea typeface="Source Han Sans CN ExtraLight" panose="020B0200000000000000" pitchFamily="34" charset="-128"/>
              <a:cs typeface="Open Sans" panose="020B0606030504020204" pitchFamily="34" charset="0"/>
            </a:endParaRPr>
          </a:p>
        </p:txBody>
      </p:sp>
      <p:sp>
        <p:nvSpPr>
          <p:cNvPr id="17" name="TextBox 32"/>
          <p:cNvSpPr txBox="1"/>
          <p:nvPr>
            <p:custDataLst>
              <p:tags r:id="rId14"/>
            </p:custDataLst>
          </p:nvPr>
        </p:nvSpPr>
        <p:spPr>
          <a:xfrm>
            <a:off x="1748661" y="4391925"/>
            <a:ext cx="986566" cy="278496"/>
          </a:xfrm>
          <a:prstGeom prst="roundRect">
            <a:avLst/>
          </a:prstGeom>
          <a:solidFill>
            <a:srgbClr val="0070C0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Source Han Sans CN ExtraLight" panose="020B0200000000000000" pitchFamily="34" charset="-128"/>
                <a:ea typeface="Source Han Sans CN ExtraLight" panose="020B0200000000000000" pitchFamily="34" charset="-128"/>
                <a:cs typeface="Open Sans" panose="020B0606030504020204" pitchFamily="34" charset="0"/>
              </a:rPr>
              <a:t>安全性需求</a:t>
            </a:r>
            <a:endParaRPr lang="zh-CN" altLang="en-US" sz="1400" dirty="0">
              <a:solidFill>
                <a:schemeClr val="bg1"/>
              </a:solidFill>
              <a:latin typeface="Source Han Sans CN ExtraLight" panose="020B0200000000000000" pitchFamily="34" charset="-128"/>
              <a:ea typeface="Source Han Sans CN ExtraLight" panose="020B0200000000000000" pitchFamily="34" charset="-128"/>
              <a:cs typeface="Open Sans" panose="020B0606030504020204" pitchFamily="34" charset="0"/>
            </a:endParaRPr>
          </a:p>
        </p:txBody>
      </p:sp>
      <p:sp>
        <p:nvSpPr>
          <p:cNvPr id="18" name="TextBox 33"/>
          <p:cNvSpPr txBox="1"/>
          <p:nvPr>
            <p:custDataLst>
              <p:tags r:id="rId15"/>
            </p:custDataLst>
          </p:nvPr>
        </p:nvSpPr>
        <p:spPr>
          <a:xfrm>
            <a:off x="10313104" y="1634755"/>
            <a:ext cx="986566" cy="278496"/>
          </a:xfrm>
          <a:prstGeom prst="roundRect">
            <a:avLst/>
          </a:prstGeom>
          <a:solidFill>
            <a:srgbClr val="0070C0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Source Han Sans CN ExtraLight" panose="020B0200000000000000" pitchFamily="34" charset="-128"/>
                <a:ea typeface="Source Han Sans CN ExtraLight" panose="020B0200000000000000" pitchFamily="34" charset="-128"/>
                <a:cs typeface="Open Sans" panose="020B0606030504020204" pitchFamily="34" charset="0"/>
              </a:rPr>
              <a:t>可靠性</a:t>
            </a:r>
            <a:r>
              <a:rPr lang="zh-CN" altLang="en-US" sz="1400" dirty="0">
                <a:solidFill>
                  <a:schemeClr val="bg1"/>
                </a:solidFill>
                <a:latin typeface="Source Han Sans CN ExtraLight" panose="020B0200000000000000" pitchFamily="34" charset="-128"/>
                <a:ea typeface="Source Han Sans CN ExtraLight" panose="020B0200000000000000" pitchFamily="34" charset="-128"/>
                <a:cs typeface="Open Sans" panose="020B0606030504020204" pitchFamily="34" charset="0"/>
              </a:rPr>
              <a:t>需求</a:t>
            </a:r>
            <a:endParaRPr lang="zh-CN" altLang="en-US" sz="1400" dirty="0">
              <a:solidFill>
                <a:schemeClr val="bg1"/>
              </a:solidFill>
              <a:latin typeface="Source Han Sans CN ExtraLight" panose="020B0200000000000000" pitchFamily="34" charset="-128"/>
              <a:ea typeface="Source Han Sans CN ExtraLight" panose="020B0200000000000000" pitchFamily="34" charset="-128"/>
              <a:cs typeface="Open Sans" panose="020B0606030504020204" pitchFamily="34" charset="0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9598" y="6121399"/>
            <a:ext cx="570951" cy="570951"/>
          </a:xfrm>
          <a:prstGeom prst="rect">
            <a:avLst/>
          </a:prstGeom>
        </p:spPr>
      </p:pic>
      <p:sp>
        <p:nvSpPr>
          <p:cNvPr id="22" name="TextBox 30"/>
          <p:cNvSpPr txBox="1"/>
          <p:nvPr>
            <p:custDataLst>
              <p:tags r:id="rId17"/>
            </p:custDataLst>
          </p:nvPr>
        </p:nvSpPr>
        <p:spPr>
          <a:xfrm>
            <a:off x="2338070" y="1811020"/>
            <a:ext cx="2710815" cy="1870710"/>
          </a:xfrm>
          <a:prstGeom prst="roundRect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p>
            <a:pPr algn="ctr"/>
            <a:r>
              <a: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ource Han Sans CN ExtraLight" panose="020B0200000000000000" pitchFamily="34" charset="-128"/>
                <a:ea typeface="Source Han Sans CN ExtraLight" panose="020B0200000000000000" pitchFamily="34" charset="-128"/>
                <a:cs typeface="Open Sans" panose="020B0606030504020204" pitchFamily="34" charset="0"/>
              </a:rPr>
              <a:t>OCR</a:t>
            </a:r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ource Han Sans CN ExtraLight" panose="020B0200000000000000" pitchFamily="34" charset="-128"/>
                <a:ea typeface="Source Han Sans CN ExtraLight" panose="020B0200000000000000" pitchFamily="34" charset="-128"/>
                <a:cs typeface="Open Sans" panose="020B0606030504020204" pitchFamily="34" charset="0"/>
              </a:rPr>
              <a:t>识别响应时间＜</a:t>
            </a:r>
            <a:r>
              <a: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ource Han Sans CN ExtraLight" panose="020B0200000000000000" pitchFamily="34" charset="-128"/>
                <a:ea typeface="Source Han Sans CN ExtraLight" panose="020B0200000000000000" pitchFamily="34" charset="-128"/>
                <a:cs typeface="Open Sans" panose="020B0606030504020204" pitchFamily="34" charset="0"/>
              </a:rPr>
              <a:t>3</a:t>
            </a:r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ource Han Sans CN ExtraLight" panose="020B0200000000000000" pitchFamily="34" charset="-128"/>
                <a:ea typeface="Source Han Sans CN ExtraLight" panose="020B0200000000000000" pitchFamily="34" charset="-128"/>
                <a:cs typeface="Open Sans" panose="020B0606030504020204" pitchFamily="34" charset="0"/>
              </a:rPr>
              <a:t>秒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ource Han Sans CN ExtraLight" panose="020B0200000000000000" pitchFamily="34" charset="-128"/>
              <a:ea typeface="Source Han Sans CN ExtraLight" panose="020B0200000000000000" pitchFamily="34" charset="-128"/>
              <a:cs typeface="Open Sans" panose="020B0606030504020204" pitchFamily="34" charset="0"/>
            </a:endParaRPr>
          </a:p>
          <a:p>
            <a:pPr algn="ctr"/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ource Han Sans CN ExtraLight" panose="020B0200000000000000" pitchFamily="34" charset="-128"/>
                <a:ea typeface="Source Han Sans CN ExtraLight" panose="020B0200000000000000" pitchFamily="34" charset="-128"/>
                <a:cs typeface="Open Sans" panose="020B0606030504020204" pitchFamily="34" charset="0"/>
              </a:rPr>
              <a:t>系统并发用户数支持</a:t>
            </a:r>
            <a:r>
              <a: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ource Han Sans CN ExtraLight" panose="020B0200000000000000" pitchFamily="34" charset="-128"/>
                <a:ea typeface="Source Han Sans CN ExtraLight" panose="020B0200000000000000" pitchFamily="34" charset="-128"/>
                <a:cs typeface="Open Sans" panose="020B0606030504020204" pitchFamily="34" charset="0"/>
              </a:rPr>
              <a:t>1000+</a:t>
            </a:r>
            <a:endParaRPr lang="en-US" altLang="zh-CN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ource Han Sans CN ExtraLight" panose="020B0200000000000000" pitchFamily="34" charset="-128"/>
              <a:ea typeface="Source Han Sans CN ExtraLight" panose="020B0200000000000000" pitchFamily="34" charset="-128"/>
              <a:cs typeface="Open Sans" panose="020B0606030504020204" pitchFamily="34" charset="0"/>
            </a:endParaRPr>
          </a:p>
          <a:p>
            <a:pPr algn="ctr"/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ource Han Sans CN ExtraLight" panose="020B0200000000000000" pitchFamily="34" charset="-128"/>
                <a:ea typeface="Source Han Sans CN ExtraLight" panose="020B0200000000000000" pitchFamily="34" charset="-128"/>
                <a:cs typeface="Open Sans" panose="020B0606030504020204" pitchFamily="34" charset="0"/>
              </a:rPr>
              <a:t>图片上传大小限制为</a:t>
            </a:r>
            <a:r>
              <a: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ource Han Sans CN ExtraLight" panose="020B0200000000000000" pitchFamily="34" charset="-128"/>
                <a:ea typeface="Source Han Sans CN ExtraLight" panose="020B0200000000000000" pitchFamily="34" charset="-128"/>
                <a:cs typeface="Open Sans" panose="020B0606030504020204" pitchFamily="34" charset="0"/>
              </a:rPr>
              <a:t>10MB</a:t>
            </a:r>
            <a:endParaRPr lang="en-US" altLang="zh-CN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ource Han Sans CN ExtraLight" panose="020B0200000000000000" pitchFamily="34" charset="-128"/>
              <a:ea typeface="Source Han Sans CN ExtraLight" panose="020B0200000000000000" pitchFamily="34" charset="-128"/>
              <a:cs typeface="Open Sans" panose="020B0606030504020204" pitchFamily="34" charset="0"/>
            </a:endParaRPr>
          </a:p>
        </p:txBody>
      </p:sp>
      <p:sp>
        <p:nvSpPr>
          <p:cNvPr id="23" name="TextBox 30"/>
          <p:cNvSpPr txBox="1"/>
          <p:nvPr>
            <p:custDataLst>
              <p:tags r:id="rId18"/>
            </p:custDataLst>
          </p:nvPr>
        </p:nvSpPr>
        <p:spPr>
          <a:xfrm>
            <a:off x="2176780" y="4761230"/>
            <a:ext cx="2710815" cy="1870710"/>
          </a:xfrm>
          <a:prstGeom prst="roundRect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ource Han Sans CN ExtraLight" panose="020B0200000000000000" pitchFamily="34" charset="-128"/>
                <a:ea typeface="Source Han Sans CN ExtraLight" panose="020B0200000000000000" pitchFamily="34" charset="-128"/>
                <a:cs typeface="Open Sans" panose="020B0606030504020204" pitchFamily="34" charset="0"/>
              </a:rPr>
              <a:t>用户数据加密存储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ource Han Sans CN ExtraLight" panose="020B0200000000000000" pitchFamily="34" charset="-128"/>
              <a:ea typeface="Source Han Sans CN ExtraLight" panose="020B0200000000000000" pitchFamily="34" charset="-128"/>
              <a:cs typeface="Open Sans" panose="020B0606030504020204" pitchFamily="34" charset="0"/>
            </a:endParaRPr>
          </a:p>
          <a:p>
            <a:pPr algn="ctr"/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ource Han Sans CN ExtraLight" panose="020B0200000000000000" pitchFamily="34" charset="-128"/>
                <a:ea typeface="Source Han Sans CN ExtraLight" panose="020B0200000000000000" pitchFamily="34" charset="-128"/>
                <a:cs typeface="Open Sans" panose="020B0606030504020204" pitchFamily="34" charset="0"/>
              </a:rPr>
              <a:t>防止</a:t>
            </a:r>
            <a:r>
              <a: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ource Han Sans CN ExtraLight" panose="020B0200000000000000" pitchFamily="34" charset="-128"/>
                <a:ea typeface="Source Han Sans CN ExtraLight" panose="020B0200000000000000" pitchFamily="34" charset="-128"/>
                <a:cs typeface="Open Sans" panose="020B0606030504020204" pitchFamily="34" charset="0"/>
              </a:rPr>
              <a:t>SQL</a:t>
            </a:r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ource Han Sans CN ExtraLight" panose="020B0200000000000000" pitchFamily="34" charset="-128"/>
                <a:ea typeface="Source Han Sans CN ExtraLight" panose="020B0200000000000000" pitchFamily="34" charset="-128"/>
                <a:cs typeface="Open Sans" panose="020B0606030504020204" pitchFamily="34" charset="0"/>
              </a:rPr>
              <a:t>注入和</a:t>
            </a:r>
            <a:r>
              <a: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ource Han Sans CN ExtraLight" panose="020B0200000000000000" pitchFamily="34" charset="-128"/>
                <a:ea typeface="Source Han Sans CN ExtraLight" panose="020B0200000000000000" pitchFamily="34" charset="-128"/>
                <a:cs typeface="Open Sans" panose="020B0606030504020204" pitchFamily="34" charset="0"/>
              </a:rPr>
              <a:t>XSS</a:t>
            </a:r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ource Han Sans CN ExtraLight" panose="020B0200000000000000" pitchFamily="34" charset="-128"/>
                <a:ea typeface="Source Han Sans CN ExtraLight" panose="020B0200000000000000" pitchFamily="34" charset="-128"/>
                <a:cs typeface="Open Sans" panose="020B0606030504020204" pitchFamily="34" charset="0"/>
              </a:rPr>
              <a:t>攻击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ource Han Sans CN ExtraLight" panose="020B0200000000000000" pitchFamily="34" charset="-128"/>
              <a:ea typeface="Source Han Sans CN ExtraLight" panose="020B0200000000000000" pitchFamily="34" charset="-128"/>
              <a:cs typeface="Open Sans" panose="020B0606030504020204" pitchFamily="34" charset="0"/>
            </a:endParaRPr>
          </a:p>
          <a:p>
            <a:pPr algn="ctr"/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ource Han Sans CN ExtraLight" panose="020B0200000000000000" pitchFamily="34" charset="-128"/>
                <a:ea typeface="Source Han Sans CN ExtraLight" panose="020B0200000000000000" pitchFamily="34" charset="-128"/>
                <a:cs typeface="Open Sans" panose="020B0606030504020204" pitchFamily="34" charset="0"/>
              </a:rPr>
              <a:t>实现基于角色的访问控制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ource Han Sans CN ExtraLight" panose="020B0200000000000000" pitchFamily="34" charset="-128"/>
              <a:ea typeface="Source Han Sans CN ExtraLight" panose="020B0200000000000000" pitchFamily="34" charset="-128"/>
              <a:cs typeface="Open Sans" panose="020B0606030504020204" pitchFamily="34" charset="0"/>
            </a:endParaRPr>
          </a:p>
        </p:txBody>
      </p:sp>
      <p:sp>
        <p:nvSpPr>
          <p:cNvPr id="24" name="TextBox 30"/>
          <p:cNvSpPr txBox="1"/>
          <p:nvPr>
            <p:custDataLst>
              <p:tags r:id="rId19"/>
            </p:custDataLst>
          </p:nvPr>
        </p:nvSpPr>
        <p:spPr>
          <a:xfrm>
            <a:off x="6249035" y="1795780"/>
            <a:ext cx="2710815" cy="1870710"/>
          </a:xfrm>
          <a:prstGeom prst="roundRect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p>
            <a:pPr algn="ctr">
              <a:buClrTx/>
              <a:buSzTx/>
              <a:buNone/>
            </a:pPr>
            <a:r>
              <a: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ource Han Sans CN ExtraLight" panose="020B0200000000000000" pitchFamily="34" charset="-128"/>
                <a:ea typeface="Source Han Sans CN ExtraLight" panose="020B0200000000000000" pitchFamily="34" charset="-128"/>
                <a:cs typeface="Open Sans" panose="020B0606030504020204" pitchFamily="34" charset="0"/>
              </a:rPr>
              <a:t>系统核心服务月度可用性不低于99.5%。</a:t>
            </a:r>
            <a:endParaRPr lang="en-US" altLang="zh-CN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ource Han Sans CN ExtraLight" panose="020B0200000000000000" pitchFamily="34" charset="-128"/>
              <a:ea typeface="Source Han Sans CN ExtraLight" panose="020B0200000000000000" pitchFamily="34" charset="-128"/>
              <a:cs typeface="Open Sans" panose="020B0606030504020204" pitchFamily="34" charset="0"/>
            </a:endParaRPr>
          </a:p>
          <a:p>
            <a:pPr algn="ctr">
              <a:buClrTx/>
              <a:buSzTx/>
              <a:buNone/>
            </a:pPr>
            <a:r>
              <a: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ource Han Sans CN ExtraLight" panose="020B0200000000000000" pitchFamily="34" charset="-128"/>
                <a:ea typeface="Source Han Sans CN ExtraLight" panose="020B0200000000000000" pitchFamily="34" charset="-128"/>
                <a:cs typeface="Open Sans" panose="020B0606030504020204" pitchFamily="34" charset="0"/>
              </a:rPr>
              <a:t>具备完善的数据备份机制，保障数据安全。</a:t>
            </a:r>
            <a:endParaRPr lang="en-US" altLang="zh-CN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ource Han Sans CN ExtraLight" panose="020B0200000000000000" pitchFamily="34" charset="-128"/>
              <a:ea typeface="Source Han Sans CN ExtraLight" panose="020B0200000000000000" pitchFamily="34" charset="-128"/>
              <a:cs typeface="Open Sans" panose="020B0606030504020204" pitchFamily="34" charset="0"/>
            </a:endParaRPr>
          </a:p>
          <a:p>
            <a:pPr algn="ctr">
              <a:buClrTx/>
              <a:buSzTx/>
              <a:buNone/>
            </a:pPr>
            <a:r>
              <a: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ource Han Sans CN ExtraLight" panose="020B0200000000000000" pitchFamily="34" charset="-128"/>
                <a:ea typeface="Source Han Sans CN ExtraLight" panose="020B0200000000000000" pitchFamily="34" charset="-128"/>
                <a:cs typeface="Open Sans" panose="020B0606030504020204" pitchFamily="34" charset="0"/>
              </a:rPr>
              <a:t>对常见异常情况有良好的处理和恢复能力</a:t>
            </a:r>
            <a:endParaRPr lang="en-US" altLang="zh-CN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ource Han Sans CN ExtraLight" panose="020B0200000000000000" pitchFamily="34" charset="-128"/>
              <a:ea typeface="Source Han Sans CN ExtraLight" panose="020B0200000000000000" pitchFamily="34" charset="-128"/>
              <a:cs typeface="Open Sans" panose="020B0606030504020204" pitchFamily="34" charset="0"/>
            </a:endParaRPr>
          </a:p>
        </p:txBody>
      </p:sp>
      <p:sp>
        <p:nvSpPr>
          <p:cNvPr id="25" name="TextBox 30"/>
          <p:cNvSpPr txBox="1"/>
          <p:nvPr>
            <p:custDataLst>
              <p:tags r:id="rId20"/>
            </p:custDataLst>
          </p:nvPr>
        </p:nvSpPr>
        <p:spPr>
          <a:xfrm>
            <a:off x="6291580" y="4761230"/>
            <a:ext cx="2710815" cy="1870710"/>
          </a:xfrm>
          <a:prstGeom prst="roundRect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ource Han Sans CN ExtraLight" panose="020B0200000000000000" pitchFamily="34" charset="-128"/>
                <a:ea typeface="Source Han Sans CN ExtraLight" panose="020B0200000000000000" pitchFamily="34" charset="-128"/>
                <a:cs typeface="Open Sans" panose="020B0606030504020204" pitchFamily="34" charset="0"/>
              </a:rPr>
              <a:t>界面符合</a:t>
            </a:r>
            <a:r>
              <a: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ource Han Sans CN ExtraLight" panose="020B0200000000000000" pitchFamily="34" charset="-128"/>
                <a:ea typeface="Source Han Sans CN ExtraLight" panose="020B0200000000000000" pitchFamily="34" charset="-128"/>
                <a:cs typeface="Open Sans" panose="020B0606030504020204" pitchFamily="34" charset="0"/>
              </a:rPr>
              <a:t>Material Design</a:t>
            </a:r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ource Han Sans CN ExtraLight" panose="020B0200000000000000" pitchFamily="34" charset="-128"/>
                <a:ea typeface="Source Han Sans CN ExtraLight" panose="020B0200000000000000" pitchFamily="34" charset="-128"/>
                <a:cs typeface="Open Sans" panose="020B0606030504020204" pitchFamily="34" charset="0"/>
              </a:rPr>
              <a:t>规范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ource Han Sans CN ExtraLight" panose="020B0200000000000000" pitchFamily="34" charset="-128"/>
              <a:ea typeface="Source Han Sans CN ExtraLight" panose="020B0200000000000000" pitchFamily="34" charset="-128"/>
              <a:cs typeface="Open Sans" panose="020B0606030504020204" pitchFamily="34" charset="0"/>
            </a:endParaRPr>
          </a:p>
          <a:p>
            <a:pPr algn="ctr"/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ource Han Sans CN ExtraLight" panose="020B0200000000000000" pitchFamily="34" charset="-128"/>
                <a:ea typeface="Source Han Sans CN ExtraLight" panose="020B0200000000000000" pitchFamily="34" charset="-128"/>
                <a:cs typeface="Open Sans" panose="020B0606030504020204" pitchFamily="34" charset="0"/>
              </a:rPr>
              <a:t>操作流程直观简洁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ource Han Sans CN ExtraLight" panose="020B0200000000000000" pitchFamily="34" charset="-128"/>
              <a:ea typeface="Source Han Sans CN ExtraLight" panose="020B0200000000000000" pitchFamily="34" charset="-128"/>
              <a:cs typeface="Open Sans" panose="020B0606030504020204" pitchFamily="34" charset="0"/>
            </a:endParaRPr>
          </a:p>
          <a:p>
            <a:pPr algn="ctr"/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ource Han Sans CN ExtraLight" panose="020B0200000000000000" pitchFamily="34" charset="-128"/>
                <a:ea typeface="Source Han Sans CN ExtraLight" panose="020B0200000000000000" pitchFamily="34" charset="-128"/>
                <a:cs typeface="Open Sans" panose="020B0606030504020204" pitchFamily="34" charset="0"/>
              </a:rPr>
              <a:t>提供详细的操作指引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ource Han Sans CN ExtraLight" panose="020B0200000000000000" pitchFamily="34" charset="-128"/>
              <a:ea typeface="Source Han Sans CN ExtraLight" panose="020B0200000000000000" pitchFamily="34" charset="-128"/>
              <a:cs typeface="Open Sans" panose="020B0606030504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6" grpId="0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/>
      <p:bldP spid="12" grpId="0"/>
      <p:bldP spid="13" grpId="0"/>
      <p:bldP spid="14" grpId="0"/>
      <p:bldP spid="15" grpId="0" bldLvl="0" animBg="1"/>
      <p:bldP spid="16" grpId="0" bldLvl="0" animBg="1"/>
      <p:bldP spid="17" grpId="0" bldLvl="0" animBg="1"/>
      <p:bldP spid="18" grpId="0" bldLvl="0" animBg="1"/>
      <p:bldP spid="22" grpId="0" bldLvl="0" animBg="1"/>
      <p:bldP spid="23" grpId="0" bldLvl="0" animBg="1"/>
      <p:bldP spid="24" grpId="0" bldLvl="0" animBg="1"/>
      <p:bldP spid="25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44583" y="143693"/>
            <a:ext cx="2011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Tx/>
              <a:buSzTx/>
              <a:buFontTx/>
            </a:pPr>
            <a:r>
              <a:rPr kumimoji="1" lang="zh-CN" altLang="en-US" sz="2400" dirty="0">
                <a:solidFill>
                  <a:schemeClr val="accent1">
                    <a:lumMod val="75000"/>
                  </a:schemeClr>
                </a:solidFill>
                <a:latin typeface="+mj-ea"/>
              </a:rPr>
              <a:t>核心模块设计</a:t>
            </a:r>
            <a:endParaRPr kumimoji="1" lang="zh-CN" altLang="en-US" sz="2400" dirty="0">
              <a:solidFill>
                <a:schemeClr val="accent1">
                  <a:lumMod val="75000"/>
                </a:schemeClr>
              </a:solidFill>
              <a:latin typeface="+mj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9598" y="6121399"/>
            <a:ext cx="570951" cy="570951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372110" y="80391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accent1">
                    <a:lumMod val="60000"/>
                    <a:lumOff val="40000"/>
                  </a:schemeClr>
                </a:solidFill>
              </a:rPr>
              <a:t>图像预处理</a:t>
            </a:r>
            <a:endParaRPr lang="zh-CN" altLang="en-US" sz="28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818130" y="803910"/>
            <a:ext cx="26943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2800">
                <a:solidFill>
                  <a:schemeClr val="accent1">
                    <a:lumMod val="60000"/>
                    <a:lumOff val="40000"/>
                  </a:schemeClr>
                </a:solidFill>
              </a:rPr>
              <a:t>OCR识别模块</a:t>
            </a:r>
            <a:endParaRPr lang="zh-CN" altLang="en-US" sz="28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932170" y="803910"/>
            <a:ext cx="26866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2800">
                <a:solidFill>
                  <a:schemeClr val="accent1">
                    <a:lumMod val="60000"/>
                    <a:lumOff val="40000"/>
                  </a:schemeClr>
                </a:solidFill>
              </a:rPr>
              <a:t>批改引擎模块</a:t>
            </a:r>
            <a:endParaRPr lang="zh-CN" altLang="en-US" sz="28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880" y="1247775"/>
            <a:ext cx="2194560" cy="516191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3430" y="1325880"/>
            <a:ext cx="1499235" cy="514667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4100" y="1247775"/>
            <a:ext cx="1786255" cy="535432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8921750" y="803910"/>
            <a:ext cx="23761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2800">
                <a:solidFill>
                  <a:schemeClr val="accent1">
                    <a:lumMod val="60000"/>
                    <a:lumOff val="40000"/>
                  </a:schemeClr>
                </a:solidFill>
              </a:rPr>
              <a:t>数据管理模块</a:t>
            </a:r>
            <a:endParaRPr lang="zh-CN" altLang="en-US" sz="28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9895" y="1325880"/>
            <a:ext cx="1579880" cy="48215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76300" y="18224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kumimoji="1" lang="zh-CN" altLang="en-US" sz="2400" dirty="0">
                <a:solidFill>
                  <a:schemeClr val="accent1">
                    <a:lumMod val="75000"/>
                  </a:schemeClr>
                </a:solidFill>
                <a:latin typeface="+mj-ea"/>
              </a:rPr>
              <a:t>技术选型</a:t>
            </a:r>
            <a:endParaRPr kumimoji="1" lang="zh-CN" altLang="en-US" sz="2400" dirty="0">
              <a:solidFill>
                <a:schemeClr val="accent1">
                  <a:lumMod val="75000"/>
                </a:schemeClr>
              </a:solidFill>
              <a:latin typeface="+mj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70510" y="796290"/>
            <a:ext cx="11306810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accent1">
                    <a:lumMod val="75000"/>
                  </a:schemeClr>
                </a:solidFill>
              </a:rPr>
              <a:t>OCR</a:t>
            </a:r>
            <a:r>
              <a:rPr lang="zh-CN" altLang="en-US" sz="2400">
                <a:solidFill>
                  <a:schemeClr val="accent1">
                    <a:lumMod val="75000"/>
                  </a:schemeClr>
                </a:solidFill>
              </a:rPr>
              <a:t>技术选型：</a:t>
            </a:r>
            <a:endParaRPr lang="zh-CN" altLang="en-US" sz="240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CN" altLang="en-US" sz="2400">
                <a:solidFill>
                  <a:schemeClr val="accent1">
                    <a:lumMod val="75000"/>
                  </a:schemeClr>
                </a:solidFill>
              </a:rPr>
              <a:t>基础框架：</a:t>
            </a:r>
            <a:r>
              <a:rPr lang="en-US" altLang="zh-CN" sz="2400">
                <a:solidFill>
                  <a:schemeClr val="accent1">
                    <a:lumMod val="75000"/>
                  </a:schemeClr>
                </a:solidFill>
              </a:rPr>
              <a:t>PaddleOCR 2.6</a:t>
            </a:r>
            <a:endParaRPr lang="en-US" altLang="zh-CN" sz="240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CN" altLang="en-US" sz="2400">
                <a:solidFill>
                  <a:schemeClr val="accent1">
                    <a:lumMod val="75000"/>
                  </a:schemeClr>
                </a:solidFill>
              </a:rPr>
              <a:t>模型优化：知识蒸馏</a:t>
            </a:r>
            <a:r>
              <a:rPr lang="en-US" altLang="zh-CN" sz="2400">
                <a:solidFill>
                  <a:schemeClr val="accent1">
                    <a:lumMod val="75000"/>
                  </a:schemeClr>
                </a:solidFill>
              </a:rPr>
              <a:t> + </a:t>
            </a:r>
            <a:r>
              <a:rPr lang="zh-CN" altLang="en-US" sz="2400">
                <a:solidFill>
                  <a:schemeClr val="accent1">
                    <a:lumMod val="75000"/>
                  </a:schemeClr>
                </a:solidFill>
              </a:rPr>
              <a:t>量化压缩</a:t>
            </a:r>
            <a:endParaRPr lang="zh-CN" altLang="en-US" sz="240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 sz="2400">
                <a:solidFill>
                  <a:schemeClr val="accent1">
                    <a:lumMod val="75000"/>
                  </a:schemeClr>
                </a:solidFill>
              </a:rPr>
              <a:t>1.</a:t>
            </a:r>
            <a:r>
              <a:rPr lang="zh-CN" altLang="en-US" sz="2400">
                <a:solidFill>
                  <a:schemeClr val="accent1">
                    <a:lumMod val="75000"/>
                  </a:schemeClr>
                </a:solidFill>
              </a:rPr>
              <a:t>训练数据：</a:t>
            </a:r>
            <a:r>
              <a:rPr lang="en-US" altLang="zh-CN" sz="2400">
                <a:solidFill>
                  <a:schemeClr val="accent1">
                    <a:lumMod val="75000"/>
                  </a:schemeClr>
                </a:solidFill>
              </a:rPr>
              <a:t>IAM Handwriting Database</a:t>
            </a:r>
            <a:endParaRPr lang="en-US" altLang="zh-CN" sz="2400">
              <a:solidFill>
                <a:schemeClr val="accent1">
                  <a:lumMod val="75000"/>
                </a:schemeClr>
              </a:solidFill>
            </a:endParaRPr>
          </a:p>
          <a:p>
            <a:pPr indent="457200"/>
            <a:r>
              <a:rPr lang="zh-CN" altLang="en-US" sz="2400">
                <a:solidFill>
                  <a:schemeClr val="accent1">
                    <a:lumMod val="75000"/>
                  </a:schemeClr>
                </a:solidFill>
              </a:rPr>
              <a:t>包含</a:t>
            </a:r>
            <a:r>
              <a:rPr lang="en-US" altLang="zh-CN" sz="2400">
                <a:solidFill>
                  <a:schemeClr val="accent1">
                    <a:lumMod val="75000"/>
                  </a:schemeClr>
                </a:solidFill>
              </a:rPr>
              <a:t> 15,000 </a:t>
            </a:r>
            <a:r>
              <a:rPr lang="zh-CN" altLang="en-US" sz="2400">
                <a:solidFill>
                  <a:schemeClr val="accent1">
                    <a:lumMod val="75000"/>
                  </a:schemeClr>
                </a:solidFill>
              </a:rPr>
              <a:t>篇英文手写文本图像及转录结果，支持单词级</a:t>
            </a:r>
            <a:r>
              <a:rPr lang="en-US" altLang="zh-CN" sz="2400">
                <a:solidFill>
                  <a:schemeClr val="accent1">
                    <a:lumMod val="75000"/>
                  </a:schemeClr>
                </a:solidFill>
              </a:rPr>
              <a:t> / </a:t>
            </a:r>
            <a:r>
              <a:rPr lang="zh-CN" altLang="en-US" sz="2400">
                <a:solidFill>
                  <a:schemeClr val="accent1">
                    <a:lumMod val="75000"/>
                  </a:schemeClr>
                </a:solidFill>
              </a:rPr>
              <a:t>行级识别训练。</a:t>
            </a:r>
            <a:endParaRPr lang="zh-CN" altLang="en-US" sz="2400">
              <a:solidFill>
                <a:schemeClr val="accent1">
                  <a:lumMod val="75000"/>
                </a:schemeClr>
              </a:solidFill>
            </a:endParaRPr>
          </a:p>
          <a:p>
            <a:pPr indent="457200"/>
            <a:r>
              <a:rPr lang="zh-CN" altLang="en-US" sz="2400">
                <a:solidFill>
                  <a:schemeClr val="accent1">
                    <a:lumMod val="75000"/>
                  </a:schemeClr>
                </a:solidFill>
              </a:rPr>
              <a:t>下载地址：</a:t>
            </a:r>
            <a:r>
              <a:rPr lang="en-US" altLang="zh-CN" sz="2400">
                <a:solidFill>
                  <a:schemeClr val="accent1">
                    <a:lumMod val="75000"/>
                  </a:schemeClr>
                </a:solidFill>
              </a:rPr>
              <a:t>IAM Handwriting Database </a:t>
            </a:r>
            <a:r>
              <a:rPr lang="zh-CN" altLang="en-US" sz="2400">
                <a:solidFill>
                  <a:schemeClr val="accent1">
                    <a:lumMod val="75000"/>
                  </a:schemeClr>
                </a:solidFill>
              </a:rPr>
              <a:t>（需注册）</a:t>
            </a:r>
            <a:r>
              <a:rPr lang="en-US" altLang="zh-CN" sz="2400">
                <a:solidFill>
                  <a:schemeClr val="accent1">
                    <a:lumMod val="75000"/>
                  </a:schemeClr>
                </a:solidFill>
              </a:rPr>
              <a:t> </a:t>
            </a:r>
            <a:endParaRPr lang="en-US" altLang="zh-CN" sz="2400">
              <a:solidFill>
                <a:schemeClr val="accent1">
                  <a:lumMod val="75000"/>
                </a:schemeClr>
              </a:solidFill>
            </a:endParaRPr>
          </a:p>
          <a:p>
            <a:pPr indent="457200"/>
            <a:r>
              <a:rPr lang="en-US" altLang="zh-CN" sz="2400">
                <a:solidFill>
                  <a:schemeClr val="accent1">
                    <a:lumMod val="75000"/>
                  </a:schemeClr>
                </a:solidFill>
              </a:rPr>
              <a:t>http://www.fki.inf.unibe.ch/databases/iam-handwriting-database</a:t>
            </a:r>
            <a:endParaRPr lang="en-US" altLang="zh-CN" sz="240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 sz="2400">
                <a:solidFill>
                  <a:schemeClr val="accent1">
                    <a:lumMod val="75000"/>
                  </a:schemeClr>
                </a:solidFill>
              </a:rPr>
              <a:t>2.CASIA-HWDB</a:t>
            </a:r>
            <a:r>
              <a:rPr lang="zh-CN" altLang="en-US" sz="2400">
                <a:solidFill>
                  <a:schemeClr val="accent1">
                    <a:lumMod val="75000"/>
                  </a:schemeClr>
                </a:solidFill>
              </a:rPr>
              <a:t>（中文手写数据库）</a:t>
            </a:r>
            <a:endParaRPr lang="zh-CN" altLang="en-US" sz="2400">
              <a:solidFill>
                <a:schemeClr val="accent1">
                  <a:lumMod val="75000"/>
                </a:schemeClr>
              </a:solidFill>
            </a:endParaRPr>
          </a:p>
          <a:p>
            <a:pPr indent="457200"/>
            <a:r>
              <a:rPr lang="zh-CN" altLang="en-US" sz="2400">
                <a:solidFill>
                  <a:schemeClr val="accent1">
                    <a:lumMod val="75000"/>
                  </a:schemeClr>
                </a:solidFill>
              </a:rPr>
              <a:t>包含</a:t>
            </a:r>
            <a:r>
              <a:rPr lang="en-US" altLang="zh-CN" sz="2400">
                <a:solidFill>
                  <a:schemeClr val="accent1">
                    <a:lumMod val="75000"/>
                  </a:schemeClr>
                </a:solidFill>
              </a:rPr>
              <a:t> 3.8 </a:t>
            </a:r>
            <a:r>
              <a:rPr lang="zh-CN" altLang="en-US" sz="2400">
                <a:solidFill>
                  <a:schemeClr val="accent1">
                    <a:lumMod val="75000"/>
                  </a:schemeClr>
                </a:solidFill>
              </a:rPr>
              <a:t>万类中文手写字符，共约</a:t>
            </a:r>
            <a:r>
              <a:rPr lang="en-US" altLang="zh-CN" sz="2400">
                <a:solidFill>
                  <a:schemeClr val="accent1">
                    <a:lumMod val="75000"/>
                  </a:schemeClr>
                </a:solidFill>
              </a:rPr>
              <a:t> 500 </a:t>
            </a:r>
            <a:r>
              <a:rPr lang="zh-CN" altLang="en-US" sz="2400">
                <a:solidFill>
                  <a:schemeClr val="accent1">
                    <a:lumMod val="75000"/>
                  </a:schemeClr>
                </a:solidFill>
              </a:rPr>
              <a:t>万样本，适合中文手写识别模型训练。</a:t>
            </a:r>
            <a:endParaRPr lang="zh-CN" altLang="en-US" sz="2400">
              <a:solidFill>
                <a:schemeClr val="accent1">
                  <a:lumMod val="75000"/>
                </a:schemeClr>
              </a:solidFill>
            </a:endParaRPr>
          </a:p>
          <a:p>
            <a:pPr indent="457200"/>
            <a:r>
              <a:rPr lang="zh-CN" altLang="en-US" sz="2400">
                <a:solidFill>
                  <a:schemeClr val="accent1">
                    <a:lumMod val="75000"/>
                  </a:schemeClr>
                </a:solidFill>
              </a:rPr>
              <a:t>下载地址：</a:t>
            </a:r>
            <a:r>
              <a:rPr lang="en-US" altLang="zh-CN" sz="2400">
                <a:solidFill>
                  <a:schemeClr val="accent1">
                    <a:lumMod val="75000"/>
                  </a:schemeClr>
                </a:solidFill>
              </a:rPr>
              <a:t>CASIA-HWDB</a:t>
            </a:r>
            <a:r>
              <a:rPr lang="zh-CN" altLang="en-US" sz="2400">
                <a:solidFill>
                  <a:schemeClr val="accent1">
                    <a:lumMod val="75000"/>
                  </a:schemeClr>
                </a:solidFill>
              </a:rPr>
              <a:t>（需申请）</a:t>
            </a:r>
            <a:endParaRPr lang="zh-CN" altLang="en-US" sz="2400">
              <a:solidFill>
                <a:schemeClr val="accent1">
                  <a:lumMod val="75000"/>
                </a:schemeClr>
              </a:solidFill>
            </a:endParaRPr>
          </a:p>
          <a:p>
            <a:pPr indent="457200"/>
            <a:r>
              <a:rPr lang="en-US" altLang="zh-CN" sz="2400">
                <a:solidFill>
                  <a:schemeClr val="accent1">
                    <a:lumMod val="75000"/>
                  </a:schemeClr>
                </a:solidFill>
              </a:rPr>
              <a:t>http://www.aiar.xjtu.edu.cn/?page_id=1391</a:t>
            </a:r>
            <a:endParaRPr lang="en-US" altLang="zh-CN" sz="240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 sz="2400">
                <a:solidFill>
                  <a:schemeClr val="accent1">
                    <a:lumMod val="75000"/>
                  </a:schemeClr>
                </a:solidFill>
              </a:rPr>
              <a:t>3.MNIST </a:t>
            </a:r>
            <a:r>
              <a:rPr lang="zh-CN" altLang="en-US" sz="2400">
                <a:solidFill>
                  <a:schemeClr val="accent1">
                    <a:lumMod val="75000"/>
                  </a:schemeClr>
                </a:solidFill>
              </a:rPr>
              <a:t>扩展数据集</a:t>
            </a:r>
            <a:endParaRPr lang="zh-CN" altLang="en-US" sz="2400">
              <a:solidFill>
                <a:schemeClr val="accent1">
                  <a:lumMod val="75000"/>
                </a:schemeClr>
              </a:solidFill>
            </a:endParaRPr>
          </a:p>
          <a:p>
            <a:pPr indent="457200"/>
            <a:r>
              <a:rPr lang="zh-CN" altLang="en-US" sz="2400">
                <a:solidFill>
                  <a:schemeClr val="accent1">
                    <a:lumMod val="75000"/>
                  </a:schemeClr>
                </a:solidFill>
              </a:rPr>
              <a:t>手写数字与数学符号数据集（如加减乘除符号），适合数学填空题识别。</a:t>
            </a:r>
            <a:endParaRPr lang="zh-CN" altLang="en-US" sz="2400">
              <a:solidFill>
                <a:schemeClr val="accent1">
                  <a:lumMod val="75000"/>
                </a:schemeClr>
              </a:solidFill>
            </a:endParaRPr>
          </a:p>
          <a:p>
            <a:pPr indent="457200"/>
            <a:r>
              <a:rPr lang="zh-CN" altLang="en-US" sz="2400">
                <a:solidFill>
                  <a:schemeClr val="accent1">
                    <a:lumMod val="75000"/>
                  </a:schemeClr>
                </a:solidFill>
              </a:rPr>
              <a:t>下载地址：</a:t>
            </a:r>
            <a:r>
              <a:rPr lang="en-US" altLang="zh-CN" sz="2400">
                <a:solidFill>
                  <a:schemeClr val="accent1">
                    <a:lumMod val="75000"/>
                  </a:schemeClr>
                </a:solidFill>
              </a:rPr>
              <a:t>Extended MNIST</a:t>
            </a:r>
            <a:endParaRPr lang="en-US" altLang="zh-CN" sz="2400">
              <a:solidFill>
                <a:schemeClr val="accent1">
                  <a:lumMod val="75000"/>
                </a:schemeClr>
              </a:solidFill>
            </a:endParaRPr>
          </a:p>
          <a:p>
            <a:pPr indent="457200"/>
            <a:r>
              <a:rPr lang="en-US" altLang="zh-CN" sz="2400">
                <a:solidFill>
                  <a:schemeClr val="accent1">
                    <a:lumMod val="75000"/>
                  </a:schemeClr>
                </a:solidFill>
              </a:rPr>
              <a:t>https://www.kaggle.com/datasets/crawford/emnist</a:t>
            </a:r>
            <a:endParaRPr lang="en-US" altLang="zh-CN" sz="240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直角三角形 16"/>
          <p:cNvSpPr/>
          <p:nvPr/>
        </p:nvSpPr>
        <p:spPr>
          <a:xfrm rot="16200000">
            <a:off x="8326322" y="2992323"/>
            <a:ext cx="4934251" cy="2797103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直角三角形 17"/>
          <p:cNvSpPr/>
          <p:nvPr/>
        </p:nvSpPr>
        <p:spPr>
          <a:xfrm rot="16200000">
            <a:off x="9180414" y="3851361"/>
            <a:ext cx="3837752" cy="2175525"/>
          </a:xfrm>
          <a:prstGeom prst="rtTriangle">
            <a:avLst/>
          </a:prstGeom>
          <a:gradFill>
            <a:gsLst>
              <a:gs pos="0">
                <a:srgbClr val="00B0F0">
                  <a:alpha val="60000"/>
                </a:srgbClr>
              </a:gs>
              <a:gs pos="100000">
                <a:srgbClr val="0070C0">
                  <a:alpha val="70000"/>
                </a:srgb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" name="组合 1"/>
          <p:cNvGrpSpPr/>
          <p:nvPr/>
        </p:nvGrpSpPr>
        <p:grpSpPr>
          <a:xfrm rot="10800000">
            <a:off x="9386974" y="5098321"/>
            <a:ext cx="1992753" cy="1785556"/>
            <a:chOff x="4054440" y="-2"/>
            <a:chExt cx="6306169" cy="5650482"/>
          </a:xfrm>
        </p:grpSpPr>
        <p:sp>
          <p:nvSpPr>
            <p:cNvPr id="3" name="三角形 2"/>
            <p:cNvSpPr/>
            <p:nvPr/>
          </p:nvSpPr>
          <p:spPr>
            <a:xfrm rot="10800000">
              <a:off x="5555083" y="2540"/>
              <a:ext cx="4762398" cy="4267225"/>
            </a:xfrm>
            <a:prstGeom prst="triangle">
              <a:avLst/>
            </a:prstGeom>
            <a:gradFill flip="none" rotWithShape="1">
              <a:gsLst>
                <a:gs pos="0">
                  <a:srgbClr val="00B0F0">
                    <a:alpha val="0"/>
                  </a:srgbClr>
                </a:gs>
                <a:gs pos="100000">
                  <a:srgbClr val="0070C0">
                    <a:alpha val="60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" name="三角形 3"/>
            <p:cNvSpPr/>
            <p:nvPr/>
          </p:nvSpPr>
          <p:spPr>
            <a:xfrm rot="10800000">
              <a:off x="4054440" y="-2"/>
              <a:ext cx="6306169" cy="5650482"/>
            </a:xfrm>
            <a:prstGeom prst="triangle">
              <a:avLst/>
            </a:prstGeom>
            <a:gradFill flip="none" rotWithShape="1">
              <a:gsLst>
                <a:gs pos="0">
                  <a:srgbClr val="00B0F0">
                    <a:alpha val="44000"/>
                  </a:srgbClr>
                </a:gs>
                <a:gs pos="100000">
                  <a:srgbClr val="0070C0">
                    <a:alpha val="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5" name="三角形 4"/>
          <p:cNvSpPr/>
          <p:nvPr/>
        </p:nvSpPr>
        <p:spPr>
          <a:xfrm rot="10800000">
            <a:off x="31990" y="121516"/>
            <a:ext cx="6306169" cy="5650482"/>
          </a:xfrm>
          <a:prstGeom prst="triangle">
            <a:avLst/>
          </a:prstGeom>
          <a:gradFill flip="none" rotWithShape="1">
            <a:gsLst>
              <a:gs pos="0">
                <a:srgbClr val="00B0F0">
                  <a:alpha val="44000"/>
                </a:srgbClr>
              </a:gs>
              <a:gs pos="100000">
                <a:srgbClr val="0070C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直角三角形 5"/>
          <p:cNvSpPr/>
          <p:nvPr/>
        </p:nvSpPr>
        <p:spPr>
          <a:xfrm rot="5400000">
            <a:off x="-1532048" y="1532048"/>
            <a:ext cx="7074394" cy="401029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直角三角形 6"/>
          <p:cNvSpPr/>
          <p:nvPr/>
        </p:nvSpPr>
        <p:spPr>
          <a:xfrm rot="5400000">
            <a:off x="-1159604" y="1191595"/>
            <a:ext cx="5502311" cy="3119122"/>
          </a:xfrm>
          <a:prstGeom prst="rtTriangle">
            <a:avLst/>
          </a:prstGeom>
          <a:gradFill>
            <a:gsLst>
              <a:gs pos="0">
                <a:srgbClr val="00B0F0">
                  <a:alpha val="60000"/>
                </a:srgbClr>
              </a:gs>
              <a:gs pos="100000">
                <a:srgbClr val="0070C0">
                  <a:alpha val="70000"/>
                </a:srgb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三角形 7"/>
          <p:cNvSpPr/>
          <p:nvPr/>
        </p:nvSpPr>
        <p:spPr>
          <a:xfrm rot="10800000">
            <a:off x="574390" y="440936"/>
            <a:ext cx="4762398" cy="4267225"/>
          </a:xfrm>
          <a:prstGeom prst="triangle">
            <a:avLst/>
          </a:prstGeom>
          <a:gradFill flip="none" rotWithShape="1">
            <a:gsLst>
              <a:gs pos="0">
                <a:srgbClr val="00B0F0">
                  <a:alpha val="0"/>
                </a:srgbClr>
              </a:gs>
              <a:gs pos="100000">
                <a:srgbClr val="0070C0">
                  <a:alpha val="6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4047321" y="2987598"/>
            <a:ext cx="3535680" cy="1106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6600" dirty="0">
                <a:gradFill>
                  <a:gsLst>
                    <a:gs pos="0">
                      <a:srgbClr val="00B0F0"/>
                    </a:gs>
                    <a:gs pos="100000">
                      <a:srgbClr val="0070C0"/>
                    </a:gs>
                  </a:gsLst>
                  <a:lin ang="2700000" scaled="1"/>
                </a:gradFill>
                <a:latin typeface="+mj-ea"/>
                <a:ea typeface="+mj-ea"/>
              </a:rPr>
              <a:t>进度安排</a:t>
            </a:r>
            <a:endParaRPr kumimoji="1" lang="zh-CN" altLang="en-US" sz="6600" dirty="0">
              <a:gradFill>
                <a:gsLst>
                  <a:gs pos="0">
                    <a:srgbClr val="00B0F0"/>
                  </a:gs>
                  <a:gs pos="100000">
                    <a:srgbClr val="0070C0"/>
                  </a:gs>
                </a:gsLst>
                <a:lin ang="2700000" scaled="1"/>
              </a:gradFill>
              <a:latin typeface="+mj-ea"/>
              <a:ea typeface="+mj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012987" y="2313057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gradFill>
                  <a:gsLst>
                    <a:gs pos="0">
                      <a:srgbClr val="00B0F0">
                        <a:alpha val="60000"/>
                      </a:srgbClr>
                    </a:gs>
                    <a:gs pos="100000">
                      <a:srgbClr val="0070C0">
                        <a:alpha val="70000"/>
                      </a:srgbClr>
                    </a:gs>
                  </a:gsLst>
                  <a:lin ang="2700000" scaled="1"/>
                </a:gradFill>
              </a:rPr>
              <a:t>第</a:t>
            </a:r>
            <a:r>
              <a:rPr kumimoji="1" lang="zh-CN" altLang="en-US" sz="2800" dirty="0">
                <a:gradFill>
                  <a:gsLst>
                    <a:gs pos="0">
                      <a:srgbClr val="00B0F0">
                        <a:alpha val="60000"/>
                      </a:srgbClr>
                    </a:gs>
                    <a:gs pos="100000">
                      <a:srgbClr val="0070C0">
                        <a:alpha val="70000"/>
                      </a:srgbClr>
                    </a:gs>
                  </a:gsLst>
                  <a:lin ang="2700000" scaled="1"/>
                </a:gradFill>
              </a:rPr>
              <a:t>三部分</a:t>
            </a:r>
            <a:endParaRPr kumimoji="1" lang="zh-CN" altLang="en-US" sz="2800" dirty="0">
              <a:gradFill>
                <a:gsLst>
                  <a:gs pos="0">
                    <a:srgbClr val="00B0F0">
                      <a:alpha val="60000"/>
                    </a:srgbClr>
                  </a:gs>
                  <a:gs pos="100000">
                    <a:srgbClr val="0070C0">
                      <a:alpha val="70000"/>
                    </a:srgbClr>
                  </a:gs>
                </a:gsLst>
                <a:lin ang="2700000" scaled="1"/>
              </a:gra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44583" y="143693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Tx/>
              <a:buSzTx/>
              <a:buFontTx/>
            </a:pPr>
            <a:r>
              <a:rPr kumimoji="1" lang="zh-CN" altLang="en-US" sz="2400" dirty="0">
                <a:solidFill>
                  <a:schemeClr val="accent1">
                    <a:lumMod val="75000"/>
                  </a:schemeClr>
                </a:solidFill>
                <a:latin typeface="+mj-ea"/>
              </a:rPr>
              <a:t>进度安排</a:t>
            </a:r>
            <a:endParaRPr kumimoji="1" lang="zh-CN" altLang="en-US" sz="2400" dirty="0">
              <a:solidFill>
                <a:schemeClr val="accent1">
                  <a:lumMod val="75000"/>
                </a:schemeClr>
              </a:solidFill>
              <a:latin typeface="+mj-ea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9598" y="6121399"/>
            <a:ext cx="570951" cy="570951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348615" y="819150"/>
            <a:ext cx="1110107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accent1">
                    <a:lumMod val="75000"/>
                  </a:schemeClr>
                </a:solidFill>
              </a:rPr>
              <a:t>第一阶段</a:t>
            </a:r>
            <a:r>
              <a:rPr lang="en-US" altLang="zh-CN" sz="2800" b="1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zh-CN" altLang="en-US" sz="2800" b="1">
                <a:solidFill>
                  <a:schemeClr val="accent1">
                    <a:lumMod val="75000"/>
                  </a:schemeClr>
                </a:solidFill>
              </a:rPr>
              <a:t>前期准备</a:t>
            </a:r>
            <a:r>
              <a:rPr lang="zh-CN" altLang="en-US" b="1">
                <a:solidFill>
                  <a:schemeClr val="accent1">
                    <a:lumMod val="75000"/>
                  </a:schemeClr>
                </a:solidFill>
              </a:rPr>
              <a:t>（第7-9周）</a:t>
            </a:r>
            <a:endParaRPr lang="zh-CN" altLang="en-US" sz="280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altLang="zh-CN" sz="200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需求细化与技术验证</a:t>
            </a:r>
            <a:endParaRPr lang="zh-CN" altLang="en-US" sz="20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alt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</a:t>
            </a:r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开发环境搭建</a:t>
            </a:r>
            <a:endParaRPr lang="zh-CN" altLang="en-US" sz="20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alt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</a:t>
            </a:r>
            <a:r>
              <a:rPr lang="en-US" altLang="zh-CN" sz="2000">
                <a:solidFill>
                  <a:schemeClr val="tx1">
                    <a:lumMod val="85000"/>
                    <a:lumOff val="15000"/>
                  </a:schemeClr>
                </a:solidFill>
              </a:rPr>
              <a:t>OCR</a:t>
            </a:r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原型开发（准确率＞</a:t>
            </a:r>
            <a:r>
              <a:rPr lang="en-US" altLang="zh-CN" sz="2000">
                <a:solidFill>
                  <a:schemeClr val="tx1">
                    <a:lumMod val="85000"/>
                    <a:lumOff val="15000"/>
                  </a:schemeClr>
                </a:solidFill>
              </a:rPr>
              <a:t>80%</a:t>
            </a:r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）</a:t>
            </a:r>
            <a:endParaRPr lang="zh-CN" altLang="en-US" sz="20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alt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</a:t>
            </a:r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数据库设计与接口规范</a:t>
            </a:r>
            <a:endParaRPr lang="zh-CN" altLang="en-US" sz="20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028690" y="873760"/>
            <a:ext cx="626300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  <a:buNone/>
            </a:pPr>
            <a:r>
              <a:rPr lang="zh-CN" altLang="en-US" sz="2800" b="1">
                <a:solidFill>
                  <a:schemeClr val="accent1">
                    <a:lumMod val="75000"/>
                  </a:schemeClr>
                </a:solidFill>
              </a:rPr>
              <a:t>第二阶段核心开发</a:t>
            </a:r>
            <a:r>
              <a:rPr lang="zh-CN" altLang="en-US" sz="1800" b="1">
                <a:solidFill>
                  <a:schemeClr val="accent1">
                    <a:lumMod val="75000"/>
                  </a:schemeClr>
                </a:solidFill>
              </a:rPr>
              <a:t>（第10-18周）</a:t>
            </a:r>
            <a:endParaRPr lang="zh-CN" altLang="en-US" sz="1800" b="1">
              <a:solidFill>
                <a:schemeClr val="accent1">
                  <a:lumMod val="75000"/>
                </a:schemeClr>
              </a:solidFill>
            </a:endParaRPr>
          </a:p>
          <a:p>
            <a:pPr algn="l">
              <a:buClrTx/>
              <a:buSzTx/>
              <a:buNone/>
            </a:pPr>
            <a:r>
              <a:rPr lang="en-US" altLang="zh-CN" sz="2000">
                <a:solidFill>
                  <a:schemeClr val="tx1">
                    <a:lumMod val="85000"/>
                    <a:lumOff val="15000"/>
                  </a:schemeClr>
                </a:solidFill>
              </a:rPr>
              <a:t>   </a:t>
            </a:r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OCR模块开发与优化（第10-13周）</a:t>
            </a:r>
            <a:endParaRPr lang="zh-CN" altLang="en-US" sz="20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>
              <a:buClrTx/>
              <a:buSzTx/>
              <a:buNone/>
            </a:pPr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批改引擎核心功能实现（第14-16周）</a:t>
            </a:r>
            <a:endParaRPr lang="zh-CN" altLang="en-US" sz="20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>
              <a:buClrTx/>
              <a:buSzTx/>
              <a:buNone/>
            </a:pPr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前后端基础功能开发（第17-18周）</a:t>
            </a:r>
            <a:endParaRPr lang="zh-CN" altLang="en-US" sz="28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356870" y="2760980"/>
            <a:ext cx="5083175" cy="1353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2800" b="1">
                <a:solidFill>
                  <a:schemeClr val="accent1">
                    <a:lumMod val="75000"/>
                  </a:schemeClr>
                </a:solidFill>
              </a:rPr>
              <a:t>第三阶段中期答辩准备</a:t>
            </a:r>
            <a:r>
              <a:rPr lang="zh-CN" altLang="en-US" b="1">
                <a:solidFill>
                  <a:schemeClr val="accent1">
                    <a:lumMod val="75000"/>
                  </a:schemeClr>
                </a:solidFill>
              </a:rPr>
              <a:t>（第19-21周）</a:t>
            </a:r>
            <a:endParaRPr lang="zh-CN" altLang="en-US" b="1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en-US"/>
              <a:t></a:t>
            </a:r>
            <a:r>
              <a:rPr lang="zh-CN" altLang="en-US"/>
              <a:t>系统功能整合</a:t>
            </a:r>
            <a:endParaRPr lang="zh-CN" altLang="en-US"/>
          </a:p>
          <a:p>
            <a:r>
              <a:rPr lang="en-US" altLang="en-US"/>
              <a:t></a:t>
            </a:r>
            <a:r>
              <a:rPr lang="zh-CN" altLang="en-US"/>
              <a:t>中期演示版本开发</a:t>
            </a:r>
            <a:endParaRPr lang="zh-CN" altLang="en-US"/>
          </a:p>
          <a:p>
            <a:r>
              <a:rPr lang="en-US" altLang="en-US"/>
              <a:t></a:t>
            </a:r>
            <a:r>
              <a:rPr lang="zh-CN" altLang="en-US"/>
              <a:t>中期报告撰写与答辩准备</a:t>
            </a:r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6028690" y="2787650"/>
            <a:ext cx="5744845" cy="1353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2800" b="1">
                <a:solidFill>
                  <a:schemeClr val="accent1">
                    <a:lumMod val="75000"/>
                  </a:schemeClr>
                </a:solidFill>
              </a:rPr>
              <a:t>第四阶段：功能完善</a:t>
            </a:r>
            <a:r>
              <a:rPr lang="zh-CN" altLang="en-US" b="1">
                <a:solidFill>
                  <a:schemeClr val="accent1">
                    <a:lumMod val="75000"/>
                  </a:schemeClr>
                </a:solidFill>
              </a:rPr>
              <a:t>（第1-3周，第二学期）</a:t>
            </a:r>
            <a:endParaRPr lang="zh-CN" altLang="en-US" b="1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en-US"/>
              <a:t></a:t>
            </a:r>
            <a:r>
              <a:rPr lang="zh-CN" altLang="en-US"/>
              <a:t>系统功能完善与优化</a:t>
            </a:r>
            <a:endParaRPr lang="zh-CN" altLang="en-US"/>
          </a:p>
          <a:p>
            <a:r>
              <a:rPr lang="en-US" altLang="en-US"/>
              <a:t></a:t>
            </a:r>
            <a:r>
              <a:rPr lang="zh-CN" altLang="en-US"/>
              <a:t>用户界面优化</a:t>
            </a:r>
            <a:endParaRPr lang="zh-CN" altLang="en-US"/>
          </a:p>
          <a:p>
            <a:r>
              <a:rPr lang="en-US" altLang="en-US"/>
              <a:t></a:t>
            </a:r>
            <a:r>
              <a:rPr lang="zh-CN" altLang="en-US"/>
              <a:t>性能测试与调优</a:t>
            </a:r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288925" y="4706620"/>
            <a:ext cx="6152515" cy="1353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2800" b="1">
                <a:solidFill>
                  <a:schemeClr val="accent1">
                    <a:lumMod val="75000"/>
                  </a:schemeClr>
                </a:solidFill>
              </a:rPr>
              <a:t>第五阶段：测试优化</a:t>
            </a:r>
            <a:r>
              <a:rPr lang="zh-CN" altLang="en-US" b="1">
                <a:solidFill>
                  <a:schemeClr val="accent1">
                    <a:lumMod val="75000"/>
                  </a:schemeClr>
                </a:solidFill>
              </a:rPr>
              <a:t>（第4-11周，第二学期）</a:t>
            </a:r>
            <a:endParaRPr lang="zh-CN" altLang="en-US" b="1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en-US"/>
              <a:t></a:t>
            </a:r>
            <a:r>
              <a:rPr lang="zh-CN" altLang="en-US"/>
              <a:t>全面测试（功能、性能、兼容性）</a:t>
            </a:r>
            <a:endParaRPr lang="zh-CN" altLang="en-US"/>
          </a:p>
          <a:p>
            <a:r>
              <a:rPr lang="en-US" altLang="en-US"/>
              <a:t></a:t>
            </a:r>
            <a:r>
              <a:rPr lang="zh-CN" altLang="en-US"/>
              <a:t>用户体验优化</a:t>
            </a:r>
            <a:endParaRPr lang="zh-CN" altLang="en-US"/>
          </a:p>
          <a:p>
            <a:r>
              <a:rPr lang="en-US" altLang="en-US"/>
              <a:t></a:t>
            </a:r>
            <a:r>
              <a:rPr lang="zh-CN" altLang="en-US"/>
              <a:t>系统稳定性提升</a:t>
            </a:r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6083300" y="4768215"/>
            <a:ext cx="587883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accent1">
                    <a:lumMod val="75000"/>
                  </a:schemeClr>
                </a:solidFill>
              </a:rPr>
              <a:t>第六阶段：结题准备</a:t>
            </a:r>
            <a:r>
              <a:rPr lang="zh-CN" altLang="en-US" b="1">
                <a:solidFill>
                  <a:schemeClr val="accent1">
                    <a:lumMod val="75000"/>
                  </a:schemeClr>
                </a:solidFill>
              </a:rPr>
              <a:t>（第12-18周，第二学期）</a:t>
            </a:r>
            <a:endParaRPr lang="zh-CN" altLang="en-US"/>
          </a:p>
          <a:p>
            <a:r>
              <a:rPr lang="en-US" altLang="en-US"/>
              <a:t></a:t>
            </a:r>
            <a:r>
              <a:rPr lang="zh-CN" altLang="en-US"/>
              <a:t>最终版本发布</a:t>
            </a:r>
            <a:endParaRPr lang="zh-CN" altLang="en-US"/>
          </a:p>
          <a:p>
            <a:r>
              <a:rPr lang="en-US" altLang="en-US"/>
              <a:t></a:t>
            </a:r>
            <a:r>
              <a:rPr lang="zh-CN" altLang="en-US"/>
              <a:t>项目文档整理</a:t>
            </a:r>
            <a:endParaRPr lang="zh-CN" altLang="en-US"/>
          </a:p>
          <a:p>
            <a:r>
              <a:rPr lang="en-US" altLang="en-US"/>
              <a:t></a:t>
            </a:r>
            <a:r>
              <a:rPr lang="zh-CN" altLang="en-US"/>
              <a:t>结题报告撰写</a:t>
            </a:r>
            <a:endParaRPr lang="zh-CN" altLang="en-US"/>
          </a:p>
          <a:p>
            <a:r>
              <a:rPr lang="en-US" altLang="zh-CN"/>
              <a:t>    </a:t>
            </a:r>
            <a:r>
              <a:rPr lang="zh-CN" altLang="en-US"/>
              <a:t>准备成果展示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44583" y="143693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Tx/>
              <a:buSzTx/>
              <a:buFontTx/>
            </a:pPr>
            <a:r>
              <a:rPr kumimoji="1" lang="zh-CN" altLang="en-US" sz="2400" dirty="0">
                <a:solidFill>
                  <a:schemeClr val="accent1">
                    <a:lumMod val="75000"/>
                  </a:schemeClr>
                </a:solidFill>
                <a:latin typeface="+mj-ea"/>
              </a:rPr>
              <a:t>小组分工</a:t>
            </a:r>
            <a:endParaRPr kumimoji="1" lang="zh-CN" altLang="en-US" sz="2400" dirty="0">
              <a:solidFill>
                <a:schemeClr val="accent1">
                  <a:lumMod val="75000"/>
                </a:schemeClr>
              </a:solidFill>
              <a:latin typeface="+mj-ea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9598" y="6121399"/>
            <a:ext cx="570951" cy="570951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855" y="647065"/>
            <a:ext cx="9994900" cy="58273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9598" y="6121399"/>
            <a:ext cx="570951" cy="570951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1979930" y="2442210"/>
            <a:ext cx="8743315" cy="1861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lvl="1" indent="457200"/>
            <a:r>
              <a:rPr lang="zh-CN" altLang="en-US" sz="11500">
                <a:solidFill>
                  <a:schemeClr val="accent1">
                    <a:lumMod val="75000"/>
                  </a:schemeClr>
                </a:solidFill>
              </a:rPr>
              <a:t>谢谢大家！</a:t>
            </a:r>
            <a:endParaRPr lang="zh-CN" altLang="en-US" sz="1150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B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三角形 5"/>
          <p:cNvSpPr/>
          <p:nvPr/>
        </p:nvSpPr>
        <p:spPr>
          <a:xfrm rot="10800000">
            <a:off x="3914669" y="-1"/>
            <a:ext cx="6932418" cy="6211616"/>
          </a:xfrm>
          <a:prstGeom prst="triangle">
            <a:avLst/>
          </a:prstGeom>
          <a:gradFill flip="none" rotWithShape="1">
            <a:gsLst>
              <a:gs pos="0">
                <a:srgbClr val="00B0F0">
                  <a:alpha val="0"/>
                </a:srgbClr>
              </a:gs>
              <a:gs pos="100000">
                <a:srgbClr val="0070C0">
                  <a:alpha val="31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平行四边形 16"/>
          <p:cNvSpPr/>
          <p:nvPr/>
        </p:nvSpPr>
        <p:spPr>
          <a:xfrm>
            <a:off x="-1920230" y="0"/>
            <a:ext cx="10229323" cy="6872456"/>
          </a:xfrm>
          <a:prstGeom prst="parallelogram">
            <a:avLst>
              <a:gd name="adj" fmla="val 56852"/>
            </a:avLst>
          </a:prstGeom>
          <a:blipFill dpi="0" rotWithShape="1"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rcRect/>
            <a:stretch>
              <a:fillRect l="14352" t="222" r="-14352" b="-22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三角形 2"/>
          <p:cNvSpPr/>
          <p:nvPr/>
        </p:nvSpPr>
        <p:spPr>
          <a:xfrm rot="10800000">
            <a:off x="5555083" y="2540"/>
            <a:ext cx="4762398" cy="4267225"/>
          </a:xfrm>
          <a:prstGeom prst="triangle">
            <a:avLst/>
          </a:prstGeom>
          <a:gradFill flip="none" rotWithShape="1">
            <a:gsLst>
              <a:gs pos="0">
                <a:srgbClr val="00B0F0">
                  <a:alpha val="0"/>
                </a:srgbClr>
              </a:gs>
              <a:gs pos="100000">
                <a:srgbClr val="0070C0">
                  <a:alpha val="6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三角形 4"/>
          <p:cNvSpPr/>
          <p:nvPr/>
        </p:nvSpPr>
        <p:spPr>
          <a:xfrm rot="10800000">
            <a:off x="4952824" y="-2"/>
            <a:ext cx="6306169" cy="5650482"/>
          </a:xfrm>
          <a:prstGeom prst="triangle">
            <a:avLst/>
          </a:prstGeom>
          <a:gradFill flip="none" rotWithShape="1">
            <a:gsLst>
              <a:gs pos="0">
                <a:srgbClr val="00B0F0">
                  <a:alpha val="44000"/>
                </a:srgbClr>
              </a:gs>
              <a:gs pos="100000">
                <a:srgbClr val="0070C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三角形 6"/>
          <p:cNvSpPr/>
          <p:nvPr/>
        </p:nvSpPr>
        <p:spPr>
          <a:xfrm>
            <a:off x="4400745" y="3638198"/>
            <a:ext cx="3590596" cy="3217262"/>
          </a:xfrm>
          <a:prstGeom prst="triangle">
            <a:avLst/>
          </a:prstGeom>
          <a:gradFill flip="none" rotWithShape="1">
            <a:gsLst>
              <a:gs pos="0">
                <a:srgbClr val="00B0F0">
                  <a:alpha val="60000"/>
                </a:srgbClr>
              </a:gs>
              <a:gs pos="100000">
                <a:srgbClr val="0070C0">
                  <a:alpha val="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三角形 7"/>
          <p:cNvSpPr/>
          <p:nvPr/>
        </p:nvSpPr>
        <p:spPr>
          <a:xfrm>
            <a:off x="4400745" y="4790273"/>
            <a:ext cx="2323801" cy="2082183"/>
          </a:xfrm>
          <a:prstGeom prst="triangle">
            <a:avLst/>
          </a:prstGeom>
          <a:gradFill flip="none" rotWithShape="1">
            <a:gsLst>
              <a:gs pos="0">
                <a:srgbClr val="00B0F0">
                  <a:alpha val="36000"/>
                </a:srgbClr>
              </a:gs>
              <a:gs pos="100000">
                <a:srgbClr val="0070C0">
                  <a:alpha val="3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直角三角形 21"/>
          <p:cNvSpPr/>
          <p:nvPr/>
        </p:nvSpPr>
        <p:spPr>
          <a:xfrm rot="5400000">
            <a:off x="-820219" y="810102"/>
            <a:ext cx="3740727" cy="2120524"/>
          </a:xfrm>
          <a:prstGeom prst="rtTriangle">
            <a:avLst/>
          </a:prstGeom>
          <a:gradFill>
            <a:gsLst>
              <a:gs pos="0">
                <a:srgbClr val="00B0F0">
                  <a:alpha val="60000"/>
                </a:srgbClr>
              </a:gs>
              <a:gs pos="100000">
                <a:srgbClr val="0070C0">
                  <a:alpha val="70000"/>
                </a:srgb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直角三角形 22"/>
          <p:cNvSpPr/>
          <p:nvPr/>
        </p:nvSpPr>
        <p:spPr>
          <a:xfrm rot="5400000">
            <a:off x="-608207" y="630081"/>
            <a:ext cx="2909457" cy="1649298"/>
          </a:xfrm>
          <a:prstGeom prst="rtTriangle">
            <a:avLst/>
          </a:prstGeom>
          <a:gradFill>
            <a:gsLst>
              <a:gs pos="0">
                <a:srgbClr val="00B0F0">
                  <a:alpha val="60000"/>
                </a:srgbClr>
              </a:gs>
              <a:gs pos="100000">
                <a:srgbClr val="0070C0">
                  <a:alpha val="70000"/>
                </a:srgb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6772011" y="2515346"/>
            <a:ext cx="530271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5000" dirty="0" smtClean="0">
                <a:solidFill>
                  <a:schemeClr val="bg1"/>
                </a:solidFill>
                <a:latin typeface="+mj-ea"/>
                <a:ea typeface="+mj-ea"/>
              </a:rPr>
              <a:t>中国科学技术大学</a:t>
            </a:r>
            <a:endParaRPr kumimoji="1" lang="zh-CN" altLang="en-US" sz="5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831476" y="3579053"/>
            <a:ext cx="5053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400" dirty="0">
                <a:solidFill>
                  <a:schemeClr val="bg1"/>
                </a:solidFill>
              </a:rPr>
              <a:t>University Of Science And Technology Of China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789838" y="4269765"/>
            <a:ext cx="16052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chemeClr val="bg1"/>
                </a:solidFill>
              </a:rPr>
              <a:t>汇报人</a:t>
            </a:r>
            <a:r>
              <a:rPr kumimoji="1" lang="zh-CN" altLang="en-US" sz="1600" dirty="0" smtClean="0">
                <a:solidFill>
                  <a:schemeClr val="bg1"/>
                </a:solidFill>
              </a:rPr>
              <a:t>：</a:t>
            </a:r>
            <a:r>
              <a:rPr kumimoji="1" lang="zh-CN" altLang="en-US" sz="1600" dirty="0" smtClean="0">
                <a:solidFill>
                  <a:schemeClr val="bg1"/>
                </a:solidFill>
              </a:rPr>
              <a:t>申梓忻</a:t>
            </a:r>
            <a:endParaRPr kumimoji="1" lang="zh-CN" altLang="en-US" sz="1600" dirty="0" smtClean="0">
              <a:solidFill>
                <a:schemeClr val="bg1"/>
              </a:solidFill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5508" y="5355443"/>
            <a:ext cx="1142994" cy="114299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789420" y="4709160"/>
            <a:ext cx="26631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dirty="0" smtClean="0">
                <a:solidFill>
                  <a:schemeClr val="bg1"/>
                </a:solidFill>
              </a:rPr>
              <a:t>指导教师：</a:t>
            </a:r>
            <a:r>
              <a:rPr kumimoji="1" lang="zh-CN" altLang="en-US" dirty="0" smtClean="0">
                <a:solidFill>
                  <a:schemeClr val="bg1"/>
                </a:solidFill>
                <a:sym typeface="+mn-ea"/>
              </a:rPr>
              <a:t>翟建芳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831330" y="5179695"/>
            <a:ext cx="39058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kumimoji="1" lang="zh-CN" altLang="en-US" sz="1600" dirty="0" smtClean="0">
                <a:solidFill>
                  <a:schemeClr val="bg1"/>
                </a:solidFill>
              </a:rPr>
              <a:t>组员：申光耀，冉潘，潘亮，申梓忻</a:t>
            </a:r>
            <a:endParaRPr kumimoji="1" lang="zh-CN" altLang="en-US" sz="1600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4" grpId="0"/>
      <p:bldP spid="25" grpId="0"/>
      <p:bldP spid="26" grpId="0"/>
    </p:bldLst>
  </p:timing>
</p:sld>
</file>

<file path=ppt/tags/tag1.xml><?xml version="1.0" encoding="utf-8"?>
<p:tagLst xmlns:p="http://schemas.openxmlformats.org/presentationml/2006/main">
  <p:tag name="PA" val="v5.1.2"/>
  <p:tag name="KSO_WM_DIAGRAM_VIRTUALLY_FRAME" val="{&quot;height&quot;:351.29480314960637,&quot;left&quot;:538.6441732283464,&quot;top&quot;:107.86606299212599,&quot;width&quot;:314.9832283464567}"/>
</p:tagLst>
</file>

<file path=ppt/tags/tag2.xml><?xml version="1.0" encoding="utf-8"?>
<p:tagLst xmlns:p="http://schemas.openxmlformats.org/presentationml/2006/main">
  <p:tag name="PA" val="v5.1.2"/>
  <p:tag name="KSO_WM_DIAGRAM_VIRTUALLY_FRAME" val="{&quot;height&quot;:351.29480314960637,&quot;left&quot;:538.6441732283464,&quot;top&quot;:107.86606299212599,&quot;width&quot;:314.9832283464567}"/>
</p:tagLst>
</file>

<file path=ppt/tags/tag3.xml><?xml version="1.0" encoding="utf-8"?>
<p:tagLst xmlns:p="http://schemas.openxmlformats.org/presentationml/2006/main">
  <p:tag name="PA" val="v5.1.2"/>
  <p:tag name="KSO_WM_DIAGRAM_VIRTUALLY_FRAME" val="{&quot;height&quot;:351.29480314960637,&quot;left&quot;:538.6441732283464,&quot;top&quot;:107.86606299212599,&quot;width&quot;:314.9832283464567}"/>
</p:tagLst>
</file>

<file path=ppt/tags/tag4.xml><?xml version="1.0" encoding="utf-8"?>
<p:tagLst xmlns:p="http://schemas.openxmlformats.org/presentationml/2006/main">
  <p:tag name="TABLE_ENDDRAG_ORIGIN_RECT" val="746*350"/>
  <p:tag name="TABLE_ENDDRAG_RECT" val="152*131*746*350"/>
</p:tagLst>
</file>

<file path=ppt/tags/tag5.xml><?xml version="1.0" encoding="utf-8"?>
<p:tagLst xmlns:p="http://schemas.openxmlformats.org/presentationml/2006/main">
  <p:tag name="KSO_WM_DIAGRAM_VIRTUALLY_FRAME" val="{&quot;height&quot;:482.1377165354329,&quot;left&quot;:21.97503937007873,&quot;top&quot;:47.56165354330707,&quot;width&quot;:895.6749606299212}"/>
</p:tagLst>
</file>

<file path=ppt/tags/tag6.xml><?xml version="1.0" encoding="utf-8"?>
<p:tagLst xmlns:p="http://schemas.openxmlformats.org/presentationml/2006/main">
  <p:tag name="KSO_WM_DIAGRAM_VIRTUALLY_FRAME" val="{&quot;height&quot;:482.1377165354329,&quot;left&quot;:21.97503937007873,&quot;top&quot;:47.56165354330707,&quot;width&quot;:895.6749606299212}"/>
</p:tagLst>
</file>

<file path=ppt/tags/tag7.xml><?xml version="1.0" encoding="utf-8"?>
<p:tagLst xmlns:p="http://schemas.openxmlformats.org/presentationml/2006/main">
  <p:tag name="KSO_WM_DIAGRAM_VIRTUALLY_FRAME" val="{&quot;height&quot;:482.1377165354329,&quot;left&quot;:21.97503937007873,&quot;top&quot;:47.56165354330707,&quot;width&quot;:895.6749606299212}"/>
</p:tagLst>
</file>

<file path=ppt/tags/tag8.xml><?xml version="1.0" encoding="utf-8"?>
<p:tagLst xmlns:p="http://schemas.openxmlformats.org/presentationml/2006/main">
  <p:tag name="KSO_WM_DIAGRAM_VIRTUALLY_FRAME" val="{&quot;height&quot;:482.1377165354329,&quot;left&quot;:21.97503937007873,&quot;top&quot;:47.56165354330707,&quot;width&quot;:895.6749606299212}"/>
</p:tagLst>
</file>

<file path=ppt/tags/tag9.xml><?xml version="1.0" encoding="utf-8"?>
<p:tagLst xmlns:p="http://schemas.openxmlformats.org/presentationml/2006/main">
  <p:tag name="KSO_WM_DIAGRAM_VIRTUALLY_FRAME" val="{&quot;height&quot;:482.1377165354329,&quot;left&quot;:21.97503937007873,&quot;top&quot;:47.56165354330707,&quot;width&quot;:895.6749606299212}"/>
</p:tagLst>
</file>

<file path=ppt/tags/tag10.xml><?xml version="1.0" encoding="utf-8"?>
<p:tagLst xmlns:p="http://schemas.openxmlformats.org/presentationml/2006/main">
  <p:tag name="KSO_WM_DIAGRAM_VIRTUALLY_FRAME" val="{&quot;height&quot;:482.1377165354329,&quot;left&quot;:21.97503937007873,&quot;top&quot;:47.56165354330707,&quot;width&quot;:895.6749606299212}"/>
</p:tagLst>
</file>

<file path=ppt/tags/tag11.xml><?xml version="1.0" encoding="utf-8"?>
<p:tagLst xmlns:p="http://schemas.openxmlformats.org/presentationml/2006/main">
  <p:tag name="KSO_WM_DIAGRAM_VIRTUALLY_FRAME" val="{&quot;height&quot;:482.1377165354329,&quot;left&quot;:21.97503937007873,&quot;top&quot;:47.56165354330707,&quot;width&quot;:895.6749606299212}"/>
</p:tagLst>
</file>

<file path=ppt/tags/tag12.xml><?xml version="1.0" encoding="utf-8"?>
<p:tagLst xmlns:p="http://schemas.openxmlformats.org/presentationml/2006/main">
  <p:tag name="KSO_WM_DIAGRAM_VIRTUALLY_FRAME" val="{&quot;height&quot;:482.1377165354329,&quot;left&quot;:21.97503937007873,&quot;top&quot;:47.56165354330707,&quot;width&quot;:895.6749606299212}"/>
</p:tagLst>
</file>

<file path=ppt/tags/tag13.xml><?xml version="1.0" encoding="utf-8"?>
<p:tagLst xmlns:p="http://schemas.openxmlformats.org/presentationml/2006/main">
  <p:tag name="KSO_WM_DIAGRAM_VIRTUALLY_FRAME" val="{&quot;height&quot;:482.1377165354329,&quot;left&quot;:21.97503937007873,&quot;top&quot;:47.56165354330707,&quot;width&quot;:895.6749606299212}"/>
</p:tagLst>
</file>

<file path=ppt/tags/tag14.xml><?xml version="1.0" encoding="utf-8"?>
<p:tagLst xmlns:p="http://schemas.openxmlformats.org/presentationml/2006/main">
  <p:tag name="KSO_WM_DIAGRAM_VIRTUALLY_FRAME" val="{&quot;height&quot;:482.1377165354329,&quot;left&quot;:21.97503937007873,&quot;top&quot;:47.56165354330707,&quot;width&quot;:895.6749606299212}"/>
</p:tagLst>
</file>

<file path=ppt/tags/tag15.xml><?xml version="1.0" encoding="utf-8"?>
<p:tagLst xmlns:p="http://schemas.openxmlformats.org/presentationml/2006/main">
  <p:tag name="KSO_WM_DIAGRAM_VIRTUALLY_FRAME" val="{&quot;height&quot;:482.1377165354329,&quot;left&quot;:21.97503937007873,&quot;top&quot;:47.56165354330707,&quot;width&quot;:895.6749606299212}"/>
</p:tagLst>
</file>

<file path=ppt/tags/tag16.xml><?xml version="1.0" encoding="utf-8"?>
<p:tagLst xmlns:p="http://schemas.openxmlformats.org/presentationml/2006/main">
  <p:tag name="KSO_WM_DIAGRAM_VIRTUALLY_FRAME" val="{&quot;height&quot;:482.1377165354329,&quot;left&quot;:21.97503937007873,&quot;top&quot;:47.56165354330707,&quot;width&quot;:895.6749606299212}"/>
</p:tagLst>
</file>

<file path=ppt/tags/tag17.xml><?xml version="1.0" encoding="utf-8"?>
<p:tagLst xmlns:p="http://schemas.openxmlformats.org/presentationml/2006/main">
  <p:tag name="KSO_WM_DIAGRAM_VIRTUALLY_FRAME" val="{&quot;height&quot;:482.1377165354329,&quot;left&quot;:21.97503937007873,&quot;top&quot;:47.56165354330707,&quot;width&quot;:895.6749606299212}"/>
</p:tagLst>
</file>

<file path=ppt/tags/tag18.xml><?xml version="1.0" encoding="utf-8"?>
<p:tagLst xmlns:p="http://schemas.openxmlformats.org/presentationml/2006/main">
  <p:tag name="KSO_WM_DIAGRAM_VIRTUALLY_FRAME" val="{&quot;height&quot;:482.1377165354329,&quot;left&quot;:21.97503937007873,&quot;top&quot;:47.56165354330707,&quot;width&quot;:895.6749606299212}"/>
</p:tagLst>
</file>

<file path=ppt/tags/tag19.xml><?xml version="1.0" encoding="utf-8"?>
<p:tagLst xmlns:p="http://schemas.openxmlformats.org/presentationml/2006/main">
  <p:tag name="KSO_WM_DIAGRAM_VIRTUALLY_FRAME" val="{&quot;height&quot;:482.1377165354329,&quot;left&quot;:21.97503937007873,&quot;top&quot;:47.56165354330707,&quot;width&quot;:895.6749606299212}"/>
</p:tagLst>
</file>

<file path=ppt/tags/tag20.xml><?xml version="1.0" encoding="utf-8"?>
<p:tagLst xmlns:p="http://schemas.openxmlformats.org/presentationml/2006/main">
  <p:tag name="KSO_WM_DIAGRAM_VIRTUALLY_FRAME" val="{&quot;height&quot;:469.8800787401575,&quot;left&quot;:31.109527559055095,&quot;top&quot;:62.36992125984252,&quot;width&quot;:867.9282677165354}"/>
</p:tagLst>
</file>

<file path=ppt/tags/tag21.xml><?xml version="1.0" encoding="utf-8"?>
<p:tagLst xmlns:p="http://schemas.openxmlformats.org/presentationml/2006/main">
  <p:tag name="KSO_WM_DIAGRAM_VIRTUALLY_FRAME" val="{&quot;height&quot;:469.8800787401575,&quot;left&quot;:31.109527559055095,&quot;top&quot;:62.36992125984252,&quot;width&quot;:867.9282677165354}"/>
</p:tagLst>
</file>

<file path=ppt/tags/tag22.xml><?xml version="1.0" encoding="utf-8"?>
<p:tagLst xmlns:p="http://schemas.openxmlformats.org/presentationml/2006/main">
  <p:tag name="KSO_WM_DIAGRAM_VIRTUALLY_FRAME" val="{&quot;height&quot;:469.8800787401575,&quot;left&quot;:31.109527559055095,&quot;top&quot;:62.36992125984252,&quot;width&quot;:867.9282677165354}"/>
</p:tagLst>
</file>

<file path=ppt/tags/tag23.xml><?xml version="1.0" encoding="utf-8"?>
<p:tagLst xmlns:p="http://schemas.openxmlformats.org/presentationml/2006/main">
  <p:tag name="KSO_WM_DIAGRAM_VIRTUALLY_FRAME" val="{&quot;height&quot;:469.8800787401575,&quot;left&quot;:31.109527559055095,&quot;top&quot;:62.36992125984252,&quot;width&quot;:867.9282677165354}"/>
</p:tagLst>
</file>

<file path=ppt/tags/tag24.xml><?xml version="1.0" encoding="utf-8"?>
<p:tagLst xmlns:p="http://schemas.openxmlformats.org/presentationml/2006/main">
  <p:tag name="KSO_WM_DIAGRAM_VIRTUALLY_FRAME" val="{&quot;height&quot;:469.8800787401575,&quot;left&quot;:31.109527559055095,&quot;top&quot;:62.36992125984252,&quot;width&quot;:867.9282677165354}"/>
</p:tagLst>
</file>

<file path=ppt/tags/tag25.xml><?xml version="1.0" encoding="utf-8"?>
<p:tagLst xmlns:p="http://schemas.openxmlformats.org/presentationml/2006/main">
  <p:tag name="KSO_WM_DIAGRAM_VIRTUALLY_FRAME" val="{&quot;height&quot;:469.8800787401575,&quot;left&quot;:31.109527559055095,&quot;top&quot;:62.36992125984252,&quot;width&quot;:867.9282677165354}"/>
</p:tagLst>
</file>

<file path=ppt/tags/tag26.xml><?xml version="1.0" encoding="utf-8"?>
<p:tagLst xmlns:p="http://schemas.openxmlformats.org/presentationml/2006/main">
  <p:tag name="KSO_WM_DIAGRAM_VIRTUALLY_FRAME" val="{&quot;height&quot;:469.8800787401575,&quot;left&quot;:31.109527559055095,&quot;top&quot;:62.36992125984252,&quot;width&quot;:867.9282677165354}"/>
</p:tagLst>
</file>

<file path=ppt/tags/tag27.xml><?xml version="1.0" encoding="utf-8"?>
<p:tagLst xmlns:p="http://schemas.openxmlformats.org/presentationml/2006/main">
  <p:tag name="KSO_WM_DIAGRAM_VIRTUALLY_FRAME" val="{&quot;height&quot;:469.8800787401575,&quot;left&quot;:31.109527559055095,&quot;top&quot;:62.36992125984252,&quot;width&quot;:867.9282677165354}"/>
</p:tagLst>
</file>

<file path=ppt/tags/tag28.xml><?xml version="1.0" encoding="utf-8"?>
<p:tagLst xmlns:p="http://schemas.openxmlformats.org/presentationml/2006/main">
  <p:tag name="KSO_WM_DIAGRAM_VIRTUALLY_FRAME" val="{&quot;height&quot;:469.8800787401575,&quot;left&quot;:31.109527559055095,&quot;top&quot;:62.36992125984252,&quot;width&quot;:867.9282677165354}"/>
</p:tagLst>
</file>

<file path=ppt/tags/tag29.xml><?xml version="1.0" encoding="utf-8"?>
<p:tagLst xmlns:p="http://schemas.openxmlformats.org/presentationml/2006/main">
  <p:tag name="KSO_WM_DIAGRAM_VIRTUALLY_FRAME" val="{&quot;height&quot;:469.8800787401575,&quot;left&quot;:31.109527559055095,&quot;top&quot;:62.36992125984252,&quot;width&quot;:867.9282677165354}"/>
</p:tagLst>
</file>

<file path=ppt/tags/tag30.xml><?xml version="1.0" encoding="utf-8"?>
<p:tagLst xmlns:p="http://schemas.openxmlformats.org/presentationml/2006/main">
  <p:tag name="KSO_WM_DIAGRAM_VIRTUALLY_FRAME" val="{&quot;height&quot;:469.8800787401575,&quot;left&quot;:31.109527559055095,&quot;top&quot;:62.36992125984252,&quot;width&quot;:867.9282677165354}"/>
</p:tagLst>
</file>

<file path=ppt/tags/tag31.xml><?xml version="1.0" encoding="utf-8"?>
<p:tagLst xmlns:p="http://schemas.openxmlformats.org/presentationml/2006/main">
  <p:tag name="KSO_WM_DIAGRAM_VIRTUALLY_FRAME" val="{&quot;height&quot;:469.8800787401575,&quot;left&quot;:31.109527559055095,&quot;top&quot;:62.36992125984252,&quot;width&quot;:867.9282677165354}"/>
</p:tagLst>
</file>

<file path=ppt/tags/tag32.xml><?xml version="1.0" encoding="utf-8"?>
<p:tagLst xmlns:p="http://schemas.openxmlformats.org/presentationml/2006/main">
  <p:tag name="KSO_WM_DIAGRAM_VIRTUALLY_FRAME" val="{&quot;height&quot;:469.8800787401575,&quot;left&quot;:31.109527559055095,&quot;top&quot;:62.36992125984252,&quot;width&quot;:867.9282677165354}"/>
</p:tagLst>
</file>

<file path=ppt/tags/tag33.xml><?xml version="1.0" encoding="utf-8"?>
<p:tagLst xmlns:p="http://schemas.openxmlformats.org/presentationml/2006/main">
  <p:tag name="KSO_WM_DIAGRAM_VIRTUALLY_FRAME" val="{&quot;height&quot;:469.8800787401575,&quot;left&quot;:31.109527559055095,&quot;top&quot;:62.36992125984252,&quot;width&quot;:867.9282677165354}"/>
</p:tagLst>
</file>

<file path=ppt/tags/tag34.xml><?xml version="1.0" encoding="utf-8"?>
<p:tagLst xmlns:p="http://schemas.openxmlformats.org/presentationml/2006/main">
  <p:tag name="KSO_WM_DIAGRAM_VIRTUALLY_FRAME" val="{&quot;height&quot;:469.8800787401575,&quot;left&quot;:31.109527559055095,&quot;top&quot;:62.36992125984252,&quot;width&quot;:867.9282677165354}"/>
</p:tagLst>
</file>

<file path=ppt/tags/tag35.xml><?xml version="1.0" encoding="utf-8"?>
<p:tagLst xmlns:p="http://schemas.openxmlformats.org/presentationml/2006/main">
  <p:tag name="KSO_WM_DIAGRAM_VIRTUALLY_FRAME" val="{&quot;height&quot;:469.8800787401575,&quot;left&quot;:31.109527559055095,&quot;top&quot;:62.36992125984252,&quot;width&quot;:867.9282677165354}"/>
</p:tagLst>
</file>

<file path=ppt/tags/tag36.xml><?xml version="1.0" encoding="utf-8"?>
<p:tagLst xmlns:p="http://schemas.openxmlformats.org/presentationml/2006/main">
  <p:tag name="KSO_WM_DIAGRAM_VIRTUALLY_FRAME" val="{&quot;height&quot;:469.8800787401575,&quot;left&quot;:31.109527559055095,&quot;top&quot;:62.36992125984252,&quot;width&quot;:867.9282677165354}"/>
</p:tagLst>
</file>

<file path=ppt/tags/tag37.xml><?xml version="1.0" encoding="utf-8"?>
<p:tagLst xmlns:p="http://schemas.openxmlformats.org/presentationml/2006/main">
  <p:tag name="KSO_WM_DIAGRAM_VIRTUALLY_FRAME" val="{&quot;height&quot;:469.8800787401575,&quot;left&quot;:31.109527559055095,&quot;top&quot;:62.36992125984252,&quot;width&quot;:867.9282677165354}"/>
</p:tagLst>
</file>

<file path=ppt/tags/tag38.xml><?xml version="1.0" encoding="utf-8"?>
<p:tagLst xmlns:p="http://schemas.openxmlformats.org/presentationml/2006/main">
  <p:tag name="KSO_WM_DIAGRAM_VIRTUALLY_FRAME" val="{&quot;height&quot;:469.8800787401575,&quot;left&quot;:31.109527559055095,&quot;top&quot;:62.36992125984252,&quot;width&quot;:867.9282677165354}"/>
</p:tagLst>
</file>

<file path=ppt/tags/tag39.xml><?xml version="1.0" encoding="utf-8"?>
<p:tagLst xmlns:p="http://schemas.openxmlformats.org/presentationml/2006/main">
  <p:tag name="ISPRING_PRESENTATION_TITLE" val="PowerPoint 演示文稿"/>
  <p:tag name="ISPRING_FIRST_PUBLISH" val="1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588ku">
      <a:majorFont>
        <a:latin typeface="Arial Black"/>
        <a:ea typeface="思源黑体 CN Bold"/>
        <a:cs typeface=""/>
      </a:majorFont>
      <a:minorFont>
        <a:latin typeface="Arial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2407</Words>
  <Application>WPS 演示</Application>
  <PresentationFormat>宽屏</PresentationFormat>
  <Paragraphs>301</Paragraphs>
  <Slides>17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9" baseType="lpstr">
      <vt:lpstr>Arial</vt:lpstr>
      <vt:lpstr>宋体</vt:lpstr>
      <vt:lpstr>Wingdings</vt:lpstr>
      <vt:lpstr>Arial</vt:lpstr>
      <vt:lpstr>Source Han Sans CN</vt:lpstr>
      <vt:lpstr>Yu Gothic UI</vt:lpstr>
      <vt:lpstr>Source Han Sans CN Normal</vt:lpstr>
      <vt:lpstr>Yu Gothic UI Semilight</vt:lpstr>
      <vt:lpstr>思源黑体 CN Regular</vt:lpstr>
      <vt:lpstr>黑体</vt:lpstr>
      <vt:lpstr>Segoe UI</vt:lpstr>
      <vt:lpstr>Source Han Sans CN ExtraLight</vt:lpstr>
      <vt:lpstr>Yu Gothic UI Light</vt:lpstr>
      <vt:lpstr>Open Sans</vt:lpstr>
      <vt:lpstr>思源黑体 CN Bold</vt:lpstr>
      <vt:lpstr>微软雅黑</vt:lpstr>
      <vt:lpstr>Arial Unicode MS</vt:lpstr>
      <vt:lpstr>等线</vt:lpstr>
      <vt:lpstr>Arial Black</vt:lpstr>
      <vt:lpstr>Segoe Print</vt:lpstr>
      <vt:lpstr>思源黑体 CN Regular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犇犇</cp:lastModifiedBy>
  <cp:revision>698</cp:revision>
  <dcterms:created xsi:type="dcterms:W3CDTF">2018-06-17T04:53:00Z</dcterms:created>
  <dcterms:modified xsi:type="dcterms:W3CDTF">2025-10-28T01:08:54Z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F7DABE0D7DF146E9B37661A10F66E042_13</vt:lpwstr>
  </property>
  <property fmtid="{D5CDD505-2E9C-101B-9397-08002B2CF9AE}" pid="3" name="KSOProductBuildVer">
    <vt:lpwstr>2052-12.1.0.22529</vt:lpwstr>
  </property>
</Properties>
</file>